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E201</a:t>
            </a:r>
          </a:p>
          <a:p>
            <a:r>
              <a:t>[/Sources]</a:t>
            </a:r>
          </a:p>
          <a:p>
            <a:r>
              <a:t>Synthetic Phase 2 fixture; source refs are ledger-derived.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E101</a:t>
            </a:r>
          </a:p>
          <a:p>
            <a:r>
              <a:t>E102</a:t>
            </a:r>
          </a:p>
          <a:p>
            <a:r>
              <a:t>[/Sources]</a:t>
            </a:r>
          </a:p>
          <a:p>
            <a:r>
              <a:t>Synthetic Phase 2 fixture; source refs are ledger-derived.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E101</a:t>
            </a:r>
          </a:p>
          <a:p>
            <a:r>
              <a:t>E102</a:t>
            </a:r>
          </a:p>
          <a:p>
            <a:r>
              <a:t>[/Sources]</a:t>
            </a:r>
          </a:p>
          <a:p>
            <a:r>
              <a:t>Synthetic Phase 2 fixture; source refs are ledger-derived.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E101</a:t>
            </a:r>
          </a:p>
          <a:p>
            <a:r>
              <a:t>E102</a:t>
            </a:r>
          </a:p>
          <a:p>
            <a:r>
              <a:t>[/Sources]</a:t>
            </a:r>
          </a:p>
          <a:p>
            <a:r>
              <a:t>Synthetic Phase 2 fixture; source refs are ledger-derived.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E101</a:t>
            </a:r>
          </a:p>
          <a:p>
            <a:r>
              <a:t>E102</a:t>
            </a:r>
          </a:p>
          <a:p>
            <a:r>
              <a:t>[/Sources]</a:t>
            </a:r>
          </a:p>
          <a:p>
            <a:r>
              <a:t>Synthetic Phase 2 fixture; source refs are ledger-derived.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E101</a:t>
            </a:r>
          </a:p>
          <a:p>
            <a:r>
              <a:t>E102</a:t>
            </a:r>
          </a:p>
          <a:p>
            <a:r>
              <a:t>[/Sources]</a:t>
            </a:r>
          </a:p>
          <a:p>
            <a:r>
              <a:t>Synthetic Phase 2 fixture; source refs are ledger-derived.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E101</a:t>
            </a:r>
          </a:p>
          <a:p>
            <a:r>
              <a:t>E102</a:t>
            </a:r>
          </a:p>
          <a:p>
            <a:r>
              <a:t>[/Sources]</a:t>
            </a:r>
          </a:p>
          <a:p>
            <a:r>
              <a:t>Synthetic Phase 2 fixture; source refs are ledger-derived.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E101</a:t>
            </a:r>
          </a:p>
          <a:p>
            <a:r>
              <a:t>E102</a:t>
            </a:r>
          </a:p>
          <a:p>
            <a:r>
              <a:t>[/Sources]</a:t>
            </a:r>
          </a:p>
          <a:p>
            <a:r>
              <a:t>Synthetic Phase 2 fixture; source refs are ledger-derived.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E101</a:t>
            </a:r>
          </a:p>
          <a:p>
            <a:r>
              <a:t>E102</a:t>
            </a:r>
          </a:p>
          <a:p>
            <a:r>
              <a:t>[/Sources]</a:t>
            </a:r>
          </a:p>
          <a:p>
            <a:r>
              <a:t>Synthetic Phase 2 fixture; source refs are ledger-derived.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E101</a:t>
            </a:r>
          </a:p>
          <a:p>
            <a:r>
              <a:t>E102</a:t>
            </a:r>
          </a:p>
          <a:p>
            <a:r>
              <a:t>[/Sources]</a:t>
            </a:r>
          </a:p>
          <a:p>
            <a:r>
              <a:t>Synthetic Phase 2 fixture; source refs are ledger-derived.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E101</a:t>
            </a:r>
          </a:p>
          <a:p>
            <a:r>
              <a:t>E102</a:t>
            </a:r>
          </a:p>
          <a:p>
            <a:r>
              <a:t>[/Sources]</a:t>
            </a:r>
          </a:p>
          <a:p>
            <a:r>
              <a:t>Synthetic Phase 2 fixture; source refs are ledger-derived.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E101</a:t>
            </a:r>
          </a:p>
          <a:p>
            <a:r>
              <a:t>E102</a:t>
            </a:r>
          </a:p>
          <a:p>
            <a:r>
              <a:t>[/Sources]</a:t>
            </a:r>
          </a:p>
          <a:p>
            <a:r>
              <a:t>Synthetic Phase 2 fixture; source refs are ledger-derived.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E201</a:t>
            </a:r>
          </a:p>
          <a:p>
            <a:r>
              <a:t>[/Sources]</a:t>
            </a:r>
          </a:p>
          <a:p>
            <a:r>
              <a:t>Synthetic Phase 2 fixture; source refs are ledger-derived.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E201</a:t>
            </a:r>
          </a:p>
          <a:p>
            <a:r>
              <a:t>[/Sources]</a:t>
            </a:r>
          </a:p>
          <a:p>
            <a:r>
              <a:t>Synthetic Phase 2 fixture; source refs are ledger-derived.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E201</a:t>
            </a:r>
          </a:p>
          <a:p>
            <a:r>
              <a:t>[/Sources]</a:t>
            </a:r>
          </a:p>
          <a:p>
            <a:r>
              <a:t>Synthetic Phase 2 fixture; source refs are ledger-derived.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E201</a:t>
            </a:r>
          </a:p>
          <a:p>
            <a:r>
              <a:t>[/Sources]</a:t>
            </a:r>
          </a:p>
          <a:p>
            <a:r>
              <a:t>Synthetic Phase 2 fixture; source refs are ledger-derived.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E201</a:t>
            </a:r>
          </a:p>
          <a:p>
            <a:r>
              <a:t>[/Sources]</a:t>
            </a:r>
          </a:p>
          <a:p>
            <a:r>
              <a:t>Synthetic Phase 2 fixture; source refs are ledger-derived.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E201</a:t>
            </a:r>
          </a:p>
          <a:p>
            <a:r>
              <a:t>[/Sources]</a:t>
            </a:r>
          </a:p>
          <a:p>
            <a:r>
              <a:t>Synthetic Phase 2 fixture; source refs are ledger-derived.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Synthetic Native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Redistributable test fixture — not laboratory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Representative content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Native title/content placeholders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/ Previous Commitments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Prior commitment｜NS101 matched-conductivity pressure test：done</a:t>
            </a:r>
          </a:p>
          <a:p>
            <a:r>
              <a:rPr sz="1800"/>
              <a:t>Current position｜H02 / FB-ELECTRODE-CONTACT</a:t>
            </a:r>
          </a:p>
          <a:p>
            <a:r>
              <a:rPr sz="1800"/>
              <a:t>Next｜NS201 high-pressure cycling；Owner: Gary；Due: 2026-09-24</a:t>
            </a:r>
          </a:p>
          <a:p>
            <a:r>
              <a:rPr sz="1800"/>
              <a:t>Parallel work｜cycling fixture + electrode geometry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H001｜Hypothesis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目前相信｜Bulk conductivity 主導位置不穩定。</a:t>
            </a:r>
          </a:p>
          <a:p>
            <a:r>
              <a:rPr sz="1800"/>
              <a:t>Falsifier｜導電度提升後重複性仍不改善。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H001｜Problem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Unresolved problem｜合成薄膜的缺陷密度沿位置增加，且訊號重複性下降。</a:t>
            </a:r>
          </a:p>
          <a:p>
            <a:r>
              <a:rPr sz="1800"/>
              <a:t>Previous finding｜含水量與導電度存在位置梯度</a:t>
            </a:r>
          </a:p>
          <a:p>
            <a:r>
              <a:rPr sz="1800"/>
              <a:t>Conflict｜導電度提高是否足以修復重複性仍未知。</a:t>
            </a:r>
          </a:p>
          <a:p>
            <a:r>
              <a:rPr sz="1800"/>
              <a:t>Research question｜提升 bulk conductivity 是否足以降低位置依賴的訊號變異？</a:t>
            </a:r>
          </a:p>
          <a:p>
            <a:r>
              <a:rPr sz="1800"/>
              <a:t>Remaining uncertainty｜合成五個位置、每個位置三個 replicate 的機制辨識。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H001｜Total Fishbone / Research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Historical snapshot｜FB001 rev1</a:t>
            </a:r>
          </a:p>
          <a:p>
            <a:r>
              <a:rPr sz="1800"/>
              <a:t>Focus branch｜FB-MATERIAL-HYDRATION</a:t>
            </a:r>
          </a:p>
          <a:p>
            <a:r>
              <a:rPr sz="1800"/>
              <a:t>Old layer topology is immutable; current overview uses latest revision.</a:t>
            </a:r>
          </a:p>
        </p:txBody>
      </p:sp>
      <p:pic>
        <p:nvPicPr>
          <p:cNvPr id="5" name="Picture 4" descr="FB001-re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41732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H001｜Observation → Literature →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Observation｜缺陷密度沿位置增加，訊號 CV 同步升高。</a:t>
            </a:r>
          </a:p>
          <a:p>
            <a:r>
              <a:rPr sz="1800"/>
              <a:t>Literature synthesis｜transport gradient 可改變 bulk conductivity；但 interface variability 仍是 alternative。</a:t>
            </a:r>
          </a:p>
          <a:p>
            <a:r>
              <a:rPr sz="1800"/>
              <a:t>Mechanism｜含水量梯度 → conductivity gradient。</a:t>
            </a:r>
          </a:p>
          <a:p>
            <a:r>
              <a:rPr sz="1800"/>
              <a:t>Strategy｜提升並均化含水量，再檢查 CV 是否同步下降。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H001｜Literature → Mechanism →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Observation｜缺陷密度沿位置增加，訊號 CV 同步升高。</a:t>
            </a:r>
          </a:p>
          <a:p>
            <a:r>
              <a:rPr sz="1800"/>
              <a:t>Literature synthesis｜transport gradient 可改變 bulk conductivity；但 interface variability 仍是 alternative。</a:t>
            </a:r>
          </a:p>
          <a:p>
            <a:r>
              <a:rPr sz="1800"/>
              <a:t>Mechanism｜含水量梯度 → conductivity gradient。</a:t>
            </a:r>
          </a:p>
          <a:p>
            <a:r>
              <a:rPr sz="1800"/>
              <a:t>Strategy｜提升並均化含水量，再檢查 CV 是否同步下降。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H001｜Experiment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EXP101｜提升含水量以提高 bulk conductivity</a:t>
            </a:r>
          </a:p>
          <a:p>
            <a:r>
              <a:rPr sz="1800"/>
              <a:t>IV: 含水量｜Control: 原始配方</a:t>
            </a:r>
          </a:p>
          <a:p>
            <a:r>
              <a:rPr sz="1800"/>
              <a:t>N: n=3 per position｜Metric/units: 導電度 / mS/cm</a:t>
            </a:r>
          </a:p>
          <a:p>
            <a:r>
              <a:rPr sz="1800"/>
              <a:t>Decision rule: Go if mean conductivity increases ≥20%</a:t>
            </a:r>
          </a:p>
          <a:p/>
          <a:p>
            <a:r>
              <a:rPr sz="1800"/>
              <a:t>EXP102｜檢查導電度改善是否同步改善重複性</a:t>
            </a:r>
          </a:p>
          <a:p>
            <a:r>
              <a:rPr sz="1800"/>
              <a:t>IV: 位置｜Control: 原始位置分布</a:t>
            </a:r>
          </a:p>
          <a:p>
            <a:r>
              <a:rPr sz="1800"/>
              <a:t>N: n=3 per position｜Metric/units: 訊號 CV / percent</a:t>
            </a:r>
          </a:p>
          <a:p>
            <a:r>
              <a:rPr sz="1800"/>
              <a:t>Decision rule: Go if CV decreases ≥30%; Partial-Go if 10–30%; No-Go otherwise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H001｜Results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RES101｜平均導電度增加 24% ± 5% SD</a:t>
            </a:r>
          </a:p>
        </p:txBody>
      </p:sp>
      <p:pic>
        <p:nvPicPr>
          <p:cNvPr id="5" name="Picture 4" descr="B001_defect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41732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H001｜Results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RES102｜訊號 CV 僅下降 4% ± 6% SD，屬 No-Go</a:t>
            </a:r>
          </a:p>
        </p:txBody>
      </p:sp>
      <p:pic>
        <p:nvPicPr>
          <p:cNvPr id="5" name="Picture 4" descr="B001_defect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41732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H001｜Integrated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Supporting｜RES101</a:t>
            </a:r>
          </a:p>
          <a:p>
            <a:r>
              <a:rPr sz="1800"/>
              <a:t>Contradicting｜RES102</a:t>
            </a:r>
          </a:p>
          <a:p>
            <a:r>
              <a:rPr sz="1800"/>
              <a:t>Cross-experiment pattern｜導電度提升成立，但重複性沒有同步改善。</a:t>
            </a:r>
          </a:p>
          <a:p>
            <a:r>
              <a:rPr sz="1800"/>
              <a:t>Mechanism assessment｜bulk conductivity 是部分機制，不足以解釋 interface-sensitive variation。</a:t>
            </a:r>
          </a:p>
          <a:p>
            <a:r>
              <a:rPr sz="1800"/>
              <a:t>Alternatives｜接觸電阻; 局部壓力差; 電極幾何</a:t>
            </a:r>
          </a:p>
          <a:p>
            <a:r>
              <a:rPr sz="1800"/>
              <a:t>Remaining uncertainty｜contact interface 是否為主導因素仍需匹配導電度後檢驗。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H001｜Layer Summary /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Answered｜bulk conductivity 影響缺陷梯度，但不足以單獨解釋重複性。</a:t>
            </a:r>
          </a:p>
          <a:p>
            <a:r>
              <a:rPr sz="1800"/>
              <a:t>Evidence｜E101, RES101, RES102</a:t>
            </a:r>
          </a:p>
          <a:p>
            <a:r>
              <a:rPr sz="1800"/>
              <a:t>Hypothesis status｜partial_support</a:t>
            </a:r>
          </a:p>
          <a:p>
            <a:r>
              <a:rPr sz="1800"/>
              <a:t>Decision｜D101</a:t>
            </a:r>
          </a:p>
          <a:p>
            <a:r>
              <a:rPr sz="1800"/>
              <a:t>Unresolved｜interface contact 的貢獻尚未量化。</a:t>
            </a:r>
          </a:p>
          <a:p>
            <a:r>
              <a:rPr sz="1800"/>
              <a:t>Next question｜匹配 bulk conductivity 後，contact resistance 是否主導變異？</a:t>
            </a:r>
          </a:p>
          <a:p>
            <a:r>
              <a:rPr sz="1800"/>
              <a:t>Next Step｜NS101｜Owner: Gary｜Timing committed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H01 → H02｜Hypothesis Transition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Previous hypothesis｜C101</a:t>
            </a:r>
          </a:p>
          <a:p>
            <a:r>
              <a:rPr sz="1800"/>
              <a:t>Key results｜RES101, RES102</a:t>
            </a:r>
          </a:p>
          <a:p>
            <a:r>
              <a:rPr sz="1800"/>
              <a:t>Not explained｜導電度增加後訊號重複性沒有改善。</a:t>
            </a:r>
          </a:p>
          <a:p>
            <a:r>
              <a:rPr sz="1800"/>
              <a:t>New observation｜E201</a:t>
            </a:r>
          </a:p>
          <a:p>
            <a:r>
              <a:rPr sz="1800"/>
              <a:t>Therefore｜剩餘變異隨電極接觸位置改變，因此核心解釋由 bulk transport 轉向 interface contact。</a:t>
            </a:r>
          </a:p>
          <a:p>
            <a:r>
              <a:rPr sz="1800"/>
              <a:t>New hypothesis｜C201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H002｜Hypothesis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目前相信｜低接觸壓力下，Contact resistance 主導訊號不穩定。</a:t>
            </a:r>
          </a:p>
          <a:p>
            <a:r>
              <a:rPr sz="1800"/>
              <a:t>Falsifier｜匹配導電度後，改變接觸壓力不影響 CV。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H002｜Problem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Unresolved problem｜導電度改善後重複性仍未改善，剩餘變異與電極接觸位置相關。</a:t>
            </a:r>
          </a:p>
          <a:p>
            <a:r>
              <a:rPr sz="1800"/>
              <a:t>Previous finding｜H01 支持導電度梯度存在; H01 未支持導電度單獨主導重複性</a:t>
            </a:r>
          </a:p>
          <a:p>
            <a:r>
              <a:rPr sz="1800"/>
              <a:t>Conflict｜bulk transport 與 interface contact 的相對貢獻尚未區分。</a:t>
            </a:r>
          </a:p>
          <a:p>
            <a:r>
              <a:rPr sz="1800"/>
              <a:t>Research question｜低接觸壓力下，contact resistance 是否主導訊號不穩定？</a:t>
            </a:r>
          </a:p>
          <a:p>
            <a:r>
              <a:rPr sz="1800"/>
              <a:t>Remaining uncertainty｜匹配 bulk conductivity，改變 contact pressure 的對照實驗。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H002｜Total Fishbone / Research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Historical snapshot｜FB001 rev2</a:t>
            </a:r>
          </a:p>
          <a:p>
            <a:r>
              <a:rPr sz="1800"/>
              <a:t>Focus branch｜FB-ELECTRODE-CONTACT</a:t>
            </a:r>
          </a:p>
          <a:p>
            <a:r>
              <a:rPr sz="1800"/>
              <a:t>Old layer topology is immutable; current overview uses latest revision.</a:t>
            </a:r>
          </a:p>
        </p:txBody>
      </p:sp>
      <p:pic>
        <p:nvPicPr>
          <p:cNvPr id="5" name="Picture 4" descr="FB001-re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41732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H002｜Observation → Literature →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Observation｜H01 提升 conductivity，但 CV 未改善。</a:t>
            </a:r>
          </a:p>
          <a:p>
            <a:r>
              <a:rPr sz="1800"/>
              <a:t>Literature synthesis｜bulk transport 與 interface contact 可產生不同可辨識預測。</a:t>
            </a:r>
          </a:p>
          <a:p>
            <a:r>
              <a:rPr sz="1800"/>
              <a:t>Mechanism｜低壓造成 contact resistance 波動。</a:t>
            </a:r>
          </a:p>
          <a:p>
            <a:r>
              <a:rPr sz="1800"/>
              <a:t>Strategy｜匹配 bulk conductivity，僅改變 contact pressure。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H002｜Results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RES201｜高壓條件 CV 下降 38% ± 7% SD，contact resistance 同步下降</a:t>
            </a:r>
          </a:p>
        </p:txBody>
      </p:sp>
      <p:pic>
        <p:nvPicPr>
          <p:cNvPr id="5" name="Picture 4" descr="H02_contact_pres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41732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H002｜Layer Summary /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Answered｜低接觸壓力下 contact resistance 是主導不穩定來源。</a:t>
            </a:r>
          </a:p>
          <a:p>
            <a:r>
              <a:rPr sz="1800"/>
              <a:t>Evidence｜E201, RES201</a:t>
            </a:r>
          </a:p>
          <a:p>
            <a:r>
              <a:rPr sz="1800"/>
              <a:t>Hypothesis status｜supported</a:t>
            </a:r>
          </a:p>
          <a:p>
            <a:r>
              <a:rPr sz="1800"/>
              <a:t>Decision｜D201</a:t>
            </a:r>
          </a:p>
          <a:p>
            <a:r>
              <a:rPr sz="1800"/>
              <a:t>Unresolved｜高壓循環的耐久性與 wear 尚未測試。</a:t>
            </a:r>
          </a:p>
          <a:p>
            <a:r>
              <a:rPr sz="1800"/>
              <a:t>Next question｜接觸壓力改善能否在長期循環下維持？</a:t>
            </a:r>
          </a:p>
          <a:p>
            <a:r>
              <a:rPr sz="1800"/>
              <a:t>Next Step｜NS201｜Owner: Gary｜Timing committed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