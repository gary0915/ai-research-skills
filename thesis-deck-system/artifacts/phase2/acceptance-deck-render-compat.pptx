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E104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mmitment_table"/>
          <p:cNvSpPr txBox="1"/>
          <p:nvPr/>
        </p:nvSpPr>
        <p:spPr>
          <a:xfrm>
            <a:off x="731520" y="1325880"/>
            <a:ext cx="6400800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Commitment｜NS101｜planned｜Owner: Gary｜Due: 2026-09-10T09:00:00Z</a:t>
            </a:r>
          </a:p>
          <a:p>
            <a:r>
              <a:rPr sz="1600"/>
              <a:t>Commitment｜NS201｜planned｜Owner: Gary｜Due: 2026-09-24T00:00:00Z</a:t>
            </a:r>
          </a:p>
        </p:txBody>
      </p:sp>
      <p:sp>
        <p:nvSpPr>
          <p:cNvPr id="5" name="tds-slot:current_position"/>
          <p:cNvSpPr txBox="1"/>
          <p:nvPr/>
        </p:nvSpPr>
        <p:spPr>
          <a:xfrm>
            <a:off x="7452360" y="1325880"/>
            <a:ext cx="40233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H002</a:t>
            </a:r>
          </a:p>
        </p:txBody>
      </p:sp>
      <p:sp>
        <p:nvSpPr>
          <p:cNvPr id="6" name="tds-slot:parallel_work"/>
          <p:cNvSpPr txBox="1"/>
          <p:nvPr/>
        </p:nvSpPr>
        <p:spPr>
          <a:xfrm>
            <a:off x="7452360" y="3154680"/>
            <a:ext cx="402336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Dependencies｜pressure fixture｜Parallel: True</a:t>
            </a:r>
          </a:p>
          <a:p>
            <a:r>
              <a:rPr sz="1600"/>
              <a:t>Dependencies｜pressure fixture｜Parallel: True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Hypothesis｜Bulk conductivity drives the positional signal gradient.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Research 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含水量與導電度存在位置梯度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導電度提高是否足以修復重複性仍未知。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FB-MATERIAL-HYDRATION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280160"/>
            <a:ext cx="4572000" cy="3474720"/>
          </a:xfrm>
          <a:prstGeom prst="rect">
            <a:avLst/>
          </a:prstGeom>
        </p:spPr>
      </p:pic>
      <p:sp>
        <p:nvSpPr>
          <p:cNvPr id="5" name="tds-slot:research_question"/>
          <p:cNvSpPr txBox="1"/>
          <p:nvPr/>
        </p:nvSpPr>
        <p:spPr>
          <a:xfrm>
            <a:off x="731520" y="1325880"/>
            <a:ext cx="5669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提升 bulk conductivity 是否足以降低位置依賴的訊號變異？</a:t>
            </a:r>
          </a:p>
        </p:txBody>
      </p:sp>
      <p:sp>
        <p:nvSpPr>
          <p:cNvPr id="6" name="tds-slot:observation_text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  <a:p>
            <a:r>
              <a:rPr sz="1600"/>
              <a:t>Problem｜現有模型無法解釋此變異。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literature_evidence"/>
          <p:cNvSpPr txBox="1"/>
          <p:nvPr/>
        </p:nvSpPr>
        <p:spPr>
          <a:xfrm>
            <a:off x="731520" y="1325880"/>
            <a:ext cx="5303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Literature 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5" name="tds-slot:mechanism_diagram"/>
          <p:cNvSpPr txBox="1"/>
          <p:nvPr/>
        </p:nvSpPr>
        <p:spPr>
          <a:xfrm>
            <a:off x="6400800" y="1325880"/>
            <a:ext cx="50749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Mechanism｜bulk transport</a:t>
            </a:r>
          </a:p>
          <a:p>
            <a:r>
              <a:rPr sz="1600"/>
              <a:t>Strategy｜均化導電度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EXP101｜IV: ['含水量']</a:t>
            </a:r>
          </a:p>
          <a:p>
            <a:r>
              <a:rPr sz="1600"/>
              <a:t>Controls: ['原始配方']</a:t>
            </a:r>
          </a:p>
          <a:p>
            <a:r>
              <a:rPr sz="1600"/>
              <a:t>N/replicates: {'replicates': 3, 'samples': 15}</a:t>
            </a:r>
          </a:p>
          <a:p>
            <a:r>
              <a:rPr sz="1600"/>
              <a:t>Metrics/units: ['導電度 (mS/cm)']</a:t>
            </a:r>
          </a:p>
          <a:p>
            <a:r>
              <a:rPr sz="1600"/>
              <a:t>Method: ['synthetic-four-probe']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Prediction: ['導電度提升']</a:t>
            </a:r>
          </a:p>
          <a:p>
            <a:r>
              <a:rPr sz="1600"/>
              <a:t>Decision rule: {'go': 'mean conductivity increases &gt;=20%', 'partial_go': '10-20%', 'no_go': '&lt;10%'}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EXP102｜IV: ['位置']</a:t>
            </a:r>
          </a:p>
          <a:p>
            <a:r>
              <a:rPr sz="1600"/>
              <a:t>Controls: ['原始位置分布']</a:t>
            </a:r>
          </a:p>
          <a:p>
            <a:r>
              <a:rPr sz="1600"/>
              <a:t>N/replicates: {'replicates': 3, 'samples': 15}</a:t>
            </a:r>
          </a:p>
          <a:p>
            <a:r>
              <a:rPr sz="1600"/>
              <a:t>Metrics/units: ['訊號 CV (%)']</a:t>
            </a:r>
          </a:p>
          <a:p>
            <a:r>
              <a:rPr sz="1600"/>
              <a:t>Method: ['synthetic-signal-test']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Prediction: ['CV 下降']</a:t>
            </a:r>
          </a:p>
          <a:p>
            <a:r>
              <a:rPr sz="1600"/>
              <a:t>Decision rule: {'go': 'CV decreases &gt;=30%', 'partial_go': '10-30%', 'no_go': '&lt;10%'}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5989320" cy="4069080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001414"/>
            <a:ext cx="5989320" cy="1302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/>
              <a:t>RES101｜平均導電度增加 24% ± 5% SD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RES101｜平均導電度增加 24% ± 5% SD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5989320" cy="4069080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001414"/>
            <a:ext cx="5989320" cy="1302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/>
              <a:t>RES102｜訊號 CV 僅下降 4% ± 6% SD，屬 No-Go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RES102｜訊號 CV 僅下降 4% ± 6% SD，屬 No-Go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5166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6217920" y="1280160"/>
            <a:ext cx="5257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RES102</a:t>
            </a:r>
          </a:p>
        </p:txBody>
      </p:sp>
      <p:sp>
        <p:nvSpPr>
          <p:cNvPr id="6" name="tds-slot:uncertainty"/>
          <p:cNvSpPr txBox="1"/>
          <p:nvPr/>
        </p:nvSpPr>
        <p:spPr>
          <a:xfrm>
            <a:off x="731520" y="3566160"/>
            <a:ext cx="10744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 assessment｜bulk conductivity 是部分機制，不足以解釋 interface-sensitive variation。</a:t>
            </a:r>
          </a:p>
          <a:p>
            <a:r>
              <a:rPr sz="1600"/>
              <a:t>Alternatives｜接觸電阻; 局部壓力差; 電極幾何</a:t>
            </a:r>
          </a:p>
          <a:p>
            <a:r>
              <a:rPr sz="1600"/>
              <a:t>Remaining 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decision_status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Answered｜bulk conductivity 影響缺陷梯度，但不足以單獨解釋重複性。</a:t>
            </a:r>
          </a:p>
          <a:p>
            <a:r>
              <a:rPr sz="1800"/>
              <a:t>Hypothesis status｜partial_support</a:t>
            </a:r>
          </a:p>
          <a:p>
            <a:r>
              <a:rPr sz="1800"/>
              <a:t>Decision｜Partial-Go: Bulk conductivity is contributory but insufficient.</a:t>
            </a:r>
          </a:p>
        </p:txBody>
      </p:sp>
      <p:sp>
        <p:nvSpPr>
          <p:cNvPr id="5" name="tds-slot:uncertainty"/>
          <p:cNvSpPr txBox="1"/>
          <p:nvPr/>
        </p:nvSpPr>
        <p:spPr>
          <a:xfrm>
            <a:off x="43891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interface contact 的貢獻尚未量化。</a:t>
            </a:r>
          </a:p>
        </p:txBody>
      </p:sp>
      <p:sp>
        <p:nvSpPr>
          <p:cNvPr id="6" name="tds-slot:next_step"/>
          <p:cNvSpPr txBox="1"/>
          <p:nvPr/>
        </p:nvSpPr>
        <p:spPr>
          <a:xfrm>
            <a:off x="80467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question｜匹配 bulk conductivity 後，contact resistance 是否主導變異？</a:t>
            </a:r>
          </a:p>
          <a:p>
            <a:r>
              <a:rPr sz="1600"/>
              <a:t>Next Step｜NS101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transition_nodes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Previous hypothesis｜C101</a:t>
            </a:r>
          </a:p>
          <a:p>
            <a:r>
              <a:rPr sz="1800"/>
              <a:t>Key results｜RES101, RES102</a:t>
            </a:r>
          </a:p>
          <a:p>
            <a:r>
              <a:rPr sz="1800"/>
              <a:t>New observation｜E104</a:t>
            </a:r>
          </a:p>
          <a:p>
            <a:r>
              <a:rPr sz="1800"/>
              <a:t>New hypothesis｜C201</a:t>
            </a:r>
          </a:p>
        </p:txBody>
      </p:sp>
      <p:sp>
        <p:nvSpPr>
          <p:cNvPr id="5" name="tds-slot:derivation_strip"/>
          <p:cNvSpPr txBox="1"/>
          <p:nvPr/>
        </p:nvSpPr>
        <p:spPr>
          <a:xfrm>
            <a:off x="731520" y="4160520"/>
            <a:ext cx="10744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Not explained｜導電度增加後訊號重複性沒有改善。</a:t>
            </a:r>
          </a:p>
          <a:p>
            <a:r>
              <a:rPr sz="1600"/>
              <a:t>Therefore｜剩餘變異隨電極接觸位置改變，因此核心解釋由 bulk transport 轉向 interface contact。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Hypothesis｜Contact resistance drives instability at low pressure.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Research 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H01 支持導電度梯度存在; H01 未支持導電度單獨主導重複性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bulk transport 與 interface contact 的相對貢獻尚未區分。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FB-ELECTRODE-CONTACT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observation_text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  <a:p>
            <a:r>
              <a:rPr sz="1600"/>
              <a:t>Problem｜現有模型無法解釋此變異。</a:t>
            </a:r>
          </a:p>
        </p:txBody>
      </p:sp>
      <p:sp>
        <p:nvSpPr>
          <p:cNvPr id="5" name="tds-slot:research_question"/>
          <p:cNvSpPr txBox="1"/>
          <p:nvPr/>
        </p:nvSpPr>
        <p:spPr>
          <a:xfrm>
            <a:off x="731520" y="3429000"/>
            <a:ext cx="27432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低接觸壓力下，contact resistance 是否主導訊號不穩定？</a:t>
            </a:r>
          </a:p>
        </p:txBody>
      </p:sp>
      <p:sp>
        <p:nvSpPr>
          <p:cNvPr id="6" name="tds-slot:literature_evidence"/>
          <p:cNvSpPr txBox="1"/>
          <p:nvPr/>
        </p:nvSpPr>
        <p:spPr>
          <a:xfrm>
            <a:off x="3749039" y="1280160"/>
            <a:ext cx="37490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Literature 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7" name="tds-slot:mechanism_diagram"/>
          <p:cNvSpPr txBox="1"/>
          <p:nvPr/>
        </p:nvSpPr>
        <p:spPr>
          <a:xfrm>
            <a:off x="7772400" y="1280160"/>
            <a:ext cx="19202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Mechanism｜contact resistance</a:t>
            </a:r>
          </a:p>
        </p:txBody>
      </p:sp>
      <p:sp>
        <p:nvSpPr>
          <p:cNvPr id="8" name="tds-slot:strategy"/>
          <p:cNvSpPr txBox="1"/>
          <p:nvPr/>
        </p:nvSpPr>
        <p:spPr>
          <a:xfrm>
            <a:off x="9875520" y="1280160"/>
            <a:ext cx="15544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匹配導電度並改變接觸壓力</a:t>
            </a:r>
          </a:p>
        </p:txBody>
      </p:sp>
      <p:sp>
        <p:nvSpPr>
          <p:cNvPr id="9" name="tds-slot:primary_figure"/>
          <p:cNvSpPr txBox="1"/>
          <p:nvPr/>
        </p:nvSpPr>
        <p:spPr>
          <a:xfrm>
            <a:off x="7772400" y="3611880"/>
            <a:ext cx="36576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Registered observation visual.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53035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IV: contact pressure</a:t>
            </a:r>
          </a:p>
          <a:p>
            <a:r>
              <a:rPr sz="1600"/>
              <a:t>Controls: bulk conductivity; 電極幾何</a:t>
            </a:r>
          </a:p>
          <a:p>
            <a:r>
              <a:rPr sz="1600"/>
              <a:t>Baselines: low-pressure control</a:t>
            </a:r>
          </a:p>
          <a:p>
            <a:r>
              <a:rPr sz="1600"/>
              <a:t>N/replicates: replicates: 5; samples: 15</a:t>
            </a:r>
          </a:p>
          <a:p>
            <a:r>
              <a:rPr sz="1600"/>
              <a:t>Metrics/units: 訊號 CV (%); contact resistance (ohm)</a:t>
            </a:r>
          </a:p>
          <a:p>
            <a:r>
              <a:rPr sz="1600"/>
              <a:t>Method: synthetic-pressure-fixture</a:t>
            </a:r>
          </a:p>
          <a:p>
            <a:r>
              <a:rPr sz="1600"/>
              <a:t>Prediction: CV and resistance decrease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6217920" y="128016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go: both metrics improve; partial_go: one metric improves; no_go: neither improves</a:t>
            </a:r>
          </a:p>
        </p:txBody>
      </p:sp>
      <p:pic>
        <p:nvPicPr>
          <p:cNvPr id="6" name="tds-slot:result_plot/figure" descr="H02_contact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280160"/>
            <a:ext cx="3200400" cy="2194560"/>
          </a:xfrm>
          <a:prstGeom prst="rect">
            <a:avLst/>
          </a:prstGeom>
        </p:spPr>
      </p:pic>
      <p:sp>
        <p:nvSpPr>
          <p:cNvPr id="7" name="tds-slot:result_plot/annotation"/>
          <p:cNvSpPr txBox="1"/>
          <p:nvPr/>
        </p:nvSpPr>
        <p:spPr>
          <a:xfrm>
            <a:off x="8275320" y="2772460"/>
            <a:ext cx="3200400" cy="7022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/>
              <a:t>高壓條件 CV 下降 38% ± 7% SD，contact resistance 同步下降</a:t>
            </a:r>
          </a:p>
        </p:txBody>
      </p:sp>
      <p:sp>
        <p:nvSpPr>
          <p:cNvPr id="8" name="tds-slot:result_annotation"/>
          <p:cNvSpPr txBox="1"/>
          <p:nvPr/>
        </p:nvSpPr>
        <p:spPr>
          <a:xfrm>
            <a:off x="6217920" y="3611880"/>
            <a:ext cx="525780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高壓條件 CV 下降 38% ± 7% SD，contact resistance 同步下降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RES201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37033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None identified</a:t>
            </a:r>
          </a:p>
        </p:txBody>
      </p:sp>
      <p:sp>
        <p:nvSpPr>
          <p:cNvPr id="6" name="tds-slot:discussion_synthesis"/>
          <p:cNvSpPr txBox="1"/>
          <p:nvPr/>
        </p:nvSpPr>
        <p:spPr>
          <a:xfrm>
            <a:off x="6675120" y="1280160"/>
            <a:ext cx="4800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Cross-experiment pattern｜匹配導電度後，提高接觸壓力明顯降低變異。</a:t>
            </a:r>
          </a:p>
          <a:p>
            <a:r>
              <a:rPr sz="1600"/>
              <a:t>Mechanism assessment｜contact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</p:txBody>
      </p:sp>
      <p:sp>
        <p:nvSpPr>
          <p:cNvPr id="7" name="tds-slot:uncertainty"/>
          <p:cNvSpPr txBox="1"/>
          <p:nvPr/>
        </p:nvSpPr>
        <p:spPr>
          <a:xfrm>
            <a:off x="731520" y="3474720"/>
            <a:ext cx="5257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Discussion uncertainty｜高壓長期循環是否造成新的 wear mechanism 尚未知。</a:t>
            </a:r>
          </a:p>
          <a:p>
            <a:r>
              <a:rPr sz="1600"/>
              <a:t>Summary unresolved｜高壓循環的耐久性與 wear 尚未測試。</a:t>
            </a:r>
          </a:p>
        </p:txBody>
      </p:sp>
      <p:sp>
        <p:nvSpPr>
          <p:cNvPr id="8" name="tds-slot:decision_status"/>
          <p:cNvSpPr txBox="1"/>
          <p:nvPr/>
        </p:nvSpPr>
        <p:spPr>
          <a:xfrm>
            <a:off x="62179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Hypothesis status｜supported</a:t>
            </a:r>
          </a:p>
          <a:p>
            <a:r>
              <a:rPr sz="1600"/>
              <a:t>Decision｜Go: Contact-pressure control discriminates the interface mechanism.</a:t>
            </a:r>
          </a:p>
        </p:txBody>
      </p:sp>
      <p:sp>
        <p:nvSpPr>
          <p:cNvPr id="9" name="tds-slot:next_step"/>
          <p:cNvSpPr txBox="1"/>
          <p:nvPr/>
        </p:nvSpPr>
        <p:spPr>
          <a:xfrm>
            <a:off x="89611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question｜接觸壓力改善能否在長期循環下維持？</a:t>
            </a:r>
          </a:p>
          <a:p>
            <a:r>
              <a:rPr sz="1600"/>
              <a:t>Next Step｜NS201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