
<file path=[Content_Types].xml><?xml version="1.0" encoding="utf-8"?>
<ns0:Types xmlns:ns0="http://schemas.openxmlformats.org/package/2006/content-types">
  <ns0:Default Extension="svg" ContentType="image/svg+xml"/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E002</a:t>
            </a:r>
          </a:p>
          <a:p>
            <a:r>
              <a:t>E101</a:t>
            </a:r>
          </a:p>
          <a:p>
            <a:r>
              <a:t>E102</a:t>
            </a:r>
          </a:p>
          <a:p>
            <a:r>
              <a:t>E103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E201</a:t>
            </a:r>
          </a:p>
          <a:p>
            <a:r>
              <a:t>[/Sources]</a:t>
            </a:r>
          </a:p>
          <a:p>
            <a:r>
              <a:t>Compiled from persisted ledger materialization.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1.png" /><ns0:Relationship Id="rId3" Type="http://schemas.openxmlformats.org/officeDocument/2006/relationships/notesSlide" Target="../notesSlides/notesSlide4.xml" /><ns0:Relationship Id="rId99" Type="http://schemas.openxmlformats.org/officeDocument/2006/relationships/image" Target="../media/A101.svg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2.png" /><ns0:Relationship Id="rId3" Type="http://schemas.openxmlformats.org/officeDocument/2006/relationships/notesSlide" Target="../notesSlides/notesSlide5.xml" /><ns0:Relationship Id="rId99" Type="http://schemas.openxmlformats.org/officeDocument/2006/relationships/image" Target="../media/A002.svg" /></ns0: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3.png" /><ns0:Relationship Id="rId3" Type="http://schemas.openxmlformats.org/officeDocument/2006/relationships/notesSlide" Target="../notesSlides/notesSlide8.xml" /><ns0:Relationship Id="rId99" Type="http://schemas.openxmlformats.org/officeDocument/2006/relationships/image" Target="../media/plot-canonical.svg" /></ns0:Relationships>
</file>

<file path=ppt/slides/_rels/slide1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3.png" /><ns0:Relationship Id="rId3" Type="http://schemas.openxmlformats.org/officeDocument/2006/relationships/notesSlide" Target="../notesSlides/notesSlide9.xml" /><ns0:Relationship Id="rId99" Type="http://schemas.openxmlformats.org/officeDocument/2006/relationships/image" Target="../media/plot-canonical.svg" /></ns0: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4.png" /><ns0:Relationship Id="rId3" Type="http://schemas.openxmlformats.org/officeDocument/2006/relationships/notesSlide" Target="../notesSlides/notesSlide15.xml" /><ns0:Relationship Id="rId99" Type="http://schemas.openxmlformats.org/officeDocument/2006/relationships/image" Target="../media/A102.svg" /></ns0: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image" Target="../media/image5.png" /><ns0:Relationship Id="rId3" Type="http://schemas.openxmlformats.org/officeDocument/2006/relationships/notesSlide" Target="../notesSlides/notesSlide17.xml" /><ns0:Relationship Id="rId99" Type="http://schemas.openxmlformats.org/officeDocument/2006/relationships/image" Target="../media/A201.svg" /></ns0: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Synthetic Native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Redistributable test fixture — not laboratory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Representative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Native title/content placeholders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/ Previous Commitments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40080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Current position｜H002</a:t>
            </a:r>
          </a:p>
          <a:p>
            <a:r>
              <a:rPr sz="1800"/>
              <a:t>Commitment｜NS101｜done｜Owner: Gary｜Due: 2026-09-10T09:00:00Z</a:t>
            </a:r>
          </a:p>
          <a:p>
            <a:r>
              <a:rPr sz="1800"/>
              <a:t>Dependencies｜pressure fixture｜Parallel: True</a:t>
            </a:r>
          </a:p>
          <a:p>
            <a:r>
              <a:rPr sz="1800"/>
              <a:t>Commitment｜NS201｜planned｜Owner: Gary｜Due: 2026-09-24T00:00:00Z</a:t>
            </a:r>
          </a:p>
          <a:p>
            <a:r>
              <a:rPr sz="1800"/>
              <a:t>Dependencies｜pressure fixture｜Parallel: True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Hypothesis｜Bulk conductivity drives the positional signal gradient.</a:t>
            </a:r>
          </a:p>
          <a:p>
            <a:r>
              <a:rPr sz="1800"/>
              <a:t>Falsifier｜Matched conditions do not change the predicted CV or resistance.</a:t>
            </a:r>
          </a:p>
          <a:p>
            <a:r>
              <a:rPr sz="1800"/>
              <a:t>Research question｜提升 bulk conductivity 是否足以降低位置依賴的訊號變異？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0467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Problem｜合成薄膜的缺陷密度沿位置增加，且訊號重複性下降。</a:t>
            </a:r>
          </a:p>
          <a:p>
            <a:r>
              <a:rPr sz="1800"/>
              <a:t>Previous finding｜含水量與導電度存在位置梯度</a:t>
            </a:r>
          </a:p>
          <a:p>
            <a:r>
              <a:rPr sz="1800"/>
              <a:t>Conflict｜導電度提高是否足以修復重複性仍未知。</a:t>
            </a:r>
          </a:p>
          <a:p>
            <a:r>
              <a:rPr sz="1800"/>
              <a:t>Research question｜提升 bulk conductivity 是否足以降低位置依賴的訊號變異？</a:t>
            </a:r>
          </a:p>
          <a:p>
            <a:r>
              <a:rPr sz="1800"/>
              <a:t>Scope｜合成五個位置、每個位置三個 replicate 的機制辨識。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H001｜Total Fishbone / Research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Historical snapshot｜FB001 rev1</a:t>
            </a:r>
          </a:p>
          <a:p>
            <a:r>
              <a:rPr sz="1800"/>
              <a:t>Focus branch｜FB-MATERIAL-HYDRATION</a:t>
            </a:r>
          </a:p>
          <a:p>
            <a:r>
              <a:rPr sz="1800"/>
              <a:t>Immutable map; current branch highlighted.</a:t>
            </a:r>
          </a:p>
        </p:txBody>
      </p:sp>
      <p:pic>
        <p:nvPicPr>
          <p:cNvPr id="5" name="Picture 4" descr="FB001-rev1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3886200" y="1234440"/>
            <a:ext cx="76352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H001｜Observation → Literature →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566928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Observation｜位置依賴缺陷與訊號變異已觀察到。</a:t>
            </a:r>
          </a:p>
          <a:p>
            <a:r>
              <a:rPr sz="1800"/>
              <a:t>Problem｜現有模型無法解釋此變異。</a:t>
            </a:r>
          </a:p>
          <a:p>
            <a:r>
              <a:rPr sz="1800"/>
              <a:t>Research question｜提升 bulk conductivity 是否足以降低位置依賴的訊號變異？</a:t>
            </a:r>
          </a:p>
          <a:p>
            <a:r>
              <a:rPr sz="1800"/>
              <a:t>Literature consensus｜transport gradient 可產生位置效應。</a:t>
            </a:r>
          </a:p>
          <a:p>
            <a:r>
              <a:rPr sz="1800"/>
              <a:t>Alternatives｜interface contact remains alternative</a:t>
            </a:r>
          </a:p>
          <a:p>
            <a:r>
              <a:rPr sz="1800"/>
              <a:t>Gap｜缺少控制比較隔離機制。</a:t>
            </a:r>
          </a:p>
          <a:p>
            <a:r>
              <a:rPr sz="1800"/>
              <a:t>Implication｜需匹配條件後比較。</a:t>
            </a:r>
          </a:p>
          <a:p>
            <a:r>
              <a:rPr sz="1800"/>
              <a:t>Mechanism｜bulk transport</a:t>
            </a:r>
          </a:p>
          <a:p>
            <a:r>
              <a:rPr sz="1800"/>
              <a:t>Strategy｜均化導電度</a:t>
            </a:r>
          </a:p>
        </p:txBody>
      </p:sp>
      <p:pic>
        <p:nvPicPr>
          <p:cNvPr id="5" name="Picture 4" descr="observation_visual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6903720" y="1280160"/>
            <a:ext cx="45720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H001｜Literature → Mechanism →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30352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Observation｜位置依賴缺陷與訊號變異已觀察到。</a:t>
            </a:r>
          </a:p>
          <a:p>
            <a:r>
              <a:rPr sz="1800"/>
              <a:t>Problem｜現有模型無法解釋此變異。</a:t>
            </a:r>
          </a:p>
          <a:p>
            <a:r>
              <a:rPr sz="1800"/>
              <a:t>Research question｜提升 bulk conductivity 是否足以降低位置依賴的訊號變異？</a:t>
            </a:r>
          </a:p>
          <a:p>
            <a:r>
              <a:rPr sz="1800"/>
              <a:t>Literature consensus｜transport gradient 可產生位置效應。</a:t>
            </a:r>
          </a:p>
          <a:p>
            <a:r>
              <a:rPr sz="1800"/>
              <a:t>Alternatives｜interface contact remains alternative</a:t>
            </a:r>
          </a:p>
          <a:p>
            <a:r>
              <a:rPr sz="1800"/>
              <a:t>Gap｜缺少控制比較隔離機制。</a:t>
            </a:r>
          </a:p>
          <a:p>
            <a:r>
              <a:rPr sz="1800"/>
              <a:t>Implication｜需匹配條件後比較。</a:t>
            </a:r>
          </a:p>
          <a:p>
            <a:r>
              <a:rPr sz="1800"/>
              <a:t>Mechanism｜bulk transport</a:t>
            </a:r>
          </a:p>
          <a:p>
            <a:r>
              <a:rPr sz="1800"/>
              <a:t>Strategy｜均化導電度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H001｜Experiment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7665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EXP101｜IV: ['含水量']</a:t>
            </a:r>
          </a:p>
          <a:p>
            <a:r>
              <a:rPr sz="1800"/>
              <a:t>Controls: ['原始配方']</a:t>
            </a:r>
          </a:p>
          <a:p>
            <a:r>
              <a:rPr sz="1800"/>
              <a:t>N/replicates: {'replicates': 3, 'samples': 15}</a:t>
            </a:r>
          </a:p>
          <a:p>
            <a:r>
              <a:rPr sz="1800"/>
              <a:t>Metrics/units: ['導電度 (mS/cm)']</a:t>
            </a:r>
          </a:p>
          <a:p>
            <a:r>
              <a:rPr sz="1800"/>
              <a:t>Method: ['synthetic-four-probe']</a:t>
            </a:r>
          </a:p>
          <a:p>
            <a:r>
              <a:rPr sz="1800"/>
              <a:t>Prediction: ['導電度提升']</a:t>
            </a:r>
          </a:p>
          <a:p>
            <a:r>
              <a:rPr sz="1800"/>
              <a:t>Decision rule: {'go': 'mean conductivity increases &gt;=20%', 'partial_go': '10-20%', 'no_go': '&lt;10%'}</a:t>
            </a:r>
          </a:p>
          <a:p/>
          <a:p>
            <a:r>
              <a:rPr sz="1800"/>
              <a:t>EXP102｜IV: ['位置']</a:t>
            </a:r>
          </a:p>
          <a:p>
            <a:r>
              <a:rPr sz="1800"/>
              <a:t>Controls: ['原始位置分布']</a:t>
            </a:r>
          </a:p>
          <a:p>
            <a:r>
              <a:rPr sz="1800"/>
              <a:t>N/replicates: {'replicates': 3, 'samples': 15}</a:t>
            </a:r>
          </a:p>
          <a:p>
            <a:r>
              <a:rPr sz="1800"/>
              <a:t>Metrics/units: ['訊號 CV (%)']</a:t>
            </a:r>
          </a:p>
          <a:p>
            <a:r>
              <a:rPr sz="1800"/>
              <a:t>Method: ['synthetic-signal-test']</a:t>
            </a:r>
          </a:p>
          <a:p>
            <a:r>
              <a:rPr sz="1800"/>
              <a:t>Prediction: ['CV 下降']</a:t>
            </a:r>
          </a:p>
          <a:p>
            <a:r>
              <a:rPr sz="1800"/>
              <a:t>Decision rule: {'go': 'CV decreases &gt;=30%', 'partial_go': '10-30%', 'no_go': '&lt;10%'}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257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RES101｜平均導電度增加 24% ± 5% SD</a:t>
            </a:r>
          </a:p>
        </p:txBody>
      </p:sp>
      <p:pic>
        <p:nvPicPr>
          <p:cNvPr id="5" name="Picture 4" descr="B001_defect_density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6217920" y="1325880"/>
            <a:ext cx="5257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257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RES102｜訊號 CV 僅下降 4% ± 6% SD，屬 No-Go</a:t>
            </a:r>
          </a:p>
        </p:txBody>
      </p:sp>
      <p:pic>
        <p:nvPicPr>
          <p:cNvPr id="5" name="Picture 4" descr="B001_defect_density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6217920" y="1325880"/>
            <a:ext cx="5257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H001｜Integrated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7442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Supporting｜RES101</a:t>
            </a:r>
          </a:p>
          <a:p>
            <a:r>
              <a:rPr sz="1800"/>
              <a:t>Contradicting｜RES102</a:t>
            </a:r>
          </a:p>
          <a:p>
            <a:r>
              <a:rPr sz="1800"/>
              <a:t>Cross-experiment pattern｜導電度提升成立，但重複性沒有同步改善。</a:t>
            </a:r>
          </a:p>
          <a:p>
            <a:r>
              <a:rPr sz="1800"/>
              <a:t>Mechanism assessment｜bulk conductivity 是部分機制，不足以解釋 interface-sensitive variation。</a:t>
            </a:r>
          </a:p>
          <a:p>
            <a:r>
              <a:rPr sz="1800"/>
              <a:t>Alternatives｜接觸電阻; 局部壓力差; 電極幾何</a:t>
            </a:r>
          </a:p>
          <a:p>
            <a:r>
              <a:rPr sz="1800"/>
              <a:t>Remaining uncertainty｜contact interface 是否為主導因素仍需匹配導電度後檢驗。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H001｜Layer Summary /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3832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Answered｜bulk conductivity 影響缺陷梯度，但不足以單獨解釋重複性。</a:t>
            </a:r>
          </a:p>
          <a:p>
            <a:r>
              <a:rPr sz="1800"/>
              <a:t>Hypothesis status｜partial_support</a:t>
            </a:r>
          </a:p>
          <a:p>
            <a:r>
              <a:rPr sz="1800"/>
              <a:t>Decision｜Partial-Go: Bulk conductivity is contributory but insufficient.</a:t>
            </a:r>
          </a:p>
          <a:p>
            <a:r>
              <a:rPr sz="1800"/>
              <a:t>Unresolved｜interface contact 的貢獻尚未量化。</a:t>
            </a:r>
          </a:p>
          <a:p>
            <a:r>
              <a:rPr sz="1800"/>
              <a:t>Next question｜匹配 bulk conductivity 後，contact resistance 是否主導變異？</a:t>
            </a:r>
          </a:p>
          <a:p>
            <a:r>
              <a:rPr sz="1800"/>
              <a:t>Next Step｜NS101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H01 → H02｜Hypothesis Transition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4420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Previous hypothesis｜C101</a:t>
            </a:r>
          </a:p>
          <a:p>
            <a:r>
              <a:rPr sz="1800"/>
              <a:t>Key results｜RES101, RES102</a:t>
            </a:r>
          </a:p>
          <a:p>
            <a:r>
              <a:rPr sz="1800"/>
              <a:t>Not explained｜導電度增加後訊號重複性沒有改善。</a:t>
            </a:r>
          </a:p>
          <a:p>
            <a:r>
              <a:rPr sz="1800"/>
              <a:t>New observation｜E201</a:t>
            </a:r>
          </a:p>
          <a:p>
            <a:r>
              <a:rPr sz="1800"/>
              <a:t>Therefore｜剩餘變異隨電極接觸位置改變，因此核心解釋由 bulk transport 轉向 interface contact。</a:t>
            </a:r>
          </a:p>
          <a:p>
            <a:r>
              <a:rPr sz="1800"/>
              <a:t>New hypothesis｜C201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H002｜Hypothesis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69848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Hypothesis｜Contact resistance drives instability at low pressure.</a:t>
            </a:r>
          </a:p>
          <a:p>
            <a:r>
              <a:rPr sz="1800"/>
              <a:t>Falsifier｜Matched conditions do not change the predicted CV or resistance.</a:t>
            </a:r>
          </a:p>
          <a:p>
            <a:r>
              <a:rPr sz="1800"/>
              <a:t>Research question｜低接觸壓力下，contact resistance 是否主導訊號不穩定？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H002｜Problem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046720" y="1325880"/>
            <a:ext cx="3383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Problem｜導電度改善後重複性仍未改善，剩餘變異與電極接觸位置相關。</a:t>
            </a:r>
          </a:p>
          <a:p>
            <a:r>
              <a:rPr sz="1800"/>
              <a:t>Previous finding｜H01 支持導電度梯度存在; H01 未支持導電度單獨主導重複性</a:t>
            </a:r>
          </a:p>
          <a:p>
            <a:r>
              <a:rPr sz="1800"/>
              <a:t>Conflict｜bulk transport 與 interface contact 的相對貢獻尚未區分。</a:t>
            </a:r>
          </a:p>
          <a:p>
            <a:r>
              <a:rPr sz="1800"/>
              <a:t>Research question｜低接觸壓力下，contact resistance 是否主導訊號不穩定？</a:t>
            </a:r>
          </a:p>
          <a:p>
            <a:r>
              <a:rPr sz="1800"/>
              <a:t>Scope｜匹配 bulk conductivity，改變 contact pressure 的對照實驗。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H002｜Total Fishbone / Research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27432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Historical snapshot｜FB001 rev2</a:t>
            </a:r>
          </a:p>
          <a:p>
            <a:r>
              <a:rPr sz="1800"/>
              <a:t>Focus branch｜FB-ELECTRODE-CONTACT</a:t>
            </a:r>
          </a:p>
          <a:p>
            <a:r>
              <a:rPr sz="1800"/>
              <a:t>Immutable map; current branch highlighted.</a:t>
            </a:r>
          </a:p>
        </p:txBody>
      </p:sp>
      <p:pic>
        <p:nvPicPr>
          <p:cNvPr id="5" name="Picture 4" descr="FB001-rev2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3886200" y="1234440"/>
            <a:ext cx="76352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H002｜Observation → Literature →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566928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Observation｜位置依賴缺陷與訊號變異已觀察到。</a:t>
            </a:r>
          </a:p>
          <a:p>
            <a:r>
              <a:rPr sz="1800"/>
              <a:t>Problem｜現有模型無法解釋此變異。</a:t>
            </a:r>
          </a:p>
          <a:p>
            <a:r>
              <a:rPr sz="1800"/>
              <a:t>Research question｜低接觸壓力下，contact resistance 是否主導訊號不穩定？</a:t>
            </a:r>
          </a:p>
          <a:p>
            <a:r>
              <a:rPr sz="1800"/>
              <a:t>Literature consensus｜transport gradient 可產生位置效應。</a:t>
            </a:r>
          </a:p>
          <a:p>
            <a:r>
              <a:rPr sz="1800"/>
              <a:t>Alternatives｜interface contact remains alternative</a:t>
            </a:r>
          </a:p>
          <a:p>
            <a:r>
              <a:rPr sz="1800"/>
              <a:t>Gap｜缺少控制比較隔離機制。</a:t>
            </a:r>
          </a:p>
          <a:p>
            <a:r>
              <a:rPr sz="1800"/>
              <a:t>Implication｜需匹配條件後比較。</a:t>
            </a:r>
          </a:p>
          <a:p>
            <a:r>
              <a:rPr sz="1800"/>
              <a:t>Mechanism｜contact resistance</a:t>
            </a:r>
          </a:p>
          <a:p>
            <a:r>
              <a:rPr sz="1800"/>
              <a:t>Strategy｜匹配導電度並改變接觸壓力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ns3="http://schemas.microsoft.com/office/drawing/2016/SVG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H002｜Results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2578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EXP201｜</a:t>
            </a:r>
          </a:p>
          <a:p>
            <a:r>
              <a:rPr sz="1800"/>
              <a:t>RES201｜高壓條件 CV 下降 38% ± 7% SD，contact resistance 同步下降</a:t>
            </a:r>
          </a:p>
        </p:txBody>
      </p:sp>
      <p:pic>
        <p:nvPicPr>
          <p:cNvPr id="5" name="Picture 4" descr="H02_contact_pressur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3:svgBlip r:embed="rId99"/>
              </a:ext>
            </a:extLst>
          </a:blip>
          <a:stretch>
            <a:fillRect/>
          </a:stretch>
        </p:blipFill>
        <p:spPr>
          <a:xfrm>
            <a:off x="6217920" y="1325880"/>
            <a:ext cx="52578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H002｜Layer Summary /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3832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Answered｜低接觸壓力下 contact resistance 是主導不穩定來源。</a:t>
            </a:r>
          </a:p>
          <a:p>
            <a:r>
              <a:rPr sz="1800"/>
              <a:t>Hypothesis status｜supported</a:t>
            </a:r>
          </a:p>
          <a:p>
            <a:r>
              <a:rPr sz="1800"/>
              <a:t>Decision｜Go: Contact-pressure control discriminates the interface mechanism.</a:t>
            </a:r>
          </a:p>
          <a:p>
            <a:r>
              <a:rPr sz="1800"/>
              <a:t>Unresolved｜高壓循環的耐久性與 wear 尚未測試。</a:t>
            </a:r>
          </a:p>
          <a:p>
            <a:r>
              <a:rPr sz="1800"/>
              <a:t>Next question｜接觸壓力改善能否在長期循環下維持？</a:t>
            </a:r>
          </a:p>
          <a:p>
            <a:r>
              <a:rPr sz="1800"/>
              <a:t>Next Step｜NS201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