
<file path=[Content_Types].xml><?xml version="1.0" encoding="utf-8"?>
<ns0:Types xmlns:ns0="http://schemas.openxmlformats.org/package/2006/content-types">
  <ns0:Default Extension="svg" ContentType="image/svg+xml"/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notesMasters/notesMaster1.xml" ContentType="application/vnd.openxmlformats-officedocument.presentationml.notesMaster+xml"/>
  <ns0:Override PartName="/ppt/notesSlides/notesSlide1.xml" ContentType="application/vnd.openxmlformats-officedocument.presentationml.notesSlide+xml"/>
  <ns0:Override PartName="/ppt/notesSlides/notesSlide10.xml" ContentType="application/vnd.openxmlformats-officedocument.presentationml.notesSlide+xml"/>
  <ns0:Override PartName="/ppt/notesSlides/notesSlide11.xml" ContentType="application/vnd.openxmlformats-officedocument.presentationml.notesSlide+xml"/>
  <ns0:Override PartName="/ppt/notesSlides/notesSlide12.xml" ContentType="application/vnd.openxmlformats-officedocument.presentationml.notesSlide+xml"/>
  <ns0:Override PartName="/ppt/notesSlides/notesSlide13.xml" ContentType="application/vnd.openxmlformats-officedocument.presentationml.notesSlide+xml"/>
  <ns0:Override PartName="/ppt/notesSlides/notesSlide14.xml" ContentType="application/vnd.openxmlformats-officedocument.presentationml.notesSlide+xml"/>
  <ns0:Override PartName="/ppt/notesSlides/notesSlide15.xml" ContentType="application/vnd.openxmlformats-officedocument.presentationml.notesSlide+xml"/>
  <ns0:Override PartName="/ppt/notesSlides/notesSlide16.xml" ContentType="application/vnd.openxmlformats-officedocument.presentationml.notesSlide+xml"/>
  <ns0:Override PartName="/ppt/notesSlides/notesSlide17.xml" ContentType="application/vnd.openxmlformats-officedocument.presentationml.notesSlide+xml"/>
  <ns0:Override PartName="/ppt/notesSlides/notesSlide18.xml" ContentType="application/vnd.openxmlformats-officedocument.presentationml.notesSlide+xml"/>
  <ns0:Override PartName="/ppt/notesSlides/notesSlide19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ppt/notesSlides/notesSlide6.xml" ContentType="application/vnd.openxmlformats-officedocument.presentationml.notesSlide+xml"/>
  <ns0:Override PartName="/ppt/notesSlides/notesSlide7.xml" ContentType="application/vnd.openxmlformats-officedocument.presentationml.notesSlide+xml"/>
  <ns0:Override PartName="/ppt/notesSlides/notesSlide8.xml" ContentType="application/vnd.openxmlformats-officedocument.presentationml.notesSlide+xml"/>
  <ns0:Override PartName="/ppt/notesSlides/notesSlide9.xml" ContentType="application/vnd.openxmlformats-officedocument.presentationml.notesSlide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E202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E104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E202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E202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E202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E202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E202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E202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1.png" /><ns0:Relationship Id="rId3" Type="http://schemas.openxmlformats.org/officeDocument/2006/relationships/notesSlide" Target="../notesSlides/notesSlide4.xml" /><ns0:Relationship Id="rId99" Type="http://schemas.openxmlformats.org/officeDocument/2006/relationships/image" Target="../media/A101.svg" /></ns0:Relationships>
</file>

<file path=ppt/slides/_rels/slide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2.png" /><ns0:Relationship Id="rId3" Type="http://schemas.openxmlformats.org/officeDocument/2006/relationships/notesSlide" Target="../notesSlides/notesSlide5.xml" /><ns0:Relationship Id="rId99" Type="http://schemas.openxmlformats.org/officeDocument/2006/relationships/image" Target="../media/A002.svg" /></ns0: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3.png" /><ns0:Relationship Id="rId3" Type="http://schemas.openxmlformats.org/officeDocument/2006/relationships/notesSlide" Target="../notesSlides/notesSlide9.xml" /><ns0:Relationship Id="rId99" Type="http://schemas.openxmlformats.org/officeDocument/2006/relationships/image" Target="../media/plot-canonical.svg" /></ns0:Relationships>
</file>

<file path=ppt/slides/_rels/slide1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3.png" /><ns0:Relationship Id="rId3" Type="http://schemas.openxmlformats.org/officeDocument/2006/relationships/notesSlide" Target="../notesSlides/notesSlide10.xml" /><ns0:Relationship Id="rId99" Type="http://schemas.openxmlformats.org/officeDocument/2006/relationships/image" Target="../media/plot-canonical.svg" /></ns0: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8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4.png" /><ns0:Relationship Id="rId3" Type="http://schemas.openxmlformats.org/officeDocument/2006/relationships/notesSlide" Target="../notesSlides/notesSlide16.xml" /><ns0:Relationship Id="rId99" Type="http://schemas.openxmlformats.org/officeDocument/2006/relationships/image" Target="../media/A102.svg" /></ns0: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0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5.png" /><ns0:Relationship Id="rId3" Type="http://schemas.openxmlformats.org/officeDocument/2006/relationships/notesSlide" Target="../notesSlides/notesSlide18.xml" /><ns0:Relationship Id="rId99" Type="http://schemas.openxmlformats.org/officeDocument/2006/relationships/image" Target="../media/A201.svg" /></ns0: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Progress / Previous Commitments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commitment_table"/>
          <p:cNvSpPr txBox="1"/>
          <p:nvPr/>
        </p:nvSpPr>
        <p:spPr>
          <a:xfrm>
            <a:off x="731520" y="1325880"/>
            <a:ext cx="6400800" cy="3429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Commitment｜NS101｜done｜Owner: Gary｜Due: 2026-09-10T09:00:00Z</a:t>
            </a:r>
          </a:p>
          <a:p>
            <a:r>
              <a:rPr sz="1600"/>
              <a:t>Commitment｜NS201｜planned｜Owner: Gary｜Due: 2026-09-24T00:00:00Z</a:t>
            </a:r>
          </a:p>
        </p:txBody>
      </p:sp>
      <p:sp>
        <p:nvSpPr>
          <p:cNvPr id="5" name="tds-slot:current_position"/>
          <p:cNvSpPr txBox="1"/>
          <p:nvPr/>
        </p:nvSpPr>
        <p:spPr>
          <a:xfrm>
            <a:off x="7452360" y="1325880"/>
            <a:ext cx="402336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H002</a:t>
            </a:r>
          </a:p>
        </p:txBody>
      </p:sp>
      <p:sp>
        <p:nvSpPr>
          <p:cNvPr id="6" name="tds-slot:parallel_work"/>
          <p:cNvSpPr txBox="1"/>
          <p:nvPr/>
        </p:nvSpPr>
        <p:spPr>
          <a:xfrm>
            <a:off x="7452360" y="3154680"/>
            <a:ext cx="402336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Dependencies｜pressure fixture｜Parallel: True</a:t>
            </a:r>
          </a:p>
          <a:p>
            <a:r>
              <a:rPr sz="1600"/>
              <a:t>Dependencies｜pressure fixture｜Parallel: True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hypothesis_statement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Hypothesis｜Bulk conductivity drives the positional signal gradient.</a:t>
            </a:r>
          </a:p>
          <a:p>
            <a:r>
              <a:rPr sz="2800"/>
              <a:t>Falsifier｜Matched conditions do not change the predicted CV or resistance.</a:t>
            </a:r>
          </a:p>
          <a:p>
            <a:r>
              <a:rPr sz="2800"/>
              <a:t>Research question｜提升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evious_finding"/>
          <p:cNvSpPr txBox="1"/>
          <p:nvPr/>
        </p:nvSpPr>
        <p:spPr>
          <a:xfrm>
            <a:off x="7315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含水量與導電度存在位置梯度</a:t>
            </a:r>
          </a:p>
        </p:txBody>
      </p:sp>
      <p:sp>
        <p:nvSpPr>
          <p:cNvPr id="5" name="tds-slot:unresolved_conflict"/>
          <p:cNvSpPr txBox="1"/>
          <p:nvPr/>
        </p:nvSpPr>
        <p:spPr>
          <a:xfrm>
            <a:off x="43891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導電度提高是否足以修復重複性仍未知。</a:t>
            </a:r>
          </a:p>
        </p:txBody>
      </p:sp>
      <p:sp>
        <p:nvSpPr>
          <p:cNvPr id="6" name="tds-slot:research_question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FB001-rev1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  <p:sp>
        <p:nvSpPr>
          <p:cNvPr id="5" name="tds-slot:fishbone_focus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FB-MATERIAL-HYDRATION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observation_visu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6903720" y="1280160"/>
            <a:ext cx="4572000" cy="3474720"/>
          </a:xfrm>
          <a:prstGeom prst="rect">
            <a:avLst/>
          </a:prstGeom>
        </p:spPr>
      </p:pic>
      <p:sp>
        <p:nvSpPr>
          <p:cNvPr id="5" name="tds-slot:research_question"/>
          <p:cNvSpPr txBox="1"/>
          <p:nvPr/>
        </p:nvSpPr>
        <p:spPr>
          <a:xfrm>
            <a:off x="731520" y="1325880"/>
            <a:ext cx="56692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提升 bulk conductivity 是否足以降低位置依賴的訊號變異？</a:t>
            </a:r>
          </a:p>
        </p:txBody>
      </p:sp>
      <p:sp>
        <p:nvSpPr>
          <p:cNvPr id="6" name="tds-slot:observation_text"/>
          <p:cNvSpPr txBox="1"/>
          <p:nvPr/>
        </p:nvSpPr>
        <p:spPr>
          <a:xfrm>
            <a:off x="731520" y="2331720"/>
            <a:ext cx="5669280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Observation｜位置依賴缺陷與訊號變異已觀察到。</a:t>
            </a:r>
          </a:p>
          <a:p>
            <a:r>
              <a:rPr sz="1600"/>
              <a:t>Problem｜現有模型無法解釋此變異。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H001｜Literature → Mechanism →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literature_evidence"/>
          <p:cNvSpPr txBox="1"/>
          <p:nvPr/>
        </p:nvSpPr>
        <p:spPr>
          <a:xfrm>
            <a:off x="731520" y="1325880"/>
            <a:ext cx="53035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Literature consensus｜transport gradient 可產生位置效應。</a:t>
            </a:r>
          </a:p>
          <a:p>
            <a:r>
              <a:rPr sz="1600"/>
              <a:t>Alternatives｜interface contact remains alternative</a:t>
            </a:r>
          </a:p>
          <a:p>
            <a:r>
              <a:rPr sz="1600"/>
              <a:t>Gap｜缺少控制比較隔離機制。</a:t>
            </a:r>
          </a:p>
          <a:p>
            <a:r>
              <a:rPr sz="1600"/>
              <a:t>Implication｜需匹配條件後比較。</a:t>
            </a:r>
          </a:p>
        </p:txBody>
      </p:sp>
      <p:sp>
        <p:nvSpPr>
          <p:cNvPr id="5" name="tds-slot:mechanism_diagram"/>
          <p:cNvSpPr txBox="1"/>
          <p:nvPr/>
        </p:nvSpPr>
        <p:spPr>
          <a:xfrm>
            <a:off x="6400800" y="1325880"/>
            <a:ext cx="50749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Mechanism｜bulk transport</a:t>
            </a:r>
          </a:p>
          <a:p>
            <a:r>
              <a:rPr sz="1600"/>
              <a:t>Strategy｜均化導電度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67665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EXP101｜IV: ['含水量']</a:t>
            </a:r>
          </a:p>
          <a:p>
            <a:r>
              <a:rPr sz="1600"/>
              <a:t>Controls: ['原始配方']</a:t>
            </a:r>
          </a:p>
          <a:p>
            <a:r>
              <a:rPr sz="1600"/>
              <a:t>N/replicates: {'replicates': 3, 'samples': 15}</a:t>
            </a:r>
          </a:p>
          <a:p>
            <a:r>
              <a:rPr sz="1600"/>
              <a:t>Metrics/units: ['導電度 (mS/cm)']</a:t>
            </a:r>
          </a:p>
          <a:p>
            <a:r>
              <a:rPr sz="1600"/>
              <a:t>Method: ['synthetic-four-probe']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7818120" y="128016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Prediction: ['導電度提升']</a:t>
            </a:r>
          </a:p>
          <a:p>
            <a:r>
              <a:rPr sz="1600"/>
              <a:t>Decision rule: {'go': 'mean conductivity increases &gt;=20%', 'partial_go': '10-20%', 'no_go': '&lt;10%'}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67665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EXP102｜IV: ['位置']</a:t>
            </a:r>
          </a:p>
          <a:p>
            <a:r>
              <a:rPr sz="1600"/>
              <a:t>Controls: ['原始位置分布']</a:t>
            </a:r>
          </a:p>
          <a:p>
            <a:r>
              <a:rPr sz="1600"/>
              <a:t>N/replicates: {'replicates': 3, 'samples': 15}</a:t>
            </a:r>
          </a:p>
          <a:p>
            <a:r>
              <a:rPr sz="1600"/>
              <a:t>Metrics/units: ['訊號 CV (%)']</a:t>
            </a:r>
          </a:p>
          <a:p>
            <a:r>
              <a:rPr sz="1600"/>
              <a:t>Method: ['synthetic-signal-test']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7818120" y="128016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Prediction: ['CV 下降']</a:t>
            </a:r>
          </a:p>
          <a:p>
            <a:r>
              <a:rPr sz="1600"/>
              <a:t>Decision rule: {'go': 'CV decreases &gt;=30%', 'partial_go': '10-30%', 'no_go': '&lt;10%'}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control_panel"/>
          <p:cNvSpPr txBox="1"/>
          <p:nvPr/>
        </p:nvSpPr>
        <p:spPr>
          <a:xfrm>
            <a:off x="731520" y="1325880"/>
            <a:ext cx="52578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Control｜</a:t>
            </a:r>
          </a:p>
        </p:txBody>
      </p:sp>
      <p:pic>
        <p:nvPicPr>
          <p:cNvPr id="5" name="tds-slot:proposed_panel" descr="B001_defect_densit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6217920" y="1325880"/>
            <a:ext cx="52578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control_panel"/>
          <p:cNvSpPr txBox="1"/>
          <p:nvPr/>
        </p:nvSpPr>
        <p:spPr>
          <a:xfrm>
            <a:off x="731520" y="1325880"/>
            <a:ext cx="52578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Control｜</a:t>
            </a:r>
          </a:p>
        </p:txBody>
      </p:sp>
      <p:pic>
        <p:nvPicPr>
          <p:cNvPr id="5" name="tds-slot:proposed_panel" descr="B001_defect_densit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6217920" y="1325880"/>
            <a:ext cx="52578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H001｜Integrated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supporting_results"/>
          <p:cNvSpPr txBox="1"/>
          <p:nvPr/>
        </p:nvSpPr>
        <p:spPr>
          <a:xfrm>
            <a:off x="731520" y="1280160"/>
            <a:ext cx="516636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RES101</a:t>
            </a:r>
          </a:p>
        </p:txBody>
      </p:sp>
      <p:sp>
        <p:nvSpPr>
          <p:cNvPr id="5" name="tds-slot:contradicting_results"/>
          <p:cNvSpPr txBox="1"/>
          <p:nvPr/>
        </p:nvSpPr>
        <p:spPr>
          <a:xfrm>
            <a:off x="6217920" y="1280160"/>
            <a:ext cx="5257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RES102</a:t>
            </a:r>
          </a:p>
        </p:txBody>
      </p:sp>
      <p:sp>
        <p:nvSpPr>
          <p:cNvPr id="6" name="tds-slot:uncertainty"/>
          <p:cNvSpPr txBox="1"/>
          <p:nvPr/>
        </p:nvSpPr>
        <p:spPr>
          <a:xfrm>
            <a:off x="731520" y="3566160"/>
            <a:ext cx="10744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 assessment｜bulk conductivity 是部分機制，不足以解釋 interface-sensitive variation。</a:t>
            </a:r>
          </a:p>
          <a:p>
            <a:r>
              <a:rPr sz="1600"/>
              <a:t>Alternatives｜接觸電阻; 局部壓力差; 電極幾何</a:t>
            </a:r>
          </a:p>
          <a:p>
            <a:r>
              <a:rPr sz="1600"/>
              <a:t>Remaining uncertainty｜contact interface 是否為主導因素仍需匹配導電度後檢驗。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decision_status"/>
          <p:cNvSpPr txBox="1"/>
          <p:nvPr/>
        </p:nvSpPr>
        <p:spPr>
          <a:xfrm>
            <a:off x="7315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Answered｜bulk conductivity 影響缺陷梯度，但不足以單獨解釋重複性。</a:t>
            </a:r>
          </a:p>
          <a:p>
            <a:r>
              <a:rPr sz="1800"/>
              <a:t>Hypothesis status｜partial_support</a:t>
            </a:r>
          </a:p>
          <a:p>
            <a:r>
              <a:rPr sz="1800"/>
              <a:t>Decision｜Partial-Go: Bulk conductivity is contributory but insufficient.</a:t>
            </a:r>
          </a:p>
        </p:txBody>
      </p:sp>
      <p:sp>
        <p:nvSpPr>
          <p:cNvPr id="5" name="tds-slot:uncertainty"/>
          <p:cNvSpPr txBox="1"/>
          <p:nvPr/>
        </p:nvSpPr>
        <p:spPr>
          <a:xfrm>
            <a:off x="43891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interface contact 的貢獻尚未量化。</a:t>
            </a:r>
          </a:p>
        </p:txBody>
      </p:sp>
      <p:sp>
        <p:nvSpPr>
          <p:cNvPr id="6" name="tds-slot:next_step"/>
          <p:cNvSpPr txBox="1"/>
          <p:nvPr/>
        </p:nvSpPr>
        <p:spPr>
          <a:xfrm>
            <a:off x="80467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Next question｜匹配 bulk conductivity 後，contact resistance 是否主導變異？</a:t>
            </a:r>
          </a:p>
          <a:p>
            <a:r>
              <a:rPr sz="1600"/>
              <a:t>Next Step｜NS101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H001｜Hypothesis 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transition_nodes"/>
          <p:cNvSpPr txBox="1"/>
          <p:nvPr/>
        </p:nvSpPr>
        <p:spPr>
          <a:xfrm>
            <a:off x="731520" y="1417320"/>
            <a:ext cx="1074420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Previous hypothesis｜C101</a:t>
            </a:r>
          </a:p>
          <a:p>
            <a:r>
              <a:rPr sz="1800"/>
              <a:t>Key results｜RES101, RES102</a:t>
            </a:r>
          </a:p>
          <a:p>
            <a:r>
              <a:rPr sz="1800"/>
              <a:t>New observation｜E104</a:t>
            </a:r>
          </a:p>
          <a:p>
            <a:r>
              <a:rPr sz="1800"/>
              <a:t>New hypothesis｜C201</a:t>
            </a:r>
          </a:p>
        </p:txBody>
      </p:sp>
      <p:sp>
        <p:nvSpPr>
          <p:cNvPr id="5" name="tds-slot:derivation_strip"/>
          <p:cNvSpPr txBox="1"/>
          <p:nvPr/>
        </p:nvSpPr>
        <p:spPr>
          <a:xfrm>
            <a:off x="731520" y="4160520"/>
            <a:ext cx="10744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Not explained｜導電度增加後訊號重複性沒有改善。</a:t>
            </a:r>
          </a:p>
          <a:p>
            <a:r>
              <a:rPr sz="1600"/>
              <a:t>Therefore｜剩餘變異隨電極接觸位置改變，因此核心解釋由 bulk transport 轉向 interface contact。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hypothesis_statement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Hypothesis｜Contact resistance drives instability at low pressure.</a:t>
            </a:r>
          </a:p>
          <a:p>
            <a:r>
              <a:rPr sz="2800"/>
              <a:t>Falsifier｜Matched conditions do not change the predicted CV or resistance.</a:t>
            </a:r>
          </a:p>
          <a:p>
            <a:r>
              <a:rPr sz="2800"/>
              <a:t>Research question｜低接觸壓力下，contact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evious_finding"/>
          <p:cNvSpPr txBox="1"/>
          <p:nvPr/>
        </p:nvSpPr>
        <p:spPr>
          <a:xfrm>
            <a:off x="7315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H01 支持導電度梯度存在; H01 未支持導電度單獨主導重複性</a:t>
            </a:r>
          </a:p>
        </p:txBody>
      </p:sp>
      <p:sp>
        <p:nvSpPr>
          <p:cNvPr id="5" name="tds-slot:unresolved_conflict"/>
          <p:cNvSpPr txBox="1"/>
          <p:nvPr/>
        </p:nvSpPr>
        <p:spPr>
          <a:xfrm>
            <a:off x="43891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bulk transport 與 interface contact 的相對貢獻尚未區分。</a:t>
            </a:r>
          </a:p>
        </p:txBody>
      </p:sp>
      <p:sp>
        <p:nvSpPr>
          <p:cNvPr id="6" name="tds-slot:research_question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H002｜Total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FB001-rev2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  <p:sp>
        <p:nvSpPr>
          <p:cNvPr id="5" name="tds-slot:fishbone_focus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FB-ELECTRODE-CONTACT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H002｜Observation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imary_figure"/>
          <p:cNvSpPr txBox="1"/>
          <p:nvPr/>
        </p:nvSpPr>
        <p:spPr>
          <a:xfrm>
            <a:off x="6903720" y="1280160"/>
            <a:ext cx="457200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Registered observation visual.</a:t>
            </a:r>
          </a:p>
        </p:txBody>
      </p:sp>
      <p:sp>
        <p:nvSpPr>
          <p:cNvPr id="5" name="tds-slot:research_question"/>
          <p:cNvSpPr txBox="1"/>
          <p:nvPr/>
        </p:nvSpPr>
        <p:spPr>
          <a:xfrm>
            <a:off x="731520" y="1325880"/>
            <a:ext cx="56692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低接觸壓力下，contact resistance 是否主導訊號不穩定？</a:t>
            </a:r>
          </a:p>
        </p:txBody>
      </p:sp>
      <p:sp>
        <p:nvSpPr>
          <p:cNvPr id="6" name="tds-slot:observation_text"/>
          <p:cNvSpPr txBox="1"/>
          <p:nvPr/>
        </p:nvSpPr>
        <p:spPr>
          <a:xfrm>
            <a:off x="731520" y="2331720"/>
            <a:ext cx="5669280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Observation｜位置依賴缺陷與訊號變異已觀察到。</a:t>
            </a:r>
          </a:p>
          <a:p>
            <a:r>
              <a:rPr sz="1600"/>
              <a:t>Problem｜現有模型無法解釋此變異。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control_panel"/>
          <p:cNvSpPr txBox="1"/>
          <p:nvPr/>
        </p:nvSpPr>
        <p:spPr>
          <a:xfrm>
            <a:off x="731520" y="1325880"/>
            <a:ext cx="52578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Control｜low-pressure control</a:t>
            </a:r>
          </a:p>
        </p:txBody>
      </p:sp>
      <p:pic>
        <p:nvPicPr>
          <p:cNvPr id="5" name="tds-slot:proposed_panel" descr="H02_contact_pressur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6217920" y="1325880"/>
            <a:ext cx="52578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decision_status"/>
          <p:cNvSpPr txBox="1"/>
          <p:nvPr/>
        </p:nvSpPr>
        <p:spPr>
          <a:xfrm>
            <a:off x="7315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Answered｜低接觸壓力下 contact resistance 是主導不穩定來源。</a:t>
            </a:r>
          </a:p>
          <a:p>
            <a:r>
              <a:rPr sz="1800"/>
              <a:t>Hypothesis status｜supported</a:t>
            </a:r>
          </a:p>
          <a:p>
            <a:r>
              <a:rPr sz="1800"/>
              <a:t>Decision｜Go: Contact-pressure control discriminates the interface mechanism.</a:t>
            </a:r>
          </a:p>
        </p:txBody>
      </p:sp>
      <p:sp>
        <p:nvSpPr>
          <p:cNvPr id="5" name="tds-slot:uncertainty"/>
          <p:cNvSpPr txBox="1"/>
          <p:nvPr/>
        </p:nvSpPr>
        <p:spPr>
          <a:xfrm>
            <a:off x="43891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高壓循環的耐久性與 wear 尚未測試。</a:t>
            </a:r>
          </a:p>
        </p:txBody>
      </p:sp>
      <p:sp>
        <p:nvSpPr>
          <p:cNvPr id="6" name="tds-slot:next_step"/>
          <p:cNvSpPr txBox="1"/>
          <p:nvPr/>
        </p:nvSpPr>
        <p:spPr>
          <a:xfrm>
            <a:off x="80467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Next question｜接觸壓力改善能否在長期循環下維持？</a:t>
            </a:r>
          </a:p>
          <a:p>
            <a:r>
              <a:rPr sz="1600"/>
              <a:t>Next Step｜NS201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