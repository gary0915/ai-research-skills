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15.xml" ContentType="application/vnd.openxmlformats-officedocument.presentationml.notesSlide+xml"/>
  <ns0:Override PartName="/ppt/notesSlides/notesSlide16.xml" ContentType="application/vnd.openxmlformats-officedocument.presentationml.notesSlide+xml"/>
  <ns0:Override PartName="/ppt/notesSlides/notesSlide17.xml" ContentType="application/vnd.openxmlformats-officedocument.presentationml.notesSlide+xml"/>
  <ns0:Override PartName="/ppt/notesSlides/notesSlide18.xml" ContentType="application/vnd.openxmlformats-officedocument.presentationml.notesSlide+xml"/>
  <ns0:Override PartName="/ppt/notesSlides/notesSlide19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20.xml" ContentType="application/vnd.openxmlformats-officedocument.presentationml.notesSlide+xml"/>
  <ns0:Override PartName="/ppt/notesSlides/notesSlide21.xml" ContentType="application/vnd.openxmlformats-officedocument.presentationml.notesSlide+xml"/>
  <ns0:Override PartName="/ppt/notesSlides/notesSlide22.xml" ContentType="application/vnd.openxmlformats-officedocument.presentationml.notesSlide+xml"/>
  <ns0:Override PartName="/ppt/notesSlides/notesSlide23.xml" ContentType="application/vnd.openxmlformats-officedocument.presentationml.notesSlide+xml"/>
  <ns0:Override PartName="/ppt/notesSlides/notesSlide24.xml" ContentType="application/vnd.openxmlformats-officedocument.presentationml.notesSlide+xml"/>
  <ns0:Override PartName="/ppt/notesSlides/notesSlide25.xml" ContentType="application/vnd.openxmlformats-officedocument.presentationml.notesSlide+xml"/>
  <ns0:Override PartName="/ppt/notesSlides/notesSlide26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E201</a:t>
            </a:r>
          </a:p>
          <a:p>
            <a:r>
              <a:t>E301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E104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E304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E302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E302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E302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E302</a:t>
            </a:r>
          </a:p>
          <a:p>
            <a:r>
              <a:t>E301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E301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1.png" /><ns0:Relationship Id="rId3" Type="http://schemas.openxmlformats.org/officeDocument/2006/relationships/notesSlide" Target="../notesSlides/notesSlide4.xml" /><ns0:Relationship Id="rId99" Type="http://schemas.openxmlformats.org/officeDocument/2006/relationships/image" Target="../media/A101.svg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5.xml" /><ns0:Relationship Id="rId99" Type="http://schemas.openxmlformats.org/officeDocument/2006/relationships/image" Target="../media/A002.svg" /></ns0: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9.xml" /><ns0:Relationship Id="rId99" Type="http://schemas.openxmlformats.org/officeDocument/2006/relationships/image" Target="../media/plot-canonical.svg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10.xml" /><ns0:Relationship Id="rId99" Type="http://schemas.openxmlformats.org/officeDocument/2006/relationships/image" Target="../media/plot-canonical.svg" /></ns0: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4.png" /><ns0:Relationship Id="rId3" Type="http://schemas.openxmlformats.org/officeDocument/2006/relationships/notesSlide" Target="../notesSlides/notesSlide16.xml" /><ns0:Relationship Id="rId99" Type="http://schemas.openxmlformats.org/officeDocument/2006/relationships/image" Target="../media/A102.svg" /></ns0: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5.png" /><ns0:Relationship Id="rId3" Type="http://schemas.openxmlformats.org/officeDocument/2006/relationships/notesSlide" Target="../notesSlides/notesSlide18.xml" /><ns0:Relationship Id="rId99" Type="http://schemas.openxmlformats.org/officeDocument/2006/relationships/image" Target="../media/A201.svg" /></ns0: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4.png" /><ns0:Relationship Id="rId3" Type="http://schemas.openxmlformats.org/officeDocument/2006/relationships/notesSlide" Target="../notesSlides/notesSlide23.xml" /><ns0:Relationship Id="rId99" Type="http://schemas.openxmlformats.org/officeDocument/2006/relationships/image" Target="../media/A302.svg" /></ns0: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5.png" /><ns0:Relationship Id="rId3" Type="http://schemas.openxmlformats.org/officeDocument/2006/relationships/notesSlide" Target="../notesSlides/notesSlide25.xml" /><ns0:Relationship Id="rId99" Type="http://schemas.openxmlformats.org/officeDocument/2006/relationships/image" Target="../media/A301.svg" /></ns0: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mmitment_table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Commitment｜NS101; NS201; NS301</a:t>
            </a:r>
          </a:p>
        </p:txBody>
      </p:sp>
      <p:sp>
        <p:nvSpPr>
          <p:cNvPr id="5" name="tds-slot:current_position"/>
          <p:cNvSpPr txBox="1"/>
          <p:nvPr/>
        </p:nvSpPr>
        <p:spPr>
          <a:xfrm>
            <a:off x="7452360" y="1325880"/>
            <a:ext cx="40233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Current｜H003</a:t>
            </a:r>
          </a:p>
        </p:txBody>
      </p:sp>
      <p:sp>
        <p:nvSpPr>
          <p:cNvPr id="6" name="tds-slot:parallel_work"/>
          <p:cNvSpPr txBox="1"/>
          <p:nvPr/>
        </p:nvSpPr>
        <p:spPr>
          <a:xfrm>
            <a:off x="7452360" y="3154680"/>
            <a:ext cx="402336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Parallel｜interface-mechanism; interface-mechanism; interface-mechanism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Hypothesis｜Bulk conductivity drives the positional signal gradient.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Prior｜含水量與導電度存在位置梯度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Conflict｜導電度提高是否足以修復重複性仍未知。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1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History｜FB001 rev1</a:t>
            </a:r>
          </a:p>
          <a:p>
            <a:r>
              <a:rPr sz="1600"/>
              <a:t>Focus｜FB-MATERIAL-HYDRATION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observation_visu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Question｜提升 bulk conductivity 是否足以降低位置依賴的訊號變異？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literature_evidence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5" name="tds-slot:mechanism_diagram"/>
          <p:cNvSpPr txBox="1"/>
          <p:nvPr/>
        </p:nvSpPr>
        <p:spPr>
          <a:xfrm>
            <a:off x="6400800" y="1325880"/>
            <a:ext cx="50749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Mechanism｜bulk transport</a:t>
            </a:r>
          </a:p>
          <a:p>
            <a:r>
              <a:rPr sz="1600"/>
              <a:t>Evidence｜C102; C103; E103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IV｜含水量</a:t>
            </a:r>
          </a:p>
          <a:p>
            <a:r>
              <a:rPr sz="1600"/>
              <a:t>Controls｜電極幾何; 接觸壓力</a:t>
            </a:r>
          </a:p>
          <a:p>
            <a:r>
              <a:rPr sz="1600"/>
              <a:t>Baseline｜原始配方</a:t>
            </a:r>
          </a:p>
          <a:p>
            <a:r>
              <a:rPr sz="1600"/>
              <a:t>Sample｜replicates: 3; samples: 15</a:t>
            </a:r>
          </a:p>
          <a:p>
            <a:r>
              <a:rPr sz="1600"/>
              <a:t>N｜3</a:t>
            </a:r>
          </a:p>
          <a:p>
            <a:r>
              <a:rPr sz="1600"/>
              <a:t>Outputs｜導電度 (mS/cm)</a:t>
            </a:r>
          </a:p>
          <a:p>
            <a:r>
              <a:rPr sz="1600"/>
              <a:t>Units｜導電度 (mS/cm)</a:t>
            </a:r>
          </a:p>
          <a:p>
            <a:r>
              <a:rPr sz="1600"/>
              <a:t>Method｜synthetic-four-probe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Prediction｜導電度提升</a:t>
            </a:r>
          </a:p>
          <a:p>
            <a:r>
              <a:rPr sz="1600"/>
              <a:t>Rule｜go: mean conductivity increases &gt;=20%; partial_go: 10-20%; no_go: &lt;10%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IV｜位置</a:t>
            </a:r>
          </a:p>
          <a:p>
            <a:r>
              <a:rPr sz="1600"/>
              <a:t>Controls｜配方; 電極; 接觸壓力</a:t>
            </a:r>
          </a:p>
          <a:p>
            <a:r>
              <a:rPr sz="1600"/>
              <a:t>Baseline｜原始位置分布</a:t>
            </a:r>
          </a:p>
          <a:p>
            <a:r>
              <a:rPr sz="1600"/>
              <a:t>Sample｜replicates: 3; samples: 15</a:t>
            </a:r>
          </a:p>
          <a:p>
            <a:r>
              <a:rPr sz="1600"/>
              <a:t>N｜3</a:t>
            </a:r>
          </a:p>
          <a:p>
            <a:r>
              <a:rPr sz="1600"/>
              <a:t>Outputs｜訊號 CV (%)</a:t>
            </a:r>
          </a:p>
          <a:p>
            <a:r>
              <a:rPr sz="1600"/>
              <a:t>Units｜訊號 CV (%)</a:t>
            </a:r>
          </a:p>
          <a:p>
            <a:r>
              <a:rPr sz="1600"/>
              <a:t>Method｜synthetic-signal-test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Prediction｜CV 下降</a:t>
            </a:r>
          </a:p>
          <a:p>
            <a:r>
              <a:rPr sz="1600"/>
              <a:t>Rule｜go: CV decreases &gt;=30%; partial_go: 10-30%; no_go: &lt;10%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486400" y="1234440"/>
            <a:ext cx="5989320" cy="3630168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864608"/>
            <a:ext cx="5989320" cy="43891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Figure｜RES101｜平均導電度增加 24% ± 5% SD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ID｜RES101</a:t>
            </a:r>
          </a:p>
          <a:p>
            <a:r>
              <a:rPr sz="1600"/>
              <a:t>Result｜平均導電度增加 24% ± 5% SD</a:t>
            </a:r>
          </a:p>
          <a:p>
            <a:r>
              <a:rPr sz="1600"/>
              <a:t>Metric｜{'name': 'CV', 'value': 24, 'uncertainty': 5, 'units': '%'}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486400" y="1234440"/>
            <a:ext cx="5989320" cy="3630168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864608"/>
            <a:ext cx="5989320" cy="43891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Figure｜RES102｜訊號 CV 僅下降 4% ± 6% SD，屬 No-Go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ID｜RES102</a:t>
            </a:r>
          </a:p>
          <a:p>
            <a:r>
              <a:rPr sz="1600"/>
              <a:t>Result｜訊號 CV 僅下降 4% ± 6% SD，屬 No-Go</a:t>
            </a:r>
          </a:p>
          <a:p>
            <a:r>
              <a:rPr sz="1600"/>
              <a:t>Metric｜{'name': 'CV', 'value': 4, 'uncertainty': 5, 'units': '%'}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5166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Support｜RES101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6217920" y="1280160"/>
            <a:ext cx="5257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Conflict｜RES102</a:t>
            </a:r>
          </a:p>
          <a:p>
            <a:r>
              <a:rPr sz="1600"/>
              <a:t>Non-disc.｜none</a:t>
            </a:r>
          </a:p>
        </p:txBody>
      </p:sp>
      <p:sp>
        <p:nvSpPr>
          <p:cNvPr id="6" name="tds-slot:uncertainty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Pattern｜導電度提升成立，但重複性沒有同步改善。</a:t>
            </a:r>
          </a:p>
          <a:p>
            <a:r>
              <a:rPr sz="1600"/>
              <a:t>Mechanism｜bulk conductivity 是部分機制，不足以解釋 interface-sensitive variation。</a:t>
            </a:r>
          </a:p>
          <a:p>
            <a:r>
              <a:rPr sz="1600"/>
              <a:t>Alternatives｜接觸電阻; 局部壓力差; 電極幾何</a:t>
            </a:r>
          </a:p>
          <a:p>
            <a:r>
              <a:rPr sz="1600"/>
              <a:t>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Answer｜bulk conductivity 影響缺陷梯度，但不足以單獨解釋重複性。</a:t>
            </a:r>
          </a:p>
          <a:p>
            <a:r>
              <a:rPr sz="1800"/>
              <a:t>Status｜partial_support</a:t>
            </a:r>
          </a:p>
          <a:p>
            <a:r>
              <a:rPr sz="1800"/>
              <a:t>Decision｜Partial-Go; Bulk conductivity is contributory but insufficient.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Unresolved｜interface contact 的貢獻尚未量化。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question｜匹配 bulk conductivity 後，contact resistance 是否主導變異？</a:t>
            </a:r>
          </a:p>
          <a:p>
            <a:r>
              <a:rPr sz="1600"/>
              <a:t>Next step｜NS101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transition_nodes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 H｜C101</a:t>
            </a:r>
          </a:p>
          <a:p>
            <a:r>
              <a:rPr sz="1800"/>
              <a:t>Key results｜RES101; RES102</a:t>
            </a:r>
          </a:p>
          <a:p>
            <a:r>
              <a:rPr sz="1800"/>
              <a:t>Precursor｜E104</a:t>
            </a:r>
          </a:p>
          <a:p>
            <a:r>
              <a:rPr sz="1800"/>
              <a:t>New H｜C201</a:t>
            </a:r>
          </a:p>
        </p:txBody>
      </p:sp>
      <p:sp>
        <p:nvSpPr>
          <p:cNvPr id="5" name="tds-slot:derivation_strip"/>
          <p:cNvSpPr txBox="1"/>
          <p:nvPr/>
        </p:nvSpPr>
        <p:spPr>
          <a:xfrm>
            <a:off x="731520" y="4160520"/>
            <a:ext cx="10744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Unresolved｜導電度增加後訊號重複性沒有改善。</a:t>
            </a:r>
          </a:p>
          <a:p>
            <a:r>
              <a:rPr sz="1600"/>
              <a:t>Rationale｜剩餘變異隨電極接觸位置改變，因此核心解釋由 bulk transport 轉向 interface contact。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Hypothesis｜Contact resistance drives instability at low pressure.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Prior｜H01 支持導電度梯度存在; H01 未支持導電度單獨主導重複性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Conflict｜bulk transport 與 interface contact 的相對貢獻尚未區分。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2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History｜FB001 rev2</a:t>
            </a:r>
          </a:p>
          <a:p>
            <a:r>
              <a:rPr sz="1600"/>
              <a:t>Focus｜FB-ELECTRODE-CONTACT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observation_text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</p:txBody>
      </p:sp>
      <p:sp>
        <p:nvSpPr>
          <p:cNvPr id="5" name="tds-slot:research_question"/>
          <p:cNvSpPr txBox="1"/>
          <p:nvPr/>
        </p:nvSpPr>
        <p:spPr>
          <a:xfrm>
            <a:off x="731520" y="3429000"/>
            <a:ext cx="27432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Question｜低接觸壓力下，contact resistance 是否主導訊號不穩定？</a:t>
            </a:r>
          </a:p>
        </p:txBody>
      </p:sp>
      <p:sp>
        <p:nvSpPr>
          <p:cNvPr id="6" name="tds-slot:literature_evidence"/>
          <p:cNvSpPr txBox="1"/>
          <p:nvPr/>
        </p:nvSpPr>
        <p:spPr>
          <a:xfrm>
            <a:off x="3749039" y="1280160"/>
            <a:ext cx="37490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7" name="tds-slot:mechanism_diagram"/>
          <p:cNvSpPr txBox="1"/>
          <p:nvPr/>
        </p:nvSpPr>
        <p:spPr>
          <a:xfrm>
            <a:off x="7772400" y="1280160"/>
            <a:ext cx="19202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Mechanism｜contact resistance</a:t>
            </a:r>
          </a:p>
          <a:p>
            <a:r>
              <a:rPr sz="1600"/>
              <a:t>Evidence｜C202; C203; E202</a:t>
            </a:r>
          </a:p>
        </p:txBody>
      </p:sp>
      <p:sp>
        <p:nvSpPr>
          <p:cNvPr id="8" name="tds-slot:strategy"/>
          <p:cNvSpPr txBox="1"/>
          <p:nvPr/>
        </p:nvSpPr>
        <p:spPr>
          <a:xfrm>
            <a:off x="9875520" y="1280160"/>
            <a:ext cx="1554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Strategy｜匹配導電度並改變接觸壓力</a:t>
            </a:r>
          </a:p>
          <a:p>
            <a:r>
              <a:rPr sz="1600"/>
              <a:t>Criterion｜預測指標跨過 decision threshold</a:t>
            </a:r>
          </a:p>
        </p:txBody>
      </p:sp>
      <p:sp>
        <p:nvSpPr>
          <p:cNvPr id="9" name="tds-slot:primary_figure"/>
          <p:cNvSpPr txBox="1"/>
          <p:nvPr/>
        </p:nvSpPr>
        <p:spPr>
          <a:xfrm>
            <a:off x="7772400" y="3611880"/>
            <a:ext cx="36576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Registered observation visual.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53035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IV｜contact pressure</a:t>
            </a:r>
          </a:p>
          <a:p>
            <a:r>
              <a:rPr sz="1600"/>
              <a:t>Controls｜bulk conductivity; 電極幾何</a:t>
            </a:r>
          </a:p>
          <a:p>
            <a:r>
              <a:rPr sz="1600"/>
              <a:t>Baseline｜low-pressure control</a:t>
            </a:r>
          </a:p>
          <a:p>
            <a:r>
              <a:rPr sz="1600"/>
              <a:t>Sample｜replicates: 5; samples: 15</a:t>
            </a:r>
          </a:p>
          <a:p>
            <a:r>
              <a:rPr sz="1600"/>
              <a:t>N｜5</a:t>
            </a:r>
          </a:p>
          <a:p>
            <a:r>
              <a:rPr sz="1600"/>
              <a:t>Outputs｜訊號 CV (%); contact resistance (ohm)</a:t>
            </a:r>
          </a:p>
          <a:p>
            <a:r>
              <a:rPr sz="1600"/>
              <a:t>Units｜訊號 CV (%); contact resistance (ohm)</a:t>
            </a:r>
          </a:p>
          <a:p>
            <a:r>
              <a:rPr sz="1600"/>
              <a:t>Method｜synthetic-pressure-fixture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6217920" y="128016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Prediction｜CV and resistance decrease</a:t>
            </a:r>
          </a:p>
          <a:p>
            <a:r>
              <a:rPr sz="1600"/>
              <a:t>Rule｜go: both metrics improve; partial_go: one metric improves; no_go: neither improves</a:t>
            </a:r>
          </a:p>
        </p:txBody>
      </p:sp>
      <p:pic>
        <p:nvPicPr>
          <p:cNvPr id="6" name="tds-slot:result_plot/figure" descr="H02_contact_pressur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8275320" y="1280160"/>
            <a:ext cx="3200400" cy="1887321"/>
          </a:xfrm>
          <a:prstGeom prst="rect">
            <a:avLst/>
          </a:prstGeom>
        </p:spPr>
      </p:pic>
      <p:sp>
        <p:nvSpPr>
          <p:cNvPr id="7" name="tds-slot:result_plot/annotation"/>
          <p:cNvSpPr txBox="1"/>
          <p:nvPr/>
        </p:nvSpPr>
        <p:spPr>
          <a:xfrm>
            <a:off x="8275320" y="3167481"/>
            <a:ext cx="3200400" cy="307238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Figure｜RES201｜高壓條件 CV 下降 38% ± 7% SD，contact resistance 同步下降</a:t>
            </a:r>
          </a:p>
        </p:txBody>
      </p:sp>
      <p:sp>
        <p:nvSpPr>
          <p:cNvPr id="8" name="tds-slot:result_annotation"/>
          <p:cNvSpPr txBox="1"/>
          <p:nvPr/>
        </p:nvSpPr>
        <p:spPr>
          <a:xfrm>
            <a:off x="6217920" y="3611880"/>
            <a:ext cx="525780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ID｜RES201</a:t>
            </a:r>
          </a:p>
          <a:p>
            <a:r>
              <a:rPr sz="1600"/>
              <a:t>Result｜高壓條件 CV 下降 38% ± 7% SD，contact resistance 同步下降</a:t>
            </a:r>
          </a:p>
          <a:p>
            <a:r>
              <a:rPr sz="1600"/>
              <a:t>Metric｜{'name': 'CV', 'value': 24, 'uncertainty': 5, 'units': '%'}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Support｜RES201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37033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Conflict｜none</a:t>
            </a:r>
          </a:p>
          <a:p>
            <a:r>
              <a:rPr sz="1600"/>
              <a:t>Non-disc.｜none</a:t>
            </a:r>
          </a:p>
        </p:txBody>
      </p:sp>
      <p:sp>
        <p:nvSpPr>
          <p:cNvPr id="6" name="tds-slot:discussion_synthesis"/>
          <p:cNvSpPr txBox="1"/>
          <p:nvPr/>
        </p:nvSpPr>
        <p:spPr>
          <a:xfrm>
            <a:off x="6675120" y="1280160"/>
            <a:ext cx="4800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Cross-experiment pattern｜匹配導電度後，提高接觸壓力明顯降低變異。</a:t>
            </a:r>
          </a:p>
          <a:p>
            <a:r>
              <a:rPr sz="1600"/>
              <a:t>Mechanism assessment｜contact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</p:txBody>
      </p:sp>
      <p:sp>
        <p:nvSpPr>
          <p:cNvPr id="7" name="tds-slot:uncertainty"/>
          <p:cNvSpPr txBox="1"/>
          <p:nvPr/>
        </p:nvSpPr>
        <p:spPr>
          <a:xfrm>
            <a:off x="731520" y="3474720"/>
            <a:ext cx="5257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Pattern｜匹配導電度後，提高接觸壓力明顯降低變異。</a:t>
            </a:r>
          </a:p>
          <a:p>
            <a:r>
              <a:rPr sz="1600"/>
              <a:t>Mechanism｜contact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  <a:p>
            <a:r>
              <a:rPr sz="1600"/>
              <a:t>Uncertainty｜高壓長期循環是否造成新的 wear mechanism 尚未知。</a:t>
            </a:r>
          </a:p>
          <a:p>
            <a:r>
              <a:rPr sz="1600"/>
              <a:t>Unresolved｜高壓循環的耐久性與 wear 尚未測試。</a:t>
            </a:r>
          </a:p>
        </p:txBody>
      </p:sp>
      <p:sp>
        <p:nvSpPr>
          <p:cNvPr id="8" name="tds-slot:decision_status"/>
          <p:cNvSpPr txBox="1"/>
          <p:nvPr/>
        </p:nvSpPr>
        <p:spPr>
          <a:xfrm>
            <a:off x="62179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Answer｜低接觸壓力下 contact resistance 是主導不穩定來源。</a:t>
            </a:r>
          </a:p>
          <a:p>
            <a:r>
              <a:rPr sz="1600"/>
              <a:t>Status｜supported</a:t>
            </a:r>
          </a:p>
          <a:p>
            <a:r>
              <a:rPr sz="1600"/>
              <a:t>Decision｜Go; Contact-pressure control discriminates the interface mechanism.</a:t>
            </a:r>
          </a:p>
        </p:txBody>
      </p:sp>
      <p:sp>
        <p:nvSpPr>
          <p:cNvPr id="9" name="tds-slot:next_step"/>
          <p:cNvSpPr txBox="1"/>
          <p:nvPr/>
        </p:nvSpPr>
        <p:spPr>
          <a:xfrm>
            <a:off x="89611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question｜接觸壓力改善能否在長期循環下維持？</a:t>
            </a:r>
          </a:p>
          <a:p>
            <a:r>
              <a:rPr sz="1600"/>
              <a:t>Next step｜NS201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transition_nodes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 H｜C201</a:t>
            </a:r>
          </a:p>
          <a:p>
            <a:r>
              <a:rPr sz="1800"/>
              <a:t>Key results｜RES201</a:t>
            </a:r>
          </a:p>
          <a:p>
            <a:r>
              <a:rPr sz="1800"/>
              <a:t>Precursor｜E304</a:t>
            </a:r>
          </a:p>
          <a:p>
            <a:r>
              <a:rPr sz="1800"/>
              <a:t>New H｜C301</a:t>
            </a:r>
          </a:p>
        </p:txBody>
      </p:sp>
      <p:sp>
        <p:nvSpPr>
          <p:cNvPr id="5" name="tds-slot:derivation_strip"/>
          <p:cNvSpPr txBox="1"/>
          <p:nvPr/>
        </p:nvSpPr>
        <p:spPr>
          <a:xfrm>
            <a:off x="731520" y="4160520"/>
            <a:ext cx="10744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Unresolved｜Cycling durability remains unknown.</a:t>
            </a:r>
          </a:p>
          <a:p>
            <a:r>
              <a:rPr sz="1600"/>
              <a:t>Rationale｜The pressure result resolves the static interface mechanism but not cyclic stability.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H003｜Hypothesis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Hypothesis｜Cycling history controls the remaining interface instability.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Question｜Does cyclic loading explain the remaining instability?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H003｜Problem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Prior｜H01 支持導電度梯度存在; H01 未支持導電度單獨主導重複性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Conflict｜bulk transport 與 interface contact 的相對貢獻尚未區分。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Question｜Does cyclic loading explain the remaining instability?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H003｜Total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2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History｜FB001 rev3</a:t>
            </a:r>
          </a:p>
          <a:p>
            <a:r>
              <a:rPr sz="1600"/>
              <a:t>Focus｜FB-ELECTRODE-CONTACT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H003｜Observation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observation_text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</p:txBody>
      </p:sp>
      <p:sp>
        <p:nvSpPr>
          <p:cNvPr id="5" name="tds-slot:research_question"/>
          <p:cNvSpPr txBox="1"/>
          <p:nvPr/>
        </p:nvSpPr>
        <p:spPr>
          <a:xfrm>
            <a:off x="731520" y="3429000"/>
            <a:ext cx="27432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Question｜低接觸壓力下，contact resistance 是否主導訊號不穩定？</a:t>
            </a:r>
          </a:p>
        </p:txBody>
      </p:sp>
      <p:sp>
        <p:nvSpPr>
          <p:cNvPr id="6" name="tds-slot:literature_evidence"/>
          <p:cNvSpPr txBox="1"/>
          <p:nvPr/>
        </p:nvSpPr>
        <p:spPr>
          <a:xfrm>
            <a:off x="3749039" y="1280160"/>
            <a:ext cx="37490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7" name="tds-slot:mechanism_diagram"/>
          <p:cNvSpPr txBox="1"/>
          <p:nvPr/>
        </p:nvSpPr>
        <p:spPr>
          <a:xfrm>
            <a:off x="7772400" y="1280160"/>
            <a:ext cx="19202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Mechanism｜contact resistance</a:t>
            </a:r>
          </a:p>
          <a:p>
            <a:r>
              <a:rPr sz="1600"/>
              <a:t>Evidence｜C301; E302</a:t>
            </a:r>
          </a:p>
        </p:txBody>
      </p:sp>
      <p:sp>
        <p:nvSpPr>
          <p:cNvPr id="8" name="tds-slot:strategy"/>
          <p:cNvSpPr txBox="1"/>
          <p:nvPr/>
        </p:nvSpPr>
        <p:spPr>
          <a:xfrm>
            <a:off x="9875520" y="1280160"/>
            <a:ext cx="1554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Strategy｜匹配導電度並改變接觸壓力</a:t>
            </a:r>
          </a:p>
          <a:p>
            <a:r>
              <a:rPr sz="1600"/>
              <a:t>Criterion｜預測指標跨過 decision threshold</a:t>
            </a:r>
          </a:p>
        </p:txBody>
      </p:sp>
      <p:sp>
        <p:nvSpPr>
          <p:cNvPr id="9" name="tds-slot:primary_figure"/>
          <p:cNvSpPr txBox="1"/>
          <p:nvPr/>
        </p:nvSpPr>
        <p:spPr>
          <a:xfrm>
            <a:off x="7772400" y="3611880"/>
            <a:ext cx="36576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Registered observation visual.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H003｜Results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53035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IV｜contact pressure</a:t>
            </a:r>
          </a:p>
          <a:p>
            <a:r>
              <a:rPr sz="1600"/>
              <a:t>Controls｜bulk conductivity; 電極幾何</a:t>
            </a:r>
          </a:p>
          <a:p>
            <a:r>
              <a:rPr sz="1600"/>
              <a:t>Baseline｜low-pressure control</a:t>
            </a:r>
          </a:p>
          <a:p>
            <a:r>
              <a:rPr sz="1600"/>
              <a:t>Sample｜replicates: 5; samples: 15</a:t>
            </a:r>
          </a:p>
          <a:p>
            <a:r>
              <a:rPr sz="1600"/>
              <a:t>N｜5</a:t>
            </a:r>
          </a:p>
          <a:p>
            <a:r>
              <a:rPr sz="1600"/>
              <a:t>Outputs｜訊號 CV (%); contact resistance (ohm)</a:t>
            </a:r>
          </a:p>
          <a:p>
            <a:r>
              <a:rPr sz="1600"/>
              <a:t>Units｜訊號 CV (%); contact resistance (ohm)</a:t>
            </a:r>
          </a:p>
          <a:p>
            <a:r>
              <a:rPr sz="1600"/>
              <a:t>Method｜synthetic-pressure-fixture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6217920" y="128016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Prediction｜CV and resistance decrease</a:t>
            </a:r>
          </a:p>
          <a:p>
            <a:r>
              <a:rPr sz="1600"/>
              <a:t>Rule｜go: both metrics improve; partial_go: one metric improves; no_go: neither improves</a:t>
            </a:r>
          </a:p>
        </p:txBody>
      </p:sp>
      <p:pic>
        <p:nvPicPr>
          <p:cNvPr id="6" name="tds-slot:result_plot/figure" descr="H02_contact_pressur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8275320" y="1280160"/>
            <a:ext cx="3200400" cy="1887321"/>
          </a:xfrm>
          <a:prstGeom prst="rect">
            <a:avLst/>
          </a:prstGeom>
        </p:spPr>
      </p:pic>
      <p:sp>
        <p:nvSpPr>
          <p:cNvPr id="7" name="tds-slot:result_plot/annotation"/>
          <p:cNvSpPr txBox="1"/>
          <p:nvPr/>
        </p:nvSpPr>
        <p:spPr>
          <a:xfrm>
            <a:off x="8275320" y="3167481"/>
            <a:ext cx="3200400" cy="307238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Figure｜RES301｜Cycling test retains 91% response after 100 cycles.</a:t>
            </a:r>
          </a:p>
        </p:txBody>
      </p:sp>
      <p:sp>
        <p:nvSpPr>
          <p:cNvPr id="8" name="tds-slot:result_annotation"/>
          <p:cNvSpPr txBox="1"/>
          <p:nvPr/>
        </p:nvSpPr>
        <p:spPr>
          <a:xfrm>
            <a:off x="6217920" y="3611880"/>
            <a:ext cx="525780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ID｜RES301</a:t>
            </a:r>
          </a:p>
          <a:p>
            <a:r>
              <a:rPr sz="1600"/>
              <a:t>Result｜Cycling test retains 91% response after 100 cycles.</a:t>
            </a:r>
          </a:p>
          <a:p>
            <a:r>
              <a:rPr sz="1600"/>
              <a:t>Metric｜{'name': 'CV', 'value': 24, 'uncertainty': 5, 'units': '%'}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H003｜Layer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Support｜RES301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37033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Conflict｜none</a:t>
            </a:r>
          </a:p>
          <a:p>
            <a:r>
              <a:rPr sz="1600"/>
              <a:t>Non-disc.｜none</a:t>
            </a:r>
          </a:p>
        </p:txBody>
      </p:sp>
      <p:sp>
        <p:nvSpPr>
          <p:cNvPr id="6" name="tds-slot:discussion_synthesis"/>
          <p:cNvSpPr txBox="1"/>
          <p:nvPr/>
        </p:nvSpPr>
        <p:spPr>
          <a:xfrm>
            <a:off x="6675120" y="1280160"/>
            <a:ext cx="4800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Cross-experiment pattern｜匹配導電度後，提高接觸壓力明顯降低變異。</a:t>
            </a:r>
          </a:p>
          <a:p>
            <a:r>
              <a:rPr sz="1600"/>
              <a:t>Mechanism assessment｜contact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</p:txBody>
      </p:sp>
      <p:sp>
        <p:nvSpPr>
          <p:cNvPr id="7" name="tds-slot:uncertainty"/>
          <p:cNvSpPr txBox="1"/>
          <p:nvPr/>
        </p:nvSpPr>
        <p:spPr>
          <a:xfrm>
            <a:off x="731520" y="3474720"/>
            <a:ext cx="5257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Pattern｜匹配導電度後，提高接觸壓力明顯降低變異。</a:t>
            </a:r>
          </a:p>
          <a:p>
            <a:r>
              <a:rPr sz="1600"/>
              <a:t>Mechanism｜contact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  <a:p>
            <a:r>
              <a:rPr sz="1600"/>
              <a:t>Uncertainty｜高壓長期循環是否造成新的 wear mechanism 尚未知。</a:t>
            </a:r>
          </a:p>
          <a:p>
            <a:r>
              <a:rPr sz="1600"/>
              <a:t>Unresolved｜高壓循環的耐久性與 wear 尚未測試。</a:t>
            </a:r>
          </a:p>
        </p:txBody>
      </p:sp>
      <p:sp>
        <p:nvSpPr>
          <p:cNvPr id="8" name="tds-slot:decision_status"/>
          <p:cNvSpPr txBox="1"/>
          <p:nvPr/>
        </p:nvSpPr>
        <p:spPr>
          <a:xfrm>
            <a:off x="62179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Answer｜低接觸壓力下 contact resistance 是主導不穩定來源。</a:t>
            </a:r>
          </a:p>
          <a:p>
            <a:r>
              <a:rPr sz="1600"/>
              <a:t>Status｜supported</a:t>
            </a:r>
          </a:p>
          <a:p>
            <a:r>
              <a:rPr sz="1600"/>
              <a:t>Decision｜Go; Contact-pressure control discriminates the interface mechanism.</a:t>
            </a:r>
          </a:p>
        </p:txBody>
      </p:sp>
      <p:sp>
        <p:nvSpPr>
          <p:cNvPr id="9" name="tds-slot:next_step"/>
          <p:cNvSpPr txBox="1"/>
          <p:nvPr/>
        </p:nvSpPr>
        <p:spPr>
          <a:xfrm>
            <a:off x="89611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question｜接觸壓力改善能否在長期循環下維持？</a:t>
            </a:r>
          </a:p>
          <a:p>
            <a:r>
              <a:rPr sz="1600"/>
              <a:t>Next step｜NS301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