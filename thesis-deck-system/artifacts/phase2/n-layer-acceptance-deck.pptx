
<file path=[Content_Types].xml><?xml version="1.0" encoding="utf-8"?>
<ns0:Types xmlns:ns0="http://schemas.openxmlformats.org/package/2006/content-types">
  <ns0:Default Extension="svg" ContentType="image/svg+xml"/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11.xml" ContentType="application/vnd.openxmlformats-officedocument.presentationml.notesSlide+xml"/>
  <ns0:Override PartName="/ppt/notesSlides/notesSlide12.xml" ContentType="application/vnd.openxmlformats-officedocument.presentationml.notesSlide+xml"/>
  <ns0:Override PartName="/ppt/notesSlides/notesSlide13.xml" ContentType="application/vnd.openxmlformats-officedocument.presentationml.notesSlide+xml"/>
  <ns0:Override PartName="/ppt/notesSlides/notesSlide14.xml" ContentType="application/vnd.openxmlformats-officedocument.presentationml.notesSlide+xml"/>
  <ns0:Override PartName="/ppt/notesSlides/notesSlide15.xml" ContentType="application/vnd.openxmlformats-officedocument.presentationml.notesSlide+xml"/>
  <ns0:Override PartName="/ppt/notesSlides/notesSlide16.xml" ContentType="application/vnd.openxmlformats-officedocument.presentationml.notesSlide+xml"/>
  <ns0:Override PartName="/ppt/notesSlides/notesSlide17.xml" ContentType="application/vnd.openxmlformats-officedocument.presentationml.notesSlide+xml"/>
  <ns0:Override PartName="/ppt/notesSlides/notesSlide18.xml" ContentType="application/vnd.openxmlformats-officedocument.presentationml.notesSlide+xml"/>
  <ns0:Override PartName="/ppt/notesSlides/notesSlide19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20.xml" ContentType="application/vnd.openxmlformats-officedocument.presentationml.notesSlide+xml"/>
  <ns0:Override PartName="/ppt/notesSlides/notesSlide21.xml" ContentType="application/vnd.openxmlformats-officedocument.presentationml.notesSlide+xml"/>
  <ns0:Override PartName="/ppt/notesSlides/notesSlide22.xml" ContentType="application/vnd.openxmlformats-officedocument.presentationml.notesSlide+xml"/>
  <ns0:Override PartName="/ppt/notesSlides/notesSlide23.xml" ContentType="application/vnd.openxmlformats-officedocument.presentationml.notesSlide+xml"/>
  <ns0:Override PartName="/ppt/notesSlides/notesSlide24.xml" ContentType="application/vnd.openxmlformats-officedocument.presentationml.notesSlide+xml"/>
  <ns0:Override PartName="/ppt/notesSlides/notesSlide25.xml" ContentType="application/vnd.openxmlformats-officedocument.presentationml.notesSlide+xml"/>
  <ns0:Override PartName="/ppt/notesSlides/notesSlide26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20.xml" ContentType="application/vnd.openxmlformats-officedocument.presentationml.slide+xml"/>
  <ns0:Override PartName="/ppt/slides/slide21.xml" ContentType="application/vnd.openxmlformats-officedocument.presentationml.slide+xml"/>
  <ns0:Override PartName="/ppt/slides/slide22.xml" ContentType="application/vnd.openxmlformats-officedocument.presentationml.slide+xml"/>
  <ns0:Override PartName="/ppt/slides/slide23.xml" ContentType="application/vnd.openxmlformats-officedocument.presentationml.slide+xml"/>
  <ns0:Override PartName="/ppt/slides/slide24.xml" ContentType="application/vnd.openxmlformats-officedocument.presentationml.slide+xml"/>
  <ns0:Override PartName="/ppt/slides/slide25.xml" ContentType="application/vnd.openxmlformats-officedocument.presentationml.slide+xml"/>
  <ns0:Override PartName="/ppt/slides/slide26.xml" ContentType="application/vnd.openxmlformats-officedocument.presentationml.slide+xml"/>
  <ns0:Override PartName="/ppt/slides/slide27.xml" ContentType="application/vnd.openxmlformats-officedocument.presentationml.slide+xml"/>
  <ns0:Override PartName="/ppt/slides/slide28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E101</a:t>
            </a:r>
          </a:p>
          <a:p>
            <a:r>
              <a:t>E201</a:t>
            </a:r>
          </a:p>
          <a:p>
            <a:r>
              <a:t>E301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E002</a:t>
            </a:r>
          </a:p>
          <a:p>
            <a:r>
              <a:t>E102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E002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E103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E002</a:t>
            </a:r>
          </a:p>
          <a:p>
            <a:r>
              <a:t>E102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E103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E002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E002</a:t>
            </a:r>
          </a:p>
          <a:p>
            <a:r>
              <a:t>E102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E101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E101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E101</a:t>
            </a:r>
          </a:p>
          <a:p>
            <a:r>
              <a:t>E102</a:t>
            </a:r>
          </a:p>
          <a:p>
            <a:r>
              <a:t>E103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E101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E104</a:t>
            </a:r>
          </a:p>
          <a:p>
            <a:r>
              <a:t>E101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E204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E204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E204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E204</a:t>
            </a:r>
          </a:p>
          <a:p>
            <a:r>
              <a:t>E202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E204</a:t>
            </a:r>
          </a:p>
          <a:p>
            <a:r>
              <a:t>E201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E201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E304</a:t>
            </a:r>
          </a:p>
          <a:p>
            <a:r>
              <a:t>E201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E302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E204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E302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E302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E302</a:t>
            </a:r>
          </a:p>
          <a:p>
            <a:r>
              <a:t>E301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E301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image1.png" /><ns0:Relationship Id="rId3" Type="http://schemas.openxmlformats.org/officeDocument/2006/relationships/notesSlide" Target="../notesSlides/notesSlide4.xml" /><ns0:Relationship Id="rId99" Type="http://schemas.openxmlformats.org/officeDocument/2006/relationships/image" Target="../media/A101.svg" /></ns0: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image2.png" /><ns0:Relationship Id="rId3" Type="http://schemas.openxmlformats.org/officeDocument/2006/relationships/notesSlide" Target="../notesSlides/notesSlide5.xml" /><ns0:Relationship Id="rId99" Type="http://schemas.openxmlformats.org/officeDocument/2006/relationships/image" Target="../media/A002.svg" /></ns0: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image3.png" /><ns0:Relationship Id="rId3" Type="http://schemas.openxmlformats.org/officeDocument/2006/relationships/notesSlide" Target="../notesSlides/notesSlide9.xml" /><ns0:Relationship Id="rId99" Type="http://schemas.openxmlformats.org/officeDocument/2006/relationships/image" Target="../media/plot-canonical.svg" /></ns0:Relationships>
</file>

<file path=ppt/slides/_rels/slide1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image3.png" /><ns0:Relationship Id="rId3" Type="http://schemas.openxmlformats.org/officeDocument/2006/relationships/notesSlide" Target="../notesSlides/notesSlide10.xml" /><ns0:Relationship Id="rId99" Type="http://schemas.openxmlformats.org/officeDocument/2006/relationships/image" Target="../media/plot-canonical.svg" /></ns0: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image4.png" /><ns0:Relationship Id="rId3" Type="http://schemas.openxmlformats.org/officeDocument/2006/relationships/notesSlide" Target="../notesSlides/notesSlide16.xml" /><ns0:Relationship Id="rId99" Type="http://schemas.openxmlformats.org/officeDocument/2006/relationships/image" Target="../media/A102.svg" /></ns0: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image5.png" /><ns0:Relationship Id="rId3" Type="http://schemas.openxmlformats.org/officeDocument/2006/relationships/notesSlide" Target="../notesSlides/notesSlide18.xml" /><ns0:Relationship Id="rId99" Type="http://schemas.openxmlformats.org/officeDocument/2006/relationships/image" Target="../media/A201.svg" /></ns0: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image4.png" /><ns0:Relationship Id="rId3" Type="http://schemas.openxmlformats.org/officeDocument/2006/relationships/notesSlide" Target="../notesSlides/notesSlide23.xml" /><ns0:Relationship Id="rId99" Type="http://schemas.openxmlformats.org/officeDocument/2006/relationships/image" Target="../media/A302.svg" /></ns0: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image5.png" /><ns0:Relationship Id="rId3" Type="http://schemas.openxmlformats.org/officeDocument/2006/relationships/notesSlide" Target="../notesSlides/notesSlide25.xml" /><ns0:Relationship Id="rId99" Type="http://schemas.openxmlformats.org/officeDocument/2006/relationships/image" Target="../media/A301.svg" /></ns0: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Synthetic Native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Redistributable test fixture — not laboratory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Representative content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Native title/content placeholders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2400"/>
              <a:t>Progress / Previous Commitments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ds-slot:commitment_table"/>
          <p:cNvSpPr txBox="1"/>
          <p:nvPr/>
        </p:nvSpPr>
        <p:spPr>
          <a:xfrm>
            <a:off x="731520" y="1325880"/>
            <a:ext cx="6400800" cy="3429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Commitment｜NS101; NS201; NS301</a:t>
            </a:r>
          </a:p>
        </p:txBody>
      </p:sp>
      <p:sp>
        <p:nvSpPr>
          <p:cNvPr id="5" name="tds-slot:current_position"/>
          <p:cNvSpPr txBox="1"/>
          <p:nvPr/>
        </p:nvSpPr>
        <p:spPr>
          <a:xfrm>
            <a:off x="7452360" y="1325880"/>
            <a:ext cx="40233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Current｜H003</a:t>
            </a:r>
          </a:p>
        </p:txBody>
      </p:sp>
      <p:sp>
        <p:nvSpPr>
          <p:cNvPr id="6" name="tds-slot:parallel_work"/>
          <p:cNvSpPr txBox="1"/>
          <p:nvPr/>
        </p:nvSpPr>
        <p:spPr>
          <a:xfrm>
            <a:off x="7452360" y="3154680"/>
            <a:ext cx="402336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Parallel｜interface-mechanism; interface-mechanism; interface-mechanism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3000"/>
              <a:t>H001｜Hypothesis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ds-slot:hypothesis_statement"/>
          <p:cNvSpPr txBox="1"/>
          <p:nvPr/>
        </p:nvSpPr>
        <p:spPr>
          <a:xfrm>
            <a:off x="731520" y="1508760"/>
            <a:ext cx="10698480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Hypothesis｜Bulk conductivity drives the positional signal gradient.</a:t>
            </a:r>
          </a:p>
          <a:p>
            <a:r>
              <a:rPr sz="2800"/>
              <a:t>Falsifier｜Matched conditions do not change the predicted CV or resistance.</a:t>
            </a:r>
          </a:p>
          <a:p>
            <a:r>
              <a:rPr sz="2800"/>
              <a:t>Question｜提升 bulk conductivity 是否足以降低位置依賴的訊號變異？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3000"/>
              <a:t>H001｜Problem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ds-slot:previous_finding"/>
          <p:cNvSpPr txBox="1"/>
          <p:nvPr/>
        </p:nvSpPr>
        <p:spPr>
          <a:xfrm>
            <a:off x="731520" y="1325880"/>
            <a:ext cx="338328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Prior｜含水量與導電度存在位置梯度</a:t>
            </a:r>
          </a:p>
        </p:txBody>
      </p:sp>
      <p:sp>
        <p:nvSpPr>
          <p:cNvPr id="5" name="tds-slot:unresolved_conflict"/>
          <p:cNvSpPr txBox="1"/>
          <p:nvPr/>
        </p:nvSpPr>
        <p:spPr>
          <a:xfrm>
            <a:off x="4389120" y="1325880"/>
            <a:ext cx="338328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Conflict｜導電度提高是否足以修復重複性仍未知。</a:t>
            </a:r>
          </a:p>
        </p:txBody>
      </p:sp>
      <p:sp>
        <p:nvSpPr>
          <p:cNvPr id="6" name="tds-slot:research_question"/>
          <p:cNvSpPr txBox="1"/>
          <p:nvPr/>
        </p:nvSpPr>
        <p:spPr>
          <a:xfrm>
            <a:off x="8046720" y="1325880"/>
            <a:ext cx="338328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Question｜提升 bulk conductivity 是否足以降低位置依賴的訊號變異？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2400"/>
              <a:t>H001｜Total Fishbone / Research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tds-slot:primary_figure" descr="FB001-rev1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:svgBlip r:embed="rId99"/>
              </a:ext>
            </a:extLst>
          </a:blip>
          <a:stretch>
            <a:fillRect/>
          </a:stretch>
        </p:blipFill>
        <p:spPr>
          <a:xfrm>
            <a:off x="3886200" y="1234440"/>
            <a:ext cx="7635240" cy="4480560"/>
          </a:xfrm>
          <a:prstGeom prst="rect">
            <a:avLst/>
          </a:prstGeom>
        </p:spPr>
      </p:pic>
      <p:sp>
        <p:nvSpPr>
          <p:cNvPr id="5" name="tds-slot:fishbone_focus"/>
          <p:cNvSpPr txBox="1"/>
          <p:nvPr/>
        </p:nvSpPr>
        <p:spPr>
          <a:xfrm>
            <a:off x="731520" y="150876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History｜FB001 rev1</a:t>
            </a:r>
          </a:p>
          <a:p>
            <a:r>
              <a:rPr sz="1600"/>
              <a:t>Focus｜FB-MATERIAL-HYDRATION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2400"/>
              <a:t>H001｜Observation → Literature →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tds-slot:primary_figure" descr="observation_visual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:svgBlip r:embed="rId99"/>
              </a:ext>
            </a:extLst>
          </a:blip>
          <a:stretch>
            <a:fillRect/>
          </a:stretch>
        </p:blipFill>
        <p:spPr>
          <a:xfrm>
            <a:off x="6903720" y="1280160"/>
            <a:ext cx="4572000" cy="3474720"/>
          </a:xfrm>
          <a:prstGeom prst="rect">
            <a:avLst/>
          </a:prstGeom>
        </p:spPr>
      </p:pic>
      <p:sp>
        <p:nvSpPr>
          <p:cNvPr id="5" name="tds-slot:research_question"/>
          <p:cNvSpPr txBox="1"/>
          <p:nvPr/>
        </p:nvSpPr>
        <p:spPr>
          <a:xfrm>
            <a:off x="731520" y="1325880"/>
            <a:ext cx="5669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Question｜提升 bulk conductivity 是否足以降低位置依賴的訊號變異？</a:t>
            </a:r>
          </a:p>
        </p:txBody>
      </p:sp>
      <p:sp>
        <p:nvSpPr>
          <p:cNvPr id="6" name="tds-slot:observation_text"/>
          <p:cNvSpPr txBox="1"/>
          <p:nvPr/>
        </p:nvSpPr>
        <p:spPr>
          <a:xfrm>
            <a:off x="731520" y="2331720"/>
            <a:ext cx="5669280" cy="2423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Observation｜位置依賴缺陷與訊號變異已觀察到。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2400"/>
              <a:t>H001｜Literature → Mechanism →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ds-slot:literature_evidence"/>
          <p:cNvSpPr txBox="1"/>
          <p:nvPr/>
        </p:nvSpPr>
        <p:spPr>
          <a:xfrm>
            <a:off x="731520" y="1325880"/>
            <a:ext cx="530352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Consensus｜transport gradient 可產生位置效應。</a:t>
            </a:r>
          </a:p>
          <a:p>
            <a:r>
              <a:rPr sz="1600"/>
              <a:t>Alternatives｜interface contact remains alternative</a:t>
            </a:r>
          </a:p>
          <a:p>
            <a:r>
              <a:rPr sz="1600"/>
              <a:t>Gap｜缺少控制比較隔離機制。</a:t>
            </a:r>
          </a:p>
          <a:p>
            <a:r>
              <a:rPr sz="1600"/>
              <a:t>Implication｜需匹配條件後比較。</a:t>
            </a:r>
          </a:p>
        </p:txBody>
      </p:sp>
      <p:sp>
        <p:nvSpPr>
          <p:cNvPr id="5" name="tds-slot:mechanism_diagram"/>
          <p:cNvSpPr txBox="1"/>
          <p:nvPr/>
        </p:nvSpPr>
        <p:spPr>
          <a:xfrm>
            <a:off x="6400800" y="1325880"/>
            <a:ext cx="507492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Mechanism｜bulk transport</a:t>
            </a:r>
          </a:p>
          <a:p>
            <a:r>
              <a:rPr sz="1600"/>
              <a:t>Evidence｜C102; C103; E103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3000"/>
              <a:t>H001｜Experiment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ds-slot:experiment_matrix"/>
          <p:cNvSpPr txBox="1"/>
          <p:nvPr/>
        </p:nvSpPr>
        <p:spPr>
          <a:xfrm>
            <a:off x="731520" y="1280160"/>
            <a:ext cx="67665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IV｜含水量</a:t>
            </a:r>
          </a:p>
          <a:p>
            <a:r>
              <a:rPr sz="1600"/>
              <a:t>Controls｜電極幾何; 接觸壓力</a:t>
            </a:r>
          </a:p>
          <a:p>
            <a:r>
              <a:rPr sz="1600"/>
              <a:t>Baseline｜原始配方</a:t>
            </a:r>
          </a:p>
          <a:p>
            <a:r>
              <a:rPr sz="1600"/>
              <a:t>Sample｜replicates: 3; samples: 15</a:t>
            </a:r>
          </a:p>
          <a:p>
            <a:r>
              <a:rPr sz="1600"/>
              <a:t>N｜3</a:t>
            </a:r>
          </a:p>
          <a:p>
            <a:r>
              <a:rPr sz="1600"/>
              <a:t>Outputs｜導電度 (mS/cm)</a:t>
            </a:r>
          </a:p>
          <a:p>
            <a:r>
              <a:rPr sz="1600"/>
              <a:t>Units｜導電度 (mS/cm)</a:t>
            </a:r>
          </a:p>
          <a:p>
            <a:r>
              <a:rPr sz="1600"/>
              <a:t>Method｜synthetic-four-probe</a:t>
            </a:r>
          </a:p>
        </p:txBody>
      </p:sp>
      <p:sp>
        <p:nvSpPr>
          <p:cNvPr id="5" name="tds-slot:decision_rule"/>
          <p:cNvSpPr txBox="1"/>
          <p:nvPr/>
        </p:nvSpPr>
        <p:spPr>
          <a:xfrm>
            <a:off x="7818120" y="128016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Prediction｜導電度提升</a:t>
            </a:r>
          </a:p>
          <a:p>
            <a:r>
              <a:rPr sz="1600"/>
              <a:t>Rule｜go: mean conductivity increases &gt;=20%; partial_go: 10-20%; no_go: &lt;10%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3000"/>
              <a:t>H001｜Experiment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ds-slot:experiment_matrix"/>
          <p:cNvSpPr txBox="1"/>
          <p:nvPr/>
        </p:nvSpPr>
        <p:spPr>
          <a:xfrm>
            <a:off x="731520" y="1280160"/>
            <a:ext cx="67665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IV｜位置</a:t>
            </a:r>
          </a:p>
          <a:p>
            <a:r>
              <a:rPr sz="1600"/>
              <a:t>Controls｜配方; 電極; 接觸壓力</a:t>
            </a:r>
          </a:p>
          <a:p>
            <a:r>
              <a:rPr sz="1600"/>
              <a:t>Baseline｜原始位置分布</a:t>
            </a:r>
          </a:p>
          <a:p>
            <a:r>
              <a:rPr sz="1600"/>
              <a:t>Sample｜replicates: 3; samples: 15</a:t>
            </a:r>
          </a:p>
          <a:p>
            <a:r>
              <a:rPr sz="1600"/>
              <a:t>N｜3</a:t>
            </a:r>
          </a:p>
          <a:p>
            <a:r>
              <a:rPr sz="1600"/>
              <a:t>Outputs｜訊號 CV (%)</a:t>
            </a:r>
          </a:p>
          <a:p>
            <a:r>
              <a:rPr sz="1600"/>
              <a:t>Units｜訊號 CV (%)</a:t>
            </a:r>
          </a:p>
          <a:p>
            <a:r>
              <a:rPr sz="1600"/>
              <a:t>Method｜synthetic-signal-test</a:t>
            </a:r>
          </a:p>
        </p:txBody>
      </p:sp>
      <p:sp>
        <p:nvSpPr>
          <p:cNvPr id="5" name="tds-slot:decision_rule"/>
          <p:cNvSpPr txBox="1"/>
          <p:nvPr/>
        </p:nvSpPr>
        <p:spPr>
          <a:xfrm>
            <a:off x="7818120" y="128016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Prediction｜CV 下降</a:t>
            </a:r>
          </a:p>
          <a:p>
            <a:r>
              <a:rPr sz="1600"/>
              <a:t>Rule｜go: CV decreases &gt;=30%; partial_go: 10-30%; no_go: &lt;10%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3000"/>
              <a:t>H001｜Result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tds-slot:result_plot/figure" descr="B001_defect_density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:svgBlip r:embed="rId99"/>
              </a:ext>
            </a:extLst>
          </a:blip>
          <a:stretch>
            <a:fillRect/>
          </a:stretch>
        </p:blipFill>
        <p:spPr>
          <a:xfrm>
            <a:off x="5486400" y="1234440"/>
            <a:ext cx="5989320" cy="3630168"/>
          </a:xfrm>
          <a:prstGeom prst="rect">
            <a:avLst/>
          </a:prstGeom>
        </p:spPr>
      </p:pic>
      <p:sp>
        <p:nvSpPr>
          <p:cNvPr id="5" name="tds-slot:result_plot/annotation"/>
          <p:cNvSpPr txBox="1"/>
          <p:nvPr/>
        </p:nvSpPr>
        <p:spPr>
          <a:xfrm>
            <a:off x="5486400" y="4864608"/>
            <a:ext cx="5989320" cy="438912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r>
              <a:rPr sz="1200"/>
              <a:t>Figure｜RES101｜平均導電度增加 24% ± 5% SD</a:t>
            </a:r>
          </a:p>
        </p:txBody>
      </p:sp>
      <p:sp>
        <p:nvSpPr>
          <p:cNvPr id="6" name="tds-slot:result_annotation"/>
          <p:cNvSpPr txBox="1"/>
          <p:nvPr/>
        </p:nvSpPr>
        <p:spPr>
          <a:xfrm>
            <a:off x="731520" y="1508760"/>
            <a:ext cx="43891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ID｜RES101</a:t>
            </a:r>
          </a:p>
          <a:p>
            <a:r>
              <a:rPr sz="1600"/>
              <a:t>Result｜平均導電度增加 24% ± 5% SD</a:t>
            </a:r>
          </a:p>
          <a:p>
            <a:r>
              <a:rPr sz="1600"/>
              <a:t>Metric｜mean conductivity increase: 24% ± 5% SD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3000"/>
              <a:t>H001｜Result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tds-slot:result_plot/figure" descr="B001_defect_density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:svgBlip r:embed="rId99"/>
              </a:ext>
            </a:extLst>
          </a:blip>
          <a:stretch>
            <a:fillRect/>
          </a:stretch>
        </p:blipFill>
        <p:spPr>
          <a:xfrm>
            <a:off x="5486400" y="1234440"/>
            <a:ext cx="5989320" cy="3630168"/>
          </a:xfrm>
          <a:prstGeom prst="rect">
            <a:avLst/>
          </a:prstGeom>
        </p:spPr>
      </p:pic>
      <p:sp>
        <p:nvSpPr>
          <p:cNvPr id="5" name="tds-slot:result_plot/annotation"/>
          <p:cNvSpPr txBox="1"/>
          <p:nvPr/>
        </p:nvSpPr>
        <p:spPr>
          <a:xfrm>
            <a:off x="5486400" y="4864608"/>
            <a:ext cx="5989320" cy="438912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r>
              <a:rPr sz="1200"/>
              <a:t>Figure｜RES102｜訊號 CV 僅下降 4% ± 6% SD，屬 No-Go</a:t>
            </a:r>
          </a:p>
        </p:txBody>
      </p:sp>
      <p:sp>
        <p:nvSpPr>
          <p:cNvPr id="6" name="tds-slot:result_annotation"/>
          <p:cNvSpPr txBox="1"/>
          <p:nvPr/>
        </p:nvSpPr>
        <p:spPr>
          <a:xfrm>
            <a:off x="731520" y="1508760"/>
            <a:ext cx="43891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ID｜RES102</a:t>
            </a:r>
          </a:p>
          <a:p>
            <a:r>
              <a:rPr sz="1600"/>
              <a:t>Result｜訊號 CV 僅下降 4% ± 6% SD，屬 No-Go</a:t>
            </a:r>
          </a:p>
          <a:p>
            <a:r>
              <a:rPr sz="1600"/>
              <a:t>Metric｜signal CV decrease: 4% ± 6% SD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3000"/>
              <a:t>H001｜Integrated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ds-slot:supporting_results"/>
          <p:cNvSpPr txBox="1"/>
          <p:nvPr/>
        </p:nvSpPr>
        <p:spPr>
          <a:xfrm>
            <a:off x="731520" y="1280160"/>
            <a:ext cx="51663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Support｜RES101</a:t>
            </a:r>
          </a:p>
        </p:txBody>
      </p:sp>
      <p:sp>
        <p:nvSpPr>
          <p:cNvPr id="5" name="tds-slot:contradicting_results"/>
          <p:cNvSpPr txBox="1"/>
          <p:nvPr/>
        </p:nvSpPr>
        <p:spPr>
          <a:xfrm>
            <a:off x="6217920" y="1280160"/>
            <a:ext cx="52578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Conflict｜RES102</a:t>
            </a:r>
          </a:p>
          <a:p>
            <a:r>
              <a:rPr sz="1600"/>
              <a:t>Non-disc.｜none</a:t>
            </a:r>
          </a:p>
        </p:txBody>
      </p:sp>
      <p:sp>
        <p:nvSpPr>
          <p:cNvPr id="6" name="tds-slot:uncertainty"/>
          <p:cNvSpPr txBox="1"/>
          <p:nvPr/>
        </p:nvSpPr>
        <p:spPr>
          <a:xfrm>
            <a:off x="731520" y="3566160"/>
            <a:ext cx="10744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Pattern｜導電度提升成立，但重複性沒有同步改善。</a:t>
            </a:r>
          </a:p>
          <a:p>
            <a:r>
              <a:rPr sz="1600"/>
              <a:t>Mechanism｜bulk conductivity 是部分機制，不足以解釋 interface-sensitive variation。</a:t>
            </a:r>
          </a:p>
          <a:p>
            <a:r>
              <a:rPr sz="1600"/>
              <a:t>Alternatives｜接觸電阻; 局部壓力差; 電極幾何</a:t>
            </a:r>
          </a:p>
          <a:p>
            <a:r>
              <a:rPr sz="1600"/>
              <a:t>Uncertainty｜contact interface 是否為主導因素仍需匹配導電度後檢驗。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3000"/>
              <a:t>H001｜Layer Summary /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ds-slot:decision_status"/>
          <p:cNvSpPr txBox="1"/>
          <p:nvPr/>
        </p:nvSpPr>
        <p:spPr>
          <a:xfrm>
            <a:off x="731520" y="1280160"/>
            <a:ext cx="33832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Answer｜bulk conductivity 影響缺陷梯度，但不足以單獨解釋重複性。</a:t>
            </a:r>
          </a:p>
          <a:p>
            <a:r>
              <a:rPr sz="1800"/>
              <a:t>Status｜partial_support</a:t>
            </a:r>
          </a:p>
          <a:p>
            <a:r>
              <a:rPr sz="1800"/>
              <a:t>Decision｜Partial-Go; Bulk conductivity is contributory but insufficient.</a:t>
            </a:r>
          </a:p>
        </p:txBody>
      </p:sp>
      <p:sp>
        <p:nvSpPr>
          <p:cNvPr id="5" name="tds-slot:uncertainty"/>
          <p:cNvSpPr txBox="1"/>
          <p:nvPr/>
        </p:nvSpPr>
        <p:spPr>
          <a:xfrm>
            <a:off x="4389120" y="1280160"/>
            <a:ext cx="33832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Unresolved｜interface contact 的貢獻尚未量化。</a:t>
            </a:r>
          </a:p>
        </p:txBody>
      </p:sp>
      <p:sp>
        <p:nvSpPr>
          <p:cNvPr id="6" name="tds-slot:next_step"/>
          <p:cNvSpPr txBox="1"/>
          <p:nvPr/>
        </p:nvSpPr>
        <p:spPr>
          <a:xfrm>
            <a:off x="8046720" y="1280160"/>
            <a:ext cx="33832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Next question｜匹配 bulk conductivity 後，contact resistance 是否主導變異？</a:t>
            </a:r>
          </a:p>
          <a:p>
            <a:r>
              <a:rPr sz="1600"/>
              <a:t>Next step｜NS101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3000"/>
              <a:t>H001｜Hypothesis Transition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ds-slot:transition_nodes"/>
          <p:cNvSpPr txBox="1"/>
          <p:nvPr/>
        </p:nvSpPr>
        <p:spPr>
          <a:xfrm>
            <a:off x="731520" y="1417320"/>
            <a:ext cx="1074420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Prior H｜C101</a:t>
            </a:r>
          </a:p>
          <a:p>
            <a:r>
              <a:rPr sz="1800"/>
              <a:t>Key results｜RES101; RES102</a:t>
            </a:r>
          </a:p>
          <a:p>
            <a:r>
              <a:rPr sz="1800"/>
              <a:t>Precursor｜E104</a:t>
            </a:r>
          </a:p>
          <a:p>
            <a:r>
              <a:rPr sz="1800"/>
              <a:t>New H｜C201</a:t>
            </a:r>
          </a:p>
        </p:txBody>
      </p:sp>
      <p:sp>
        <p:nvSpPr>
          <p:cNvPr id="5" name="tds-slot:derivation_strip"/>
          <p:cNvSpPr txBox="1"/>
          <p:nvPr/>
        </p:nvSpPr>
        <p:spPr>
          <a:xfrm>
            <a:off x="731520" y="4160520"/>
            <a:ext cx="10744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Unresolved｜導電度增加後訊號重複性沒有改善。</a:t>
            </a:r>
          </a:p>
          <a:p>
            <a:r>
              <a:rPr sz="1600"/>
              <a:t>Rationale｜剩餘變異隨電極接觸位置改變，因此核心解釋由 bulk transport 轉向 interface contact。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3000"/>
              <a:t>H002｜Hypothesis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ds-slot:hypothesis_statement"/>
          <p:cNvSpPr txBox="1"/>
          <p:nvPr/>
        </p:nvSpPr>
        <p:spPr>
          <a:xfrm>
            <a:off x="731520" y="1508760"/>
            <a:ext cx="10698480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Hypothesis｜Contact resistance drives instability at low pressure.</a:t>
            </a:r>
          </a:p>
          <a:p>
            <a:r>
              <a:rPr sz="2800"/>
              <a:t>Falsifier｜Matched conditions do not change the predicted CV or resistance.</a:t>
            </a:r>
          </a:p>
          <a:p>
            <a:r>
              <a:rPr sz="2800"/>
              <a:t>Question｜低接觸壓力下，contact resistance 是否主導訊號不穩定？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3000"/>
              <a:t>H002｜Problem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ds-slot:previous_finding"/>
          <p:cNvSpPr txBox="1"/>
          <p:nvPr/>
        </p:nvSpPr>
        <p:spPr>
          <a:xfrm>
            <a:off x="731520" y="1325880"/>
            <a:ext cx="338328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Prior｜H01 支持導電度梯度存在; H01 未支持導電度單獨主導重複性</a:t>
            </a:r>
          </a:p>
        </p:txBody>
      </p:sp>
      <p:sp>
        <p:nvSpPr>
          <p:cNvPr id="5" name="tds-slot:unresolved_conflict"/>
          <p:cNvSpPr txBox="1"/>
          <p:nvPr/>
        </p:nvSpPr>
        <p:spPr>
          <a:xfrm>
            <a:off x="4389120" y="1325880"/>
            <a:ext cx="338328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Conflict｜bulk transport 與 interface contact 的相對貢獻尚未區分。</a:t>
            </a:r>
          </a:p>
        </p:txBody>
      </p:sp>
      <p:sp>
        <p:nvSpPr>
          <p:cNvPr id="6" name="tds-slot:research_question"/>
          <p:cNvSpPr txBox="1"/>
          <p:nvPr/>
        </p:nvSpPr>
        <p:spPr>
          <a:xfrm>
            <a:off x="8046720" y="1325880"/>
            <a:ext cx="338328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Question｜低接觸壓力下，contact resistance 是否主導訊號不穩定？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2400"/>
              <a:t>H002｜Total Fishbone / Research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tds-slot:primary_figure" descr="FB001-rev2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:svgBlip r:embed="rId99"/>
              </a:ext>
            </a:extLst>
          </a:blip>
          <a:stretch>
            <a:fillRect/>
          </a:stretch>
        </p:blipFill>
        <p:spPr>
          <a:xfrm>
            <a:off x="3886200" y="1234440"/>
            <a:ext cx="7635240" cy="4480560"/>
          </a:xfrm>
          <a:prstGeom prst="rect">
            <a:avLst/>
          </a:prstGeom>
        </p:spPr>
      </p:pic>
      <p:sp>
        <p:nvSpPr>
          <p:cNvPr id="5" name="tds-slot:fishbone_focus"/>
          <p:cNvSpPr txBox="1"/>
          <p:nvPr/>
        </p:nvSpPr>
        <p:spPr>
          <a:xfrm>
            <a:off x="731520" y="150876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History｜FB001 rev2</a:t>
            </a:r>
          </a:p>
          <a:p>
            <a:r>
              <a:rPr sz="1600"/>
              <a:t>Focus｜FB-ELECTRODE-CONTACT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2400"/>
              <a:t>H002｜Observation → Literature →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ds-slot:observation_text"/>
          <p:cNvSpPr txBox="1"/>
          <p:nvPr/>
        </p:nvSpPr>
        <p:spPr>
          <a:xfrm>
            <a:off x="731520" y="1280160"/>
            <a:ext cx="27432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Observation｜位置依賴缺陷與訊號變異已觀察到。</a:t>
            </a:r>
          </a:p>
        </p:txBody>
      </p:sp>
      <p:sp>
        <p:nvSpPr>
          <p:cNvPr id="5" name="tds-slot:research_question"/>
          <p:cNvSpPr txBox="1"/>
          <p:nvPr/>
        </p:nvSpPr>
        <p:spPr>
          <a:xfrm>
            <a:off x="731520" y="3429000"/>
            <a:ext cx="27432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Question｜低接觸壓力下，contact resistance 是否主導訊號不穩定？</a:t>
            </a:r>
          </a:p>
        </p:txBody>
      </p:sp>
      <p:sp>
        <p:nvSpPr>
          <p:cNvPr id="6" name="tds-slot:literature_evidence"/>
          <p:cNvSpPr txBox="1"/>
          <p:nvPr/>
        </p:nvSpPr>
        <p:spPr>
          <a:xfrm>
            <a:off x="3749039" y="1280160"/>
            <a:ext cx="3749039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Consensus｜transport gradient 可產生位置效應。</a:t>
            </a:r>
          </a:p>
          <a:p>
            <a:r>
              <a:rPr sz="1600"/>
              <a:t>Alternatives｜interface contact remains alternative</a:t>
            </a:r>
          </a:p>
          <a:p>
            <a:r>
              <a:rPr sz="1600"/>
              <a:t>Gap｜缺少控制比較隔離機制。</a:t>
            </a:r>
          </a:p>
          <a:p>
            <a:r>
              <a:rPr sz="1600"/>
              <a:t>Implication｜需匹配條件後比較。</a:t>
            </a:r>
          </a:p>
        </p:txBody>
      </p:sp>
      <p:sp>
        <p:nvSpPr>
          <p:cNvPr id="7" name="tds-slot:mechanism_diagram"/>
          <p:cNvSpPr txBox="1"/>
          <p:nvPr/>
        </p:nvSpPr>
        <p:spPr>
          <a:xfrm>
            <a:off x="7772400" y="1280160"/>
            <a:ext cx="19202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Mechanism｜contact resistance</a:t>
            </a:r>
          </a:p>
          <a:p>
            <a:r>
              <a:rPr sz="1600"/>
              <a:t>Evidence｜C202; C203; E202</a:t>
            </a:r>
          </a:p>
        </p:txBody>
      </p:sp>
      <p:sp>
        <p:nvSpPr>
          <p:cNvPr id="8" name="tds-slot:strategy"/>
          <p:cNvSpPr txBox="1"/>
          <p:nvPr/>
        </p:nvSpPr>
        <p:spPr>
          <a:xfrm>
            <a:off x="9875520" y="1280160"/>
            <a:ext cx="15544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Strategy｜匹配導電度並改變接觸壓力</a:t>
            </a:r>
          </a:p>
          <a:p>
            <a:r>
              <a:rPr sz="1600"/>
              <a:t>Criterion｜預測指標跨過 decision threshold</a:t>
            </a:r>
          </a:p>
        </p:txBody>
      </p:sp>
      <p:sp>
        <p:nvSpPr>
          <p:cNvPr id="9" name="tds-slot:primary_figure"/>
          <p:cNvSpPr txBox="1"/>
          <p:nvPr/>
        </p:nvSpPr>
        <p:spPr>
          <a:xfrm>
            <a:off x="7772400" y="3611880"/>
            <a:ext cx="3657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Registered observation visual.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3000"/>
              <a:t>H002｜Results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ds-slot:experiment_matrix"/>
          <p:cNvSpPr txBox="1"/>
          <p:nvPr/>
        </p:nvSpPr>
        <p:spPr>
          <a:xfrm>
            <a:off x="731520" y="1280160"/>
            <a:ext cx="530352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IV｜contact pressure</a:t>
            </a:r>
          </a:p>
          <a:p>
            <a:r>
              <a:rPr sz="1600"/>
              <a:t>Controls｜bulk conductivity; 電極幾何</a:t>
            </a:r>
          </a:p>
          <a:p>
            <a:r>
              <a:rPr sz="1600"/>
              <a:t>Baseline｜low-pressure control</a:t>
            </a:r>
          </a:p>
          <a:p>
            <a:r>
              <a:rPr sz="1600"/>
              <a:t>Sample｜replicates: 5; samples: 15</a:t>
            </a:r>
          </a:p>
          <a:p>
            <a:r>
              <a:rPr sz="1600"/>
              <a:t>N｜5</a:t>
            </a:r>
          </a:p>
          <a:p>
            <a:r>
              <a:rPr sz="1600"/>
              <a:t>Outputs｜訊號 CV (%); contact resistance (ohm)</a:t>
            </a:r>
          </a:p>
          <a:p>
            <a:r>
              <a:rPr sz="1600"/>
              <a:t>Units｜訊號 CV (%); contact resistance (ohm)</a:t>
            </a:r>
          </a:p>
          <a:p>
            <a:r>
              <a:rPr sz="1600"/>
              <a:t>Method｜synthetic-pressure-fixture</a:t>
            </a:r>
          </a:p>
        </p:txBody>
      </p:sp>
      <p:sp>
        <p:nvSpPr>
          <p:cNvPr id="5" name="tds-slot:decision_rule"/>
          <p:cNvSpPr txBox="1"/>
          <p:nvPr/>
        </p:nvSpPr>
        <p:spPr>
          <a:xfrm>
            <a:off x="6217920" y="128016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Prediction｜CV and resistance decrease</a:t>
            </a:r>
          </a:p>
          <a:p>
            <a:r>
              <a:rPr sz="1600"/>
              <a:t>Rule｜go: both metrics improve; partial_go: one metric improves; no_go: neither improves</a:t>
            </a:r>
          </a:p>
        </p:txBody>
      </p:sp>
      <p:pic>
        <p:nvPicPr>
          <p:cNvPr id="6" name="tds-slot:result_plot/figure" descr="H02_contact_pressur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:svgBlip r:embed="rId99"/>
              </a:ext>
            </a:extLst>
          </a:blip>
          <a:stretch>
            <a:fillRect/>
          </a:stretch>
        </p:blipFill>
        <p:spPr>
          <a:xfrm>
            <a:off x="8275320" y="1280160"/>
            <a:ext cx="3200400" cy="1887321"/>
          </a:xfrm>
          <a:prstGeom prst="rect">
            <a:avLst/>
          </a:prstGeom>
        </p:spPr>
      </p:pic>
      <p:sp>
        <p:nvSpPr>
          <p:cNvPr id="7" name="tds-slot:result_plot/annotation"/>
          <p:cNvSpPr txBox="1"/>
          <p:nvPr/>
        </p:nvSpPr>
        <p:spPr>
          <a:xfrm>
            <a:off x="8275320" y="3167481"/>
            <a:ext cx="3200400" cy="307238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r>
              <a:rPr sz="1200"/>
              <a:t>Figure｜RES201｜高壓條件 CV 下降 38% ± 7% SD，contact resistance 同步下降</a:t>
            </a:r>
          </a:p>
        </p:txBody>
      </p:sp>
      <p:sp>
        <p:nvSpPr>
          <p:cNvPr id="8" name="tds-slot:result_annotation"/>
          <p:cNvSpPr txBox="1"/>
          <p:nvPr/>
        </p:nvSpPr>
        <p:spPr>
          <a:xfrm>
            <a:off x="6217920" y="3611880"/>
            <a:ext cx="525780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ID｜RES201</a:t>
            </a:r>
          </a:p>
          <a:p>
            <a:r>
              <a:rPr sz="1600"/>
              <a:t>Result｜高壓條件 CV 下降 38% ± 7% SD，contact resistance 同步下降</a:t>
            </a:r>
          </a:p>
          <a:p>
            <a:r>
              <a:rPr sz="1600"/>
              <a:t>Metric｜signal CV decrease: 38% ± 7% SD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3000"/>
              <a:t>H002｜Layer Summary /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ds-slot:supporting_results"/>
          <p:cNvSpPr txBox="1"/>
          <p:nvPr/>
        </p:nvSpPr>
        <p:spPr>
          <a:xfrm>
            <a:off x="731520" y="1280160"/>
            <a:ext cx="27432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Support｜RES201</a:t>
            </a:r>
          </a:p>
        </p:txBody>
      </p:sp>
      <p:sp>
        <p:nvSpPr>
          <p:cNvPr id="5" name="tds-slot:contradicting_results"/>
          <p:cNvSpPr txBox="1"/>
          <p:nvPr/>
        </p:nvSpPr>
        <p:spPr>
          <a:xfrm>
            <a:off x="3703320" y="1280160"/>
            <a:ext cx="27432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Conflict｜none</a:t>
            </a:r>
          </a:p>
          <a:p>
            <a:r>
              <a:rPr sz="1600"/>
              <a:t>Non-disc.｜none</a:t>
            </a:r>
          </a:p>
        </p:txBody>
      </p:sp>
      <p:sp>
        <p:nvSpPr>
          <p:cNvPr id="6" name="tds-slot:discussion_synthesis"/>
          <p:cNvSpPr txBox="1"/>
          <p:nvPr/>
        </p:nvSpPr>
        <p:spPr>
          <a:xfrm>
            <a:off x="6675120" y="1280160"/>
            <a:ext cx="48006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Cross-experiment pattern｜匹配導電度後，提高接觸壓力明顯降低變異。</a:t>
            </a:r>
          </a:p>
          <a:p>
            <a:r>
              <a:rPr sz="1600"/>
              <a:t>Mechanism assessment｜contact resistance 在低壓條件下主導不穩定。</a:t>
            </a:r>
          </a:p>
          <a:p>
            <a:r>
              <a:rPr sz="1600"/>
              <a:t>Alternatives｜電極幾何仍可能調節壓力分布</a:t>
            </a:r>
          </a:p>
        </p:txBody>
      </p:sp>
      <p:sp>
        <p:nvSpPr>
          <p:cNvPr id="7" name="tds-slot:uncertainty"/>
          <p:cNvSpPr txBox="1"/>
          <p:nvPr/>
        </p:nvSpPr>
        <p:spPr>
          <a:xfrm>
            <a:off x="731520" y="3474720"/>
            <a:ext cx="52578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Pattern｜匹配導電度後，提高接觸壓力明顯降低變異。</a:t>
            </a:r>
          </a:p>
          <a:p>
            <a:r>
              <a:rPr sz="1600"/>
              <a:t>Mechanism｜contact resistance 在低壓條件下主導不穩定。</a:t>
            </a:r>
          </a:p>
          <a:p>
            <a:r>
              <a:rPr sz="1600"/>
              <a:t>Alternatives｜電極幾何仍可能調節壓力分布</a:t>
            </a:r>
          </a:p>
          <a:p>
            <a:r>
              <a:rPr sz="1600"/>
              <a:t>Uncertainty｜高壓長期循環是否造成新的 wear mechanism 尚未知。</a:t>
            </a:r>
          </a:p>
          <a:p>
            <a:r>
              <a:rPr sz="1600"/>
              <a:t>Unresolved｜高壓循環的耐久性與 wear 尚未測試。</a:t>
            </a:r>
          </a:p>
        </p:txBody>
      </p:sp>
      <p:sp>
        <p:nvSpPr>
          <p:cNvPr id="8" name="tds-slot:decision_status"/>
          <p:cNvSpPr txBox="1"/>
          <p:nvPr/>
        </p:nvSpPr>
        <p:spPr>
          <a:xfrm>
            <a:off x="6217920" y="3474720"/>
            <a:ext cx="2514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Answer｜低接觸壓力下 contact resistance 是主導不穩定來源。</a:t>
            </a:r>
          </a:p>
          <a:p>
            <a:r>
              <a:rPr sz="1600"/>
              <a:t>Status｜supported</a:t>
            </a:r>
          </a:p>
          <a:p>
            <a:r>
              <a:rPr sz="1600"/>
              <a:t>Decision｜Go; Contact-pressure control discriminates the interface mechanism.</a:t>
            </a:r>
          </a:p>
        </p:txBody>
      </p:sp>
      <p:sp>
        <p:nvSpPr>
          <p:cNvPr id="9" name="tds-slot:next_step"/>
          <p:cNvSpPr txBox="1"/>
          <p:nvPr/>
        </p:nvSpPr>
        <p:spPr>
          <a:xfrm>
            <a:off x="8961120" y="3474720"/>
            <a:ext cx="2514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Next question｜接觸壓力改善能否在長期循環下維持？</a:t>
            </a:r>
          </a:p>
          <a:p>
            <a:r>
              <a:rPr sz="1600"/>
              <a:t>Next step｜NS201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3000"/>
              <a:t>H002｜Hypothesis Transition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ds-slot:transition_nodes"/>
          <p:cNvSpPr txBox="1"/>
          <p:nvPr/>
        </p:nvSpPr>
        <p:spPr>
          <a:xfrm>
            <a:off x="731520" y="1417320"/>
            <a:ext cx="1074420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Prior H｜C201</a:t>
            </a:r>
          </a:p>
          <a:p>
            <a:r>
              <a:rPr sz="1800"/>
              <a:t>Key results｜RES201</a:t>
            </a:r>
          </a:p>
          <a:p>
            <a:r>
              <a:rPr sz="1800"/>
              <a:t>Precursor｜E304</a:t>
            </a:r>
          </a:p>
          <a:p>
            <a:r>
              <a:rPr sz="1800"/>
              <a:t>New H｜C301</a:t>
            </a:r>
          </a:p>
        </p:txBody>
      </p:sp>
      <p:sp>
        <p:nvSpPr>
          <p:cNvPr id="5" name="tds-slot:derivation_strip"/>
          <p:cNvSpPr txBox="1"/>
          <p:nvPr/>
        </p:nvSpPr>
        <p:spPr>
          <a:xfrm>
            <a:off x="731520" y="4160520"/>
            <a:ext cx="10744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Unresolved｜Cycling durability remains unknown.</a:t>
            </a:r>
          </a:p>
          <a:p>
            <a:r>
              <a:rPr sz="1600"/>
              <a:t>Rationale｜The pressure result resolves the static interface mechanism but not cyclic stability.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3000"/>
              <a:t>H003｜Hypothesis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ds-slot:hypothesis_statement"/>
          <p:cNvSpPr txBox="1"/>
          <p:nvPr/>
        </p:nvSpPr>
        <p:spPr>
          <a:xfrm>
            <a:off x="731520" y="1508760"/>
            <a:ext cx="10698480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Hypothesis｜Cycling history controls the remaining interface instability.</a:t>
            </a:r>
          </a:p>
          <a:p>
            <a:r>
              <a:rPr sz="2800"/>
              <a:t>Falsifier｜Matched conditions do not change the predicted CV or resistance.</a:t>
            </a:r>
          </a:p>
          <a:p>
            <a:r>
              <a:rPr sz="2800"/>
              <a:t>Question｜Does cyclic loading explain the remaining instability?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3000"/>
              <a:t>H003｜Problem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ds-slot:previous_finding"/>
          <p:cNvSpPr txBox="1"/>
          <p:nvPr/>
        </p:nvSpPr>
        <p:spPr>
          <a:xfrm>
            <a:off x="731520" y="1325880"/>
            <a:ext cx="338328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Prior｜H01 支持導電度梯度存在; H01 未支持導電度單獨主導重複性</a:t>
            </a:r>
          </a:p>
        </p:txBody>
      </p:sp>
      <p:sp>
        <p:nvSpPr>
          <p:cNvPr id="5" name="tds-slot:unresolved_conflict"/>
          <p:cNvSpPr txBox="1"/>
          <p:nvPr/>
        </p:nvSpPr>
        <p:spPr>
          <a:xfrm>
            <a:off x="4389120" y="1325880"/>
            <a:ext cx="338328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Conflict｜bulk transport 與 interface contact 的相對貢獻尚未區分。</a:t>
            </a:r>
          </a:p>
        </p:txBody>
      </p:sp>
      <p:sp>
        <p:nvSpPr>
          <p:cNvPr id="6" name="tds-slot:research_question"/>
          <p:cNvSpPr txBox="1"/>
          <p:nvPr/>
        </p:nvSpPr>
        <p:spPr>
          <a:xfrm>
            <a:off x="8046720" y="1325880"/>
            <a:ext cx="338328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Question｜Does cyclic loading explain the remaining instability?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2400"/>
              <a:t>H003｜Total Fishbone / Research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tds-slot:primary_figure" descr="FB001-rev2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:svgBlip r:embed="rId99"/>
              </a:ext>
            </a:extLst>
          </a:blip>
          <a:stretch>
            <a:fillRect/>
          </a:stretch>
        </p:blipFill>
        <p:spPr>
          <a:xfrm>
            <a:off x="3886200" y="1234440"/>
            <a:ext cx="7635240" cy="4480560"/>
          </a:xfrm>
          <a:prstGeom prst="rect">
            <a:avLst/>
          </a:prstGeom>
        </p:spPr>
      </p:pic>
      <p:sp>
        <p:nvSpPr>
          <p:cNvPr id="5" name="tds-slot:fishbone_focus"/>
          <p:cNvSpPr txBox="1"/>
          <p:nvPr/>
        </p:nvSpPr>
        <p:spPr>
          <a:xfrm>
            <a:off x="731520" y="150876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History｜FB001 rev3</a:t>
            </a:r>
          </a:p>
          <a:p>
            <a:r>
              <a:rPr sz="1600"/>
              <a:t>Focus｜FB-ELECTRODE-CONTACT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2400"/>
              <a:t>H003｜Observation → Literature →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ds-slot:observation_text"/>
          <p:cNvSpPr txBox="1"/>
          <p:nvPr/>
        </p:nvSpPr>
        <p:spPr>
          <a:xfrm>
            <a:off x="731520" y="1280160"/>
            <a:ext cx="27432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Observation｜位置依賴缺陷與訊號變異已觀察到。</a:t>
            </a:r>
          </a:p>
        </p:txBody>
      </p:sp>
      <p:sp>
        <p:nvSpPr>
          <p:cNvPr id="5" name="tds-slot:research_question"/>
          <p:cNvSpPr txBox="1"/>
          <p:nvPr/>
        </p:nvSpPr>
        <p:spPr>
          <a:xfrm>
            <a:off x="731520" y="3429000"/>
            <a:ext cx="27432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Question｜低接觸壓力下，contact resistance 是否主導訊號不穩定？</a:t>
            </a:r>
          </a:p>
        </p:txBody>
      </p:sp>
      <p:sp>
        <p:nvSpPr>
          <p:cNvPr id="6" name="tds-slot:literature_evidence"/>
          <p:cNvSpPr txBox="1"/>
          <p:nvPr/>
        </p:nvSpPr>
        <p:spPr>
          <a:xfrm>
            <a:off x="3749039" y="1280160"/>
            <a:ext cx="3749039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Consensus｜transport gradient 可產生位置效應。</a:t>
            </a:r>
          </a:p>
          <a:p>
            <a:r>
              <a:rPr sz="1600"/>
              <a:t>Alternatives｜interface contact remains alternative</a:t>
            </a:r>
          </a:p>
          <a:p>
            <a:r>
              <a:rPr sz="1600"/>
              <a:t>Gap｜缺少控制比較隔離機制。</a:t>
            </a:r>
          </a:p>
          <a:p>
            <a:r>
              <a:rPr sz="1600"/>
              <a:t>Implication｜需匹配條件後比較。</a:t>
            </a:r>
          </a:p>
        </p:txBody>
      </p:sp>
      <p:sp>
        <p:nvSpPr>
          <p:cNvPr id="7" name="tds-slot:mechanism_diagram"/>
          <p:cNvSpPr txBox="1"/>
          <p:nvPr/>
        </p:nvSpPr>
        <p:spPr>
          <a:xfrm>
            <a:off x="7772400" y="1280160"/>
            <a:ext cx="19202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Mechanism｜contact resistance</a:t>
            </a:r>
          </a:p>
          <a:p>
            <a:r>
              <a:rPr sz="1600"/>
              <a:t>Evidence｜C301; E302</a:t>
            </a:r>
          </a:p>
        </p:txBody>
      </p:sp>
      <p:sp>
        <p:nvSpPr>
          <p:cNvPr id="8" name="tds-slot:strategy"/>
          <p:cNvSpPr txBox="1"/>
          <p:nvPr/>
        </p:nvSpPr>
        <p:spPr>
          <a:xfrm>
            <a:off x="9875520" y="1280160"/>
            <a:ext cx="15544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Strategy｜匹配導電度並改變接觸壓力</a:t>
            </a:r>
          </a:p>
          <a:p>
            <a:r>
              <a:rPr sz="1600"/>
              <a:t>Criterion｜預測指標跨過 decision threshold</a:t>
            </a:r>
          </a:p>
        </p:txBody>
      </p:sp>
      <p:sp>
        <p:nvSpPr>
          <p:cNvPr id="9" name="tds-slot:primary_figure"/>
          <p:cNvSpPr txBox="1"/>
          <p:nvPr/>
        </p:nvSpPr>
        <p:spPr>
          <a:xfrm>
            <a:off x="7772400" y="3611880"/>
            <a:ext cx="3657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Registered observation visual.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3000"/>
              <a:t>H003｜Results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ds-slot:experiment_matrix"/>
          <p:cNvSpPr txBox="1"/>
          <p:nvPr/>
        </p:nvSpPr>
        <p:spPr>
          <a:xfrm>
            <a:off x="731520" y="1280160"/>
            <a:ext cx="530352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IV｜contact pressure</a:t>
            </a:r>
          </a:p>
          <a:p>
            <a:r>
              <a:rPr sz="1600"/>
              <a:t>Controls｜bulk conductivity; 電極幾何</a:t>
            </a:r>
          </a:p>
          <a:p>
            <a:r>
              <a:rPr sz="1600"/>
              <a:t>Baseline｜low-pressure control</a:t>
            </a:r>
          </a:p>
          <a:p>
            <a:r>
              <a:rPr sz="1600"/>
              <a:t>Sample｜replicates: 5; samples: 15</a:t>
            </a:r>
          </a:p>
          <a:p>
            <a:r>
              <a:rPr sz="1600"/>
              <a:t>N｜5</a:t>
            </a:r>
          </a:p>
          <a:p>
            <a:r>
              <a:rPr sz="1600"/>
              <a:t>Outputs｜訊號 CV (%); contact resistance (ohm)</a:t>
            </a:r>
          </a:p>
          <a:p>
            <a:r>
              <a:rPr sz="1600"/>
              <a:t>Units｜訊號 CV (%); contact resistance (ohm)</a:t>
            </a:r>
          </a:p>
          <a:p>
            <a:r>
              <a:rPr sz="1600"/>
              <a:t>Method｜synthetic-pressure-fixture</a:t>
            </a:r>
          </a:p>
        </p:txBody>
      </p:sp>
      <p:sp>
        <p:nvSpPr>
          <p:cNvPr id="5" name="tds-slot:decision_rule"/>
          <p:cNvSpPr txBox="1"/>
          <p:nvPr/>
        </p:nvSpPr>
        <p:spPr>
          <a:xfrm>
            <a:off x="6217920" y="128016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Prediction｜CV and resistance decrease</a:t>
            </a:r>
          </a:p>
          <a:p>
            <a:r>
              <a:rPr sz="1600"/>
              <a:t>Rule｜go: both metrics improve; partial_go: one metric improves; no_go: neither improves</a:t>
            </a:r>
          </a:p>
        </p:txBody>
      </p:sp>
      <p:pic>
        <p:nvPicPr>
          <p:cNvPr id="6" name="tds-slot:result_plot/figure" descr="H02_contact_pressur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:svgBlip r:embed="rId99"/>
              </a:ext>
            </a:extLst>
          </a:blip>
          <a:stretch>
            <a:fillRect/>
          </a:stretch>
        </p:blipFill>
        <p:spPr>
          <a:xfrm>
            <a:off x="8275320" y="1280160"/>
            <a:ext cx="3200400" cy="1887321"/>
          </a:xfrm>
          <a:prstGeom prst="rect">
            <a:avLst/>
          </a:prstGeom>
        </p:spPr>
      </p:pic>
      <p:sp>
        <p:nvSpPr>
          <p:cNvPr id="7" name="tds-slot:result_plot/annotation"/>
          <p:cNvSpPr txBox="1"/>
          <p:nvPr/>
        </p:nvSpPr>
        <p:spPr>
          <a:xfrm>
            <a:off x="8275320" y="3167481"/>
            <a:ext cx="3200400" cy="307238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r>
              <a:rPr sz="1200"/>
              <a:t>Figure｜RES301｜Cycling test retains 91% response after 100 cycles.</a:t>
            </a:r>
          </a:p>
        </p:txBody>
      </p:sp>
      <p:sp>
        <p:nvSpPr>
          <p:cNvPr id="8" name="tds-slot:result_annotation"/>
          <p:cNvSpPr txBox="1"/>
          <p:nvPr/>
        </p:nvSpPr>
        <p:spPr>
          <a:xfrm>
            <a:off x="6217920" y="3611880"/>
            <a:ext cx="525780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ID｜RES301</a:t>
            </a:r>
          </a:p>
          <a:p>
            <a:r>
              <a:rPr sz="1600"/>
              <a:t>Result｜Cycling test retains 91% response after 100 cycles.</a:t>
            </a:r>
          </a:p>
          <a:p>
            <a:r>
              <a:rPr sz="1600"/>
              <a:t>Metric｜signal CV decrease: 38% ± 7% SD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3000"/>
              <a:t>H003｜Layer Summary /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ds-slot:supporting_results"/>
          <p:cNvSpPr txBox="1"/>
          <p:nvPr/>
        </p:nvSpPr>
        <p:spPr>
          <a:xfrm>
            <a:off x="731520" y="1280160"/>
            <a:ext cx="27432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Support｜RES301</a:t>
            </a:r>
          </a:p>
        </p:txBody>
      </p:sp>
      <p:sp>
        <p:nvSpPr>
          <p:cNvPr id="5" name="tds-slot:contradicting_results"/>
          <p:cNvSpPr txBox="1"/>
          <p:nvPr/>
        </p:nvSpPr>
        <p:spPr>
          <a:xfrm>
            <a:off x="3703320" y="1280160"/>
            <a:ext cx="27432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Conflict｜none</a:t>
            </a:r>
          </a:p>
          <a:p>
            <a:r>
              <a:rPr sz="1600"/>
              <a:t>Non-disc.｜none</a:t>
            </a:r>
          </a:p>
        </p:txBody>
      </p:sp>
      <p:sp>
        <p:nvSpPr>
          <p:cNvPr id="6" name="tds-slot:discussion_synthesis"/>
          <p:cNvSpPr txBox="1"/>
          <p:nvPr/>
        </p:nvSpPr>
        <p:spPr>
          <a:xfrm>
            <a:off x="6675120" y="1280160"/>
            <a:ext cx="48006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Cross-experiment pattern｜匹配導電度後，提高接觸壓力明顯降低變異。</a:t>
            </a:r>
          </a:p>
          <a:p>
            <a:r>
              <a:rPr sz="1600"/>
              <a:t>Mechanism assessment｜contact resistance 在低壓條件下主導不穩定。</a:t>
            </a:r>
          </a:p>
          <a:p>
            <a:r>
              <a:rPr sz="1600"/>
              <a:t>Alternatives｜電極幾何仍可能調節壓力分布</a:t>
            </a:r>
          </a:p>
        </p:txBody>
      </p:sp>
      <p:sp>
        <p:nvSpPr>
          <p:cNvPr id="7" name="tds-slot:uncertainty"/>
          <p:cNvSpPr txBox="1"/>
          <p:nvPr/>
        </p:nvSpPr>
        <p:spPr>
          <a:xfrm>
            <a:off x="731520" y="3474720"/>
            <a:ext cx="52578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Pattern｜匹配導電度後，提高接觸壓力明顯降低變異。</a:t>
            </a:r>
          </a:p>
          <a:p>
            <a:r>
              <a:rPr sz="1600"/>
              <a:t>Mechanism｜contact resistance 在低壓條件下主導不穩定。</a:t>
            </a:r>
          </a:p>
          <a:p>
            <a:r>
              <a:rPr sz="1600"/>
              <a:t>Alternatives｜電極幾何仍可能調節壓力分布</a:t>
            </a:r>
          </a:p>
          <a:p>
            <a:r>
              <a:rPr sz="1600"/>
              <a:t>Uncertainty｜高壓長期循環是否造成新的 wear mechanism 尚未知。</a:t>
            </a:r>
          </a:p>
          <a:p>
            <a:r>
              <a:rPr sz="1600"/>
              <a:t>Unresolved｜高壓循環的耐久性與 wear 尚未測試。</a:t>
            </a:r>
          </a:p>
        </p:txBody>
      </p:sp>
      <p:sp>
        <p:nvSpPr>
          <p:cNvPr id="8" name="tds-slot:decision_status"/>
          <p:cNvSpPr txBox="1"/>
          <p:nvPr/>
        </p:nvSpPr>
        <p:spPr>
          <a:xfrm>
            <a:off x="6217920" y="3474720"/>
            <a:ext cx="2514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Answer｜低接觸壓力下 contact resistance 是主導不穩定來源。</a:t>
            </a:r>
          </a:p>
          <a:p>
            <a:r>
              <a:rPr sz="1600"/>
              <a:t>Status｜supported</a:t>
            </a:r>
          </a:p>
          <a:p>
            <a:r>
              <a:rPr sz="1600"/>
              <a:t>Decision｜Go; Contact-pressure control discriminates the interface mechanism.</a:t>
            </a:r>
          </a:p>
        </p:txBody>
      </p:sp>
      <p:sp>
        <p:nvSpPr>
          <p:cNvPr id="9" name="tds-slot:next_step"/>
          <p:cNvSpPr txBox="1"/>
          <p:nvPr/>
        </p:nvSpPr>
        <p:spPr>
          <a:xfrm>
            <a:off x="8961120" y="3474720"/>
            <a:ext cx="2514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Next question｜接觸壓力改善能否在長期循環下維持？</a:t>
            </a:r>
          </a:p>
          <a:p>
            <a:r>
              <a:rPr sz="1600"/>
              <a:t>Next step｜NS301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