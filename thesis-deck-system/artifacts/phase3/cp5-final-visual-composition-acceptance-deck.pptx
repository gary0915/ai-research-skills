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primary_figure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primary_figure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metric_object</a:t>
            </a:r>
          </a:p>
          <a:p>
            <a:r>
              <a:t>result_annotation</a:t>
            </a:r>
          </a:p>
          <a:p>
            <a:r>
              <a:t>result_id</a:t>
            </a:r>
          </a:p>
          <a:p>
            <a:r>
              <a:t>result_plot</a:t>
            </a:r>
          </a:p>
          <a:p>
            <a:r>
              <a:t>source_result_object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metric_object</a:t>
            </a:r>
          </a:p>
          <a:p>
            <a:r>
              <a:t>result_annotation</a:t>
            </a:r>
          </a:p>
          <a:p>
            <a:r>
              <a:t>result_id</a:t>
            </a:r>
          </a:p>
          <a:p>
            <a:r>
              <a:t>result_plot</a:t>
            </a:r>
          </a:p>
          <a:p>
            <a:r>
              <a:t>source_result_object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primary_figure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primary_figure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>
            <a:r>
              <a:t>metric_object</a:t>
            </a:r>
          </a:p>
          <a:p>
            <a:r>
              <a:t>result_annotation</a:t>
            </a:r>
          </a:p>
          <a:p>
            <a:r>
              <a:t>result_id</a:t>
            </a:r>
          </a:p>
          <a:p>
            <a:r>
              <a:t>result_plot</a:t>
            </a:r>
          </a:p>
          <a:p>
            <a:r>
              <a:t>source_result_object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[/Sources]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FVCC-COVER-001"/>
          <p:cNvSpPr>
            <a:spLocks noGrp="1"/>
          </p:cNvSpPr>
          <p:nvPr>
            <p:ph type="ctrTitle"/>
          </p:nvPr>
        </p:nvSpPr>
        <p:spPr>
          <a:xfrm>
            <a:off x="640080" y="502920"/>
            <a:ext cx="10881360" cy="1005840"/>
          </a:xfrm>
        </p:spPr>
        <p:txBody>
          <a:bodyPr lIns="0" rIns="0" tIns="0" bIns="0"/>
          <a:lstStyle/>
          <a:p>
            <a:r>
              <a:rPr sz="2200"/>
              <a:t>Thesis Deck System｜Final Visual Composition Closure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ds-composition-text:FVCC-COVER-001"/>
          <p:cNvSpPr txBox="1"/>
          <p:nvPr/>
        </p:nvSpPr>
        <p:spPr>
          <a:xfrm>
            <a:off x="1097280" y="484632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Synthetic acceptance candidate</a:t>
            </a:r>
          </a:p>
          <a:p/>
          <a:p>
            <a:r>
              <a:rPr sz="1800"/>
              <a:t>Final visual composition closure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PHASE2-PROGRESS-0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Progress / Previous Commitments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PHASE2-PROGRESS-01"/>
          <p:cNvSpPr txBox="1"/>
          <p:nvPr/>
        </p:nvSpPr>
        <p:spPr>
          <a:xfrm>
            <a:off x="640080" y="1325880"/>
            <a:ext cx="10835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Commitment｜NS101; NS201</a:t>
            </a:r>
          </a:p>
          <a:p/>
          <a:p>
            <a:r>
              <a:rPr sz="1800"/>
              <a:t>Current｜H002</a:t>
            </a:r>
          </a:p>
          <a:p/>
          <a:p>
            <a:r>
              <a:rPr sz="1800"/>
              <a:t>Parallel｜interface-mechanism; interface-mechanism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HYPOTHESIS-TITLE-0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H001｜Hypothesis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ds-composition-text:S-H001-HYPOTHESIS-TITLE-01"/>
          <p:cNvSpPr txBox="1"/>
          <p:nvPr/>
        </p:nvSpPr>
        <p:spPr>
          <a:xfrm>
            <a:off x="640080" y="1325880"/>
            <a:ext cx="10835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Hypothesis｜Bulk conductivity drives the positional signal gradient.</a:t>
            </a:r>
          </a:p>
          <a:p/>
          <a:p>
            <a:r>
              <a:rPr sz="1800"/>
              <a:t>Falsifier｜Matched conditions do not change the predicted CV or resistance.</a:t>
            </a:r>
          </a:p>
          <a:p/>
          <a:p>
            <a:r>
              <a:rPr sz="1800"/>
              <a:t>Question｜提升 bulk conductivity 是否足以降低位置依賴的訊號變異？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PROBLEM-DEFINITION-02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H001｜Problem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H001-PROBLEM-DEFINITION-02"/>
          <p:cNvSpPr txBox="1"/>
          <p:nvPr/>
        </p:nvSpPr>
        <p:spPr>
          <a:xfrm>
            <a:off x="640080" y="1325880"/>
            <a:ext cx="10835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Prior｜含水量與導電度存在位置梯度</a:t>
            </a:r>
          </a:p>
          <a:p/>
          <a:p>
            <a:r>
              <a:rPr sz="1800"/>
              <a:t>Conflict｜導電度提高是否足以修復重複性仍未知。</a:t>
            </a:r>
          </a:p>
          <a:p/>
          <a:p>
            <a:r>
              <a:rPr sz="1800"/>
              <a:t>Question｜提升 bulk conductivity 是否足以降低位置依賴的訊號變異？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FISHBONE-LOCATOR-03"/>
          <p:cNvSpPr txBox="1"/>
          <p:nvPr/>
        </p:nvSpPr>
        <p:spPr>
          <a:xfrm>
            <a:off x="502920" y="201168"/>
            <a:ext cx="111099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/>
              <a:t>H001｜Total Fishbone / Research Map</a:t>
            </a:r>
          </a:p>
        </p:txBody>
      </p:sp>
      <p:sp>
        <p:nvSpPr>
          <p:cNvPr id="3" name="tds-composition-text:S-H001-FISHBONE-LOCATOR-03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History｜FB001 rev1</a:t>
            </a:r>
          </a:p>
          <a:p/>
          <a:p>
            <a:r>
              <a:rPr sz="1800"/>
              <a:t>Focus｜FB-MATERIAL-HYDRATION</a:t>
            </a:r>
          </a:p>
        </p:txBody>
      </p:sp>
      <p:pic>
        <p:nvPicPr>
          <p:cNvPr id="4" name="tds-raster-fallback:FB001-REV1/S-H001-FISHBONE-LOCATOR-03" descr="FB001-re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66294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OBSERVATION-PROBLEM-04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H001｜Observation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H001-OBSERVATION-PROBLEM-04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Question｜提升 bulk conductivity 是否足以降低位置依賴的訊號變異？</a:t>
            </a:r>
          </a:p>
          <a:p/>
          <a:p>
            <a:r>
              <a:rPr sz="1800"/>
              <a:t>Observation｜位置依賴缺陷與訊號變異已觀察到。</a:t>
            </a:r>
          </a:p>
        </p:txBody>
      </p:sp>
      <p:sp>
        <p:nvSpPr>
          <p:cNvPr id="6" name="tds-fig:FIG006/obj-canvas/panel"/>
          <p:cNvSpPr/>
          <p:nvPr/>
        </p:nvSpPr>
        <p:spPr>
          <a:xfrm>
            <a:off x="4879181" y="1385316"/>
            <a:ext cx="6132195" cy="4224528"/>
          </a:xfrm>
          <a:prstGeom prst="rect">
            <a:avLst/>
          </a:prstGeom>
          <a:solidFill>
            <a:srgbClr val="FFFFFF"/>
          </a:solidFill>
          <a:ln w="508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6/obj-title/title"/>
          <p:cNvSpPr txBox="1"/>
          <p:nvPr/>
        </p:nvSpPr>
        <p:spPr>
          <a:xfrm>
            <a:off x="5086350" y="1456182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latin typeface="Arial"/>
              </a:rPr>
              <a:t>Mechanism / 機制</a:t>
            </a:r>
          </a:p>
        </p:txBody>
      </p:sp>
      <p:sp>
        <p:nvSpPr>
          <p:cNvPr id="8" name="tds-fig:FIG006/obj-n001/node"/>
          <p:cNvSpPr/>
          <p:nvPr/>
        </p:nvSpPr>
        <p:spPr>
          <a:xfrm>
            <a:off x="5873591" y="3044952"/>
            <a:ext cx="1077277" cy="603504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6/obj-label-n001/label"/>
          <p:cNvSpPr txBox="1"/>
          <p:nvPr/>
        </p:nvSpPr>
        <p:spPr>
          <a:xfrm>
            <a:off x="6122193" y="312084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23</a:t>
            </a:r>
          </a:p>
        </p:txBody>
      </p:sp>
      <p:sp>
        <p:nvSpPr>
          <p:cNvPr id="10" name="tds-fig:FIG006/obj-n002/node"/>
          <p:cNvSpPr/>
          <p:nvPr/>
        </p:nvSpPr>
        <p:spPr>
          <a:xfrm>
            <a:off x="8028146" y="3044952"/>
            <a:ext cx="1077277" cy="603504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6/obj-label-n002/label"/>
          <p:cNvSpPr txBox="1"/>
          <p:nvPr/>
        </p:nvSpPr>
        <p:spPr>
          <a:xfrm>
            <a:off x="8276748" y="312084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提升 bulk conductivity 是否足以降低位置依賴的訊號變異？</a:t>
            </a:r>
          </a:p>
        </p:txBody>
      </p:sp>
      <p:sp>
        <p:nvSpPr>
          <p:cNvPr id="12" name="tds-fig:FIG006/obj-state-0/annotation"/>
          <p:cNvSpPr txBox="1"/>
          <p:nvPr/>
        </p:nvSpPr>
        <p:spPr>
          <a:xfrm>
            <a:off x="7344489" y="292973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uncertain</a:t>
            </a:r>
          </a:p>
        </p:txBody>
      </p:sp>
      <p:sp>
        <p:nvSpPr>
          <p:cNvPr id="13" name="tds-fig:FIG006/obj-alternative/callout"/>
          <p:cNvSpPr/>
          <p:nvPr/>
        </p:nvSpPr>
        <p:spPr>
          <a:xfrm>
            <a:off x="7075170" y="4503420"/>
            <a:ext cx="1905952" cy="402336"/>
          </a:xfrm>
          <a:prstGeom prst="rect">
            <a:avLst/>
          </a:prstGeom>
          <a:solidFill>
            <a:srgbClr val="FFF4CC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ds-fig:FIG006/obj-alt-label/annotation"/>
          <p:cNvSpPr txBox="1"/>
          <p:nvPr/>
        </p:nvSpPr>
        <p:spPr>
          <a:xfrm>
            <a:off x="7178754" y="4488789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alternative / uncertainty retained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LITERATURE-MECHANISM-05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H001｜Literature → Mechanism →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H001-LITERATURE-MECHANISM-05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Consensus｜transport gradient 可產生位置效應。</a:t>
            </a:r>
          </a:p>
          <a:p/>
          <a:p>
            <a:r>
              <a:rPr sz="1800"/>
              <a:t>Alternatives｜interface contact remains alternative</a:t>
            </a:r>
          </a:p>
          <a:p/>
          <a:p>
            <a:r>
              <a:rPr sz="1800"/>
              <a:t>Gap｜缺少控制比較隔離機制。</a:t>
            </a:r>
          </a:p>
          <a:p/>
          <a:p>
            <a:r>
              <a:rPr sz="1800"/>
              <a:t>Implication｜需匹配條件後比較。</a:t>
            </a:r>
          </a:p>
          <a:p/>
          <a:p>
            <a:r>
              <a:rPr sz="1800"/>
              <a:t>Mechanism｜bulk transport</a:t>
            </a:r>
          </a:p>
          <a:p/>
          <a:p>
            <a:r>
              <a:rPr sz="1800"/>
              <a:t>Evidence｜C102; C103; E103</a:t>
            </a:r>
          </a:p>
        </p:txBody>
      </p:sp>
      <p:sp>
        <p:nvSpPr>
          <p:cNvPr id="6" name="tds-fig:FIG006/obj-canvas/panel"/>
          <p:cNvSpPr/>
          <p:nvPr/>
        </p:nvSpPr>
        <p:spPr>
          <a:xfrm>
            <a:off x="4879181" y="1385316"/>
            <a:ext cx="6132195" cy="4224528"/>
          </a:xfrm>
          <a:prstGeom prst="rect">
            <a:avLst/>
          </a:prstGeom>
          <a:solidFill>
            <a:srgbClr val="FFFFFF"/>
          </a:solidFill>
          <a:ln w="508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6/obj-title/title"/>
          <p:cNvSpPr txBox="1"/>
          <p:nvPr/>
        </p:nvSpPr>
        <p:spPr>
          <a:xfrm>
            <a:off x="5086350" y="1456182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latin typeface="Arial"/>
              </a:rPr>
              <a:t>Mechanism / 機制</a:t>
            </a:r>
          </a:p>
        </p:txBody>
      </p:sp>
      <p:sp>
        <p:nvSpPr>
          <p:cNvPr id="8" name="tds-fig:FIG006/obj-n001/node"/>
          <p:cNvSpPr/>
          <p:nvPr/>
        </p:nvSpPr>
        <p:spPr>
          <a:xfrm>
            <a:off x="5873591" y="3044952"/>
            <a:ext cx="1077277" cy="603504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6/obj-label-n001/label"/>
          <p:cNvSpPr txBox="1"/>
          <p:nvPr/>
        </p:nvSpPr>
        <p:spPr>
          <a:xfrm>
            <a:off x="6122193" y="312084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bulk transport</a:t>
            </a:r>
          </a:p>
        </p:txBody>
      </p:sp>
      <p:sp>
        <p:nvSpPr>
          <p:cNvPr id="10" name="tds-fig:FIG006/obj-n002/node"/>
          <p:cNvSpPr/>
          <p:nvPr/>
        </p:nvSpPr>
        <p:spPr>
          <a:xfrm>
            <a:off x="8028146" y="3044952"/>
            <a:ext cx="1077277" cy="603504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6/obj-label-n002/label"/>
          <p:cNvSpPr txBox="1"/>
          <p:nvPr/>
        </p:nvSpPr>
        <p:spPr>
          <a:xfrm>
            <a:off x="8276748" y="312084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23</a:t>
            </a:r>
          </a:p>
        </p:txBody>
      </p:sp>
      <p:sp>
        <p:nvSpPr>
          <p:cNvPr id="12" name="tds-fig:FIG006/obj-state-0/annotation"/>
          <p:cNvSpPr txBox="1"/>
          <p:nvPr/>
        </p:nvSpPr>
        <p:spPr>
          <a:xfrm>
            <a:off x="7344489" y="292973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uncertain</a:t>
            </a:r>
          </a:p>
        </p:txBody>
      </p:sp>
      <p:sp>
        <p:nvSpPr>
          <p:cNvPr id="13" name="tds-fig:FIG006/obj-alternative/callout"/>
          <p:cNvSpPr/>
          <p:nvPr/>
        </p:nvSpPr>
        <p:spPr>
          <a:xfrm>
            <a:off x="7075170" y="4503420"/>
            <a:ext cx="1905952" cy="402336"/>
          </a:xfrm>
          <a:prstGeom prst="rect">
            <a:avLst/>
          </a:prstGeom>
          <a:solidFill>
            <a:srgbClr val="FFF4CC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ds-fig:FIG006/obj-alt-label/annotation"/>
          <p:cNvSpPr txBox="1"/>
          <p:nvPr/>
        </p:nvSpPr>
        <p:spPr>
          <a:xfrm>
            <a:off x="7178754" y="4488789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alternative / uncertainty retained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EXPERIMENT-DESIGN-06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H001｜Experiment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H001-EXPERIMENT-DESIGN-06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IV｜含水量</a:t>
            </a:r>
          </a:p>
          <a:p/>
          <a:p>
            <a:r>
              <a:rPr sz="1800"/>
              <a:t>Controls｜電極幾何; 接觸壓力</a:t>
            </a:r>
          </a:p>
          <a:p/>
          <a:p>
            <a:r>
              <a:rPr sz="1800"/>
              <a:t>Baseline｜原始配方</a:t>
            </a:r>
          </a:p>
          <a:p/>
          <a:p>
            <a:r>
              <a:rPr sz="1800"/>
              <a:t>Sample｜replicates: 3; samples: 15</a:t>
            </a:r>
          </a:p>
          <a:p/>
          <a:p>
            <a:r>
              <a:rPr sz="1800"/>
              <a:t>N｜3</a:t>
            </a:r>
          </a:p>
          <a:p/>
          <a:p>
            <a:r>
              <a:rPr sz="1800"/>
              <a:t>Outputs｜導電度 (mS/cm)</a:t>
            </a:r>
          </a:p>
          <a:p/>
          <a:p>
            <a:r>
              <a:rPr sz="1800"/>
              <a:t>Units｜導電度 (mS/cm)</a:t>
            </a:r>
          </a:p>
          <a:p/>
          <a:p>
            <a:r>
              <a:rPr sz="1800"/>
              <a:t>Method｜synthetic-four-probe</a:t>
            </a:r>
          </a:p>
          <a:p/>
          <a:p>
            <a:r>
              <a:rPr sz="1800"/>
              <a:t>Prediction｜導電度提升</a:t>
            </a:r>
          </a:p>
          <a:p/>
          <a:p>
            <a:r>
              <a:rPr sz="1800"/>
              <a:t>Rule｜go: mean conductivity increases &gt;=20%; partial_go: 10-20%; no_go: &lt;10%</a:t>
            </a:r>
          </a:p>
        </p:txBody>
      </p:sp>
      <p:sp>
        <p:nvSpPr>
          <p:cNvPr id="6" name="tds-fig:FIG007/obj-canvas/panel"/>
          <p:cNvSpPr/>
          <p:nvPr/>
        </p:nvSpPr>
        <p:spPr>
          <a:xfrm>
            <a:off x="4879181" y="1385316"/>
            <a:ext cx="6380797" cy="4224528"/>
          </a:xfrm>
          <a:prstGeom prst="rect">
            <a:avLst/>
          </a:prstGeom>
          <a:solidFill>
            <a:srgbClr val="F8F8F8"/>
          </a:solidFill>
          <a:ln w="508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7/obj-title/title"/>
          <p:cNvSpPr txBox="1"/>
          <p:nvPr/>
        </p:nvSpPr>
        <p:spPr>
          <a:xfrm>
            <a:off x="5086350" y="1456182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latin typeface="Arial"/>
              </a:rPr>
              <a:t>Experiment / 實驗</a:t>
            </a:r>
          </a:p>
        </p:txBody>
      </p:sp>
      <p:sp>
        <p:nvSpPr>
          <p:cNvPr id="8" name="tds-fig:FIG007/obj-sample-0/sample"/>
          <p:cNvSpPr/>
          <p:nvPr/>
        </p:nvSpPr>
        <p:spPr>
          <a:xfrm>
            <a:off x="5044916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7/obj-label-sample-0/label"/>
          <p:cNvSpPr txBox="1"/>
          <p:nvPr/>
        </p:nvSpPr>
        <p:spPr>
          <a:xfrm>
            <a:off x="5169217" y="2190445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replicates: 3; samples: 15</a:t>
            </a:r>
          </a:p>
        </p:txBody>
      </p:sp>
      <p:sp>
        <p:nvSpPr>
          <p:cNvPr id="10" name="tds-fig:FIG007/obj-control-1/node"/>
          <p:cNvSpPr/>
          <p:nvPr/>
        </p:nvSpPr>
        <p:spPr>
          <a:xfrm>
            <a:off x="6060043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7/obj-label-control-1/label"/>
          <p:cNvSpPr txBox="1"/>
          <p:nvPr/>
        </p:nvSpPr>
        <p:spPr>
          <a:xfrm>
            <a:off x="6184344" y="2190445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原始配方</a:t>
            </a:r>
          </a:p>
        </p:txBody>
      </p:sp>
      <p:sp>
        <p:nvSpPr>
          <p:cNvPr id="12" name="tds-fig:FIG007/obj-instrument-2/instrument"/>
          <p:cNvSpPr/>
          <p:nvPr/>
        </p:nvSpPr>
        <p:spPr>
          <a:xfrm>
            <a:off x="7075170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ds-fig:FIG007/obj-label-instrument-2/label"/>
          <p:cNvSpPr txBox="1"/>
          <p:nvPr/>
        </p:nvSpPr>
        <p:spPr>
          <a:xfrm>
            <a:off x="7199471" y="2190445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synthetic-four-probe</a:t>
            </a:r>
          </a:p>
        </p:txBody>
      </p:sp>
      <p:sp>
        <p:nvSpPr>
          <p:cNvPr id="14" name="tds-fig:FIG007/obj-interface-3/interface"/>
          <p:cNvSpPr/>
          <p:nvPr/>
        </p:nvSpPr>
        <p:spPr>
          <a:xfrm>
            <a:off x="8090296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ds-fig:FIG007/obj-label-interface-3/label"/>
          <p:cNvSpPr txBox="1"/>
          <p:nvPr/>
        </p:nvSpPr>
        <p:spPr>
          <a:xfrm>
            <a:off x="8214598" y="2190445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導電度 (mS/cm)</a:t>
            </a:r>
          </a:p>
        </p:txBody>
      </p:sp>
      <p:sp>
        <p:nvSpPr>
          <p:cNvPr id="16" name="tds-fig:FIG007/obj-input-4/node"/>
          <p:cNvSpPr/>
          <p:nvPr/>
        </p:nvSpPr>
        <p:spPr>
          <a:xfrm>
            <a:off x="9105423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ds-fig:FIG007/obj-label-input-4/label"/>
          <p:cNvSpPr txBox="1"/>
          <p:nvPr/>
        </p:nvSpPr>
        <p:spPr>
          <a:xfrm>
            <a:off x="9229725" y="2190445"/>
            <a:ext cx="215455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含水量</a:t>
            </a:r>
          </a:p>
        </p:txBody>
      </p:sp>
      <p:sp>
        <p:nvSpPr>
          <p:cNvPr id="18" name="tds-fig:FIG007/obj-output-5/output"/>
          <p:cNvSpPr/>
          <p:nvPr/>
        </p:nvSpPr>
        <p:spPr>
          <a:xfrm>
            <a:off x="10120550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ds-fig:FIG007/obj-label-output-5/label"/>
          <p:cNvSpPr txBox="1"/>
          <p:nvPr/>
        </p:nvSpPr>
        <p:spPr>
          <a:xfrm>
            <a:off x="10244851" y="2190445"/>
            <a:ext cx="11394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導電度 (mS/cm)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EXPERIMENT-DESIGN-07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H001｜Experiment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H001-EXPERIMENT-DESIGN-07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IV｜位置</a:t>
            </a:r>
          </a:p>
          <a:p/>
          <a:p>
            <a:r>
              <a:rPr sz="1800"/>
              <a:t>Controls｜配方; 電極; 接觸壓力</a:t>
            </a:r>
          </a:p>
          <a:p/>
          <a:p>
            <a:r>
              <a:rPr sz="1800"/>
              <a:t>Baseline｜原始位置分布</a:t>
            </a:r>
          </a:p>
          <a:p/>
          <a:p>
            <a:r>
              <a:rPr sz="1800"/>
              <a:t>Sample｜replicates: 3; samples: 15</a:t>
            </a:r>
          </a:p>
          <a:p/>
          <a:p>
            <a:r>
              <a:rPr sz="1800"/>
              <a:t>N｜3</a:t>
            </a:r>
          </a:p>
          <a:p/>
          <a:p>
            <a:r>
              <a:rPr sz="1800"/>
              <a:t>Outputs｜訊號 CV (%)</a:t>
            </a:r>
          </a:p>
          <a:p/>
          <a:p>
            <a:r>
              <a:rPr sz="1800"/>
              <a:t>Units｜訊號 CV (%)</a:t>
            </a:r>
          </a:p>
          <a:p/>
          <a:p>
            <a:r>
              <a:rPr sz="1800"/>
              <a:t>Method｜synthetic-signal-test</a:t>
            </a:r>
          </a:p>
          <a:p/>
          <a:p>
            <a:r>
              <a:rPr sz="1800"/>
              <a:t>Prediction｜CV 下降</a:t>
            </a:r>
          </a:p>
          <a:p/>
          <a:p>
            <a:r>
              <a:rPr sz="1800"/>
              <a:t>Rule｜go: CV decreases &gt;=30%; partial_go: 10-30%; no_go: &lt;10%</a:t>
            </a:r>
          </a:p>
        </p:txBody>
      </p:sp>
      <p:sp>
        <p:nvSpPr>
          <p:cNvPr id="6" name="tds-fig:FIG007/obj-canvas/panel"/>
          <p:cNvSpPr/>
          <p:nvPr/>
        </p:nvSpPr>
        <p:spPr>
          <a:xfrm>
            <a:off x="4879181" y="1385316"/>
            <a:ext cx="6380797" cy="4224528"/>
          </a:xfrm>
          <a:prstGeom prst="rect">
            <a:avLst/>
          </a:prstGeom>
          <a:solidFill>
            <a:srgbClr val="F8F8F8"/>
          </a:solidFill>
          <a:ln w="508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7/obj-title/title"/>
          <p:cNvSpPr txBox="1"/>
          <p:nvPr/>
        </p:nvSpPr>
        <p:spPr>
          <a:xfrm>
            <a:off x="5086350" y="1456182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latin typeface="Arial"/>
              </a:rPr>
              <a:t>Experiment / 實驗</a:t>
            </a:r>
          </a:p>
        </p:txBody>
      </p:sp>
      <p:sp>
        <p:nvSpPr>
          <p:cNvPr id="8" name="tds-fig:FIG007/obj-sample-0/sample"/>
          <p:cNvSpPr/>
          <p:nvPr/>
        </p:nvSpPr>
        <p:spPr>
          <a:xfrm>
            <a:off x="5044916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7/obj-label-sample-0/label"/>
          <p:cNvSpPr txBox="1"/>
          <p:nvPr/>
        </p:nvSpPr>
        <p:spPr>
          <a:xfrm>
            <a:off x="5169217" y="2190445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replicates: 3; samples: 15</a:t>
            </a:r>
          </a:p>
        </p:txBody>
      </p:sp>
      <p:sp>
        <p:nvSpPr>
          <p:cNvPr id="10" name="tds-fig:FIG007/obj-control-1/node"/>
          <p:cNvSpPr/>
          <p:nvPr/>
        </p:nvSpPr>
        <p:spPr>
          <a:xfrm>
            <a:off x="6060043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7/obj-label-control-1/label"/>
          <p:cNvSpPr txBox="1"/>
          <p:nvPr/>
        </p:nvSpPr>
        <p:spPr>
          <a:xfrm>
            <a:off x="6184344" y="2190445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原始位置分布</a:t>
            </a:r>
          </a:p>
        </p:txBody>
      </p:sp>
      <p:sp>
        <p:nvSpPr>
          <p:cNvPr id="12" name="tds-fig:FIG007/obj-instrument-2/instrument"/>
          <p:cNvSpPr/>
          <p:nvPr/>
        </p:nvSpPr>
        <p:spPr>
          <a:xfrm>
            <a:off x="7075170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ds-fig:FIG007/obj-label-instrument-2/label"/>
          <p:cNvSpPr txBox="1"/>
          <p:nvPr/>
        </p:nvSpPr>
        <p:spPr>
          <a:xfrm>
            <a:off x="7199471" y="2190445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synthetic-signal-test</a:t>
            </a:r>
          </a:p>
        </p:txBody>
      </p:sp>
      <p:sp>
        <p:nvSpPr>
          <p:cNvPr id="14" name="tds-fig:FIG007/obj-interface-3/interface"/>
          <p:cNvSpPr/>
          <p:nvPr/>
        </p:nvSpPr>
        <p:spPr>
          <a:xfrm>
            <a:off x="8090296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ds-fig:FIG007/obj-label-interface-3/label"/>
          <p:cNvSpPr txBox="1"/>
          <p:nvPr/>
        </p:nvSpPr>
        <p:spPr>
          <a:xfrm>
            <a:off x="8214598" y="2190445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訊號 CV (%)</a:t>
            </a:r>
          </a:p>
        </p:txBody>
      </p:sp>
      <p:sp>
        <p:nvSpPr>
          <p:cNvPr id="16" name="tds-fig:FIG007/obj-input-4/node"/>
          <p:cNvSpPr/>
          <p:nvPr/>
        </p:nvSpPr>
        <p:spPr>
          <a:xfrm>
            <a:off x="9105423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ds-fig:FIG007/obj-label-input-4/label"/>
          <p:cNvSpPr txBox="1"/>
          <p:nvPr/>
        </p:nvSpPr>
        <p:spPr>
          <a:xfrm>
            <a:off x="9229725" y="2190445"/>
            <a:ext cx="215455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位置</a:t>
            </a:r>
          </a:p>
        </p:txBody>
      </p:sp>
      <p:sp>
        <p:nvSpPr>
          <p:cNvPr id="18" name="tds-fig:FIG007/obj-output-5/output"/>
          <p:cNvSpPr/>
          <p:nvPr/>
        </p:nvSpPr>
        <p:spPr>
          <a:xfrm>
            <a:off x="10120550" y="2189988"/>
            <a:ext cx="828674" cy="452628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ds-fig:FIG007/obj-label-output-5/label"/>
          <p:cNvSpPr txBox="1"/>
          <p:nvPr/>
        </p:nvSpPr>
        <p:spPr>
          <a:xfrm>
            <a:off x="10244851" y="2190445"/>
            <a:ext cx="11394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訊號 CV (%)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RESULT-SINGLE-08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H001｜Result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tds-composition-text:S-H001-RESULT-SINGLE-08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平均導電度增加 24% ± 5% SD</a:t>
            </a:r>
          </a:p>
          <a:p/>
          <a:p>
            <a:r>
              <a:rPr sz="1800"/>
              <a:t>mean conductivity increase: 24 ± 5 SD (%)</a:t>
            </a:r>
          </a:p>
        </p:txBody>
      </p:sp>
      <p:sp>
        <p:nvSpPr>
          <p:cNvPr id="8" name="tds-fig:FIG001/obj-canvas/panel"/>
          <p:cNvSpPr/>
          <p:nvPr/>
        </p:nvSpPr>
        <p:spPr>
          <a:xfrm>
            <a:off x="4879181" y="1385316"/>
            <a:ext cx="6132195" cy="4224528"/>
          </a:xfrm>
          <a:prstGeom prst="rect">
            <a:avLst/>
          </a:prstGeom>
          <a:solidFill>
            <a:srgbClr val="F8F8F8"/>
          </a:solidFill>
          <a:ln w="508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1/obj-title/title"/>
          <p:cNvSpPr txBox="1"/>
          <p:nvPr/>
        </p:nvSpPr>
        <p:spPr>
          <a:xfrm>
            <a:off x="5086350" y="1456182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latin typeface="Calibri"/>
              </a:rPr>
              <a:t>Synthetic Quantitative Plot</a:t>
            </a:r>
          </a:p>
        </p:txBody>
      </p:sp>
      <p:cxnSp>
        <p:nvCxnSpPr>
          <p:cNvPr id="10" name="tds-fig:FIG001/obj-x-axis/axis"/>
          <p:cNvCxnSpPr/>
          <p:nvPr/>
        </p:nvCxnSpPr>
        <p:spPr>
          <a:xfrm>
            <a:off x="5666422" y="4754880"/>
            <a:ext cx="4806315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ds-fig:FIG001/obj-y-axis/axis"/>
          <p:cNvCxnSpPr/>
          <p:nvPr/>
        </p:nvCxnSpPr>
        <p:spPr>
          <a:xfrm flipV="1">
            <a:off x="5666422" y="2189988"/>
            <a:ext cx="0" cy="2564892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ds-fig:FIG001/obj-x-label/label"/>
          <p:cNvSpPr txBox="1"/>
          <p:nvPr/>
        </p:nvSpPr>
        <p:spPr>
          <a:xfrm>
            <a:off x="9644062" y="4750307"/>
            <a:ext cx="174021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condition / canonical_index</a:t>
            </a:r>
          </a:p>
        </p:txBody>
      </p:sp>
      <p:sp>
        <p:nvSpPr>
          <p:cNvPr id="13" name="tds-fig:FIG001/obj-y-label/label"/>
          <p:cNvSpPr txBox="1"/>
          <p:nvPr/>
        </p:nvSpPr>
        <p:spPr>
          <a:xfrm>
            <a:off x="5210651" y="1984248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mean conductivity increase / %</a:t>
            </a:r>
          </a:p>
        </p:txBody>
      </p:sp>
      <p:sp>
        <p:nvSpPr>
          <p:cNvPr id="14" name="tds-fig:FIG001/obj-y-domain/annotation"/>
          <p:cNvSpPr txBox="1"/>
          <p:nvPr/>
        </p:nvSpPr>
        <p:spPr>
          <a:xfrm>
            <a:off x="5707856" y="1883664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0–24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RESULT-SINGLE-09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H001｜Result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tds-composition-text:S-H001-RESULT-SINGLE-09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訊號 CV 僅下降 4% ± 6% SD，屬 No-Go</a:t>
            </a:r>
          </a:p>
          <a:p/>
          <a:p>
            <a:r>
              <a:rPr sz="1800"/>
              <a:t>signal CV decrease: 4 ± 6 SD (%)</a:t>
            </a:r>
          </a:p>
        </p:txBody>
      </p:sp>
      <p:sp>
        <p:nvSpPr>
          <p:cNvPr id="8" name="tds-fig:FIG001/obj-canvas/panel"/>
          <p:cNvSpPr/>
          <p:nvPr/>
        </p:nvSpPr>
        <p:spPr>
          <a:xfrm>
            <a:off x="4879181" y="1385316"/>
            <a:ext cx="6132195" cy="4224528"/>
          </a:xfrm>
          <a:prstGeom prst="rect">
            <a:avLst/>
          </a:prstGeom>
          <a:solidFill>
            <a:srgbClr val="F8F8F8"/>
          </a:solidFill>
          <a:ln w="508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1/obj-title/title"/>
          <p:cNvSpPr txBox="1"/>
          <p:nvPr/>
        </p:nvSpPr>
        <p:spPr>
          <a:xfrm>
            <a:off x="5086350" y="1456182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latin typeface="Calibri"/>
              </a:rPr>
              <a:t>Synthetic Quantitative Plot</a:t>
            </a:r>
          </a:p>
        </p:txBody>
      </p:sp>
      <p:cxnSp>
        <p:nvCxnSpPr>
          <p:cNvPr id="10" name="tds-fig:FIG001/obj-x-axis/axis"/>
          <p:cNvCxnSpPr/>
          <p:nvPr/>
        </p:nvCxnSpPr>
        <p:spPr>
          <a:xfrm>
            <a:off x="5666422" y="4754880"/>
            <a:ext cx="4806315" cy="0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ds-fig:FIG001/obj-y-axis/axis"/>
          <p:cNvCxnSpPr/>
          <p:nvPr/>
        </p:nvCxnSpPr>
        <p:spPr>
          <a:xfrm flipV="1">
            <a:off x="5666422" y="2189988"/>
            <a:ext cx="0" cy="2564892"/>
          </a:xfrm>
          <a:prstGeom prst="line">
            <a:avLst/>
          </a:prstGeom>
          <a:ln w="381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ds-fig:FIG001/obj-x-label/label"/>
          <p:cNvSpPr txBox="1"/>
          <p:nvPr/>
        </p:nvSpPr>
        <p:spPr>
          <a:xfrm>
            <a:off x="9644062" y="4750307"/>
            <a:ext cx="174021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condition / canonical_index</a:t>
            </a:r>
          </a:p>
        </p:txBody>
      </p:sp>
      <p:sp>
        <p:nvSpPr>
          <p:cNvPr id="13" name="tds-fig:FIG001/obj-y-label/label"/>
          <p:cNvSpPr txBox="1"/>
          <p:nvPr/>
        </p:nvSpPr>
        <p:spPr>
          <a:xfrm>
            <a:off x="5210651" y="1984248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signal CV decrease / %</a:t>
            </a:r>
          </a:p>
        </p:txBody>
      </p:sp>
      <p:sp>
        <p:nvSpPr>
          <p:cNvPr id="14" name="tds-fig:FIG001/obj-y-domain/annotation"/>
          <p:cNvSpPr txBox="1"/>
          <p:nvPr/>
        </p:nvSpPr>
        <p:spPr>
          <a:xfrm>
            <a:off x="5707856" y="1883664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0–4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LAYER-INTEGRATED-DISCUSSION-10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H001｜Integrated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H001-LAYER-INTEGRATED-DISCUSSION-10"/>
          <p:cNvSpPr txBox="1"/>
          <p:nvPr/>
        </p:nvSpPr>
        <p:spPr>
          <a:xfrm>
            <a:off x="640080" y="1325880"/>
            <a:ext cx="10835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Support｜RES101</a:t>
            </a:r>
          </a:p>
          <a:p/>
          <a:p>
            <a:r>
              <a:rPr sz="1800"/>
              <a:t>Conflict｜RES102</a:t>
            </a:r>
          </a:p>
          <a:p/>
          <a:p>
            <a:r>
              <a:rPr sz="1800"/>
              <a:t>Pattern｜導電度提升成立，但重複性沒有同步改善。</a:t>
            </a:r>
          </a:p>
          <a:p/>
          <a:p>
            <a:r>
              <a:rPr sz="1800"/>
              <a:t>Mechanism｜bulk conductivity 是部分機制，不足以解釋 interface-sensitive variation。</a:t>
            </a:r>
          </a:p>
          <a:p/>
          <a:p>
            <a:r>
              <a:rPr sz="1800"/>
              <a:t>Alternatives｜接觸電阻; 局部壓力差; 電極幾何</a:t>
            </a:r>
          </a:p>
          <a:p/>
          <a:p>
            <a:r>
              <a:rPr sz="1800"/>
              <a:t>Uncertainty｜contact interface 是否為主導因素仍需匹配導電度後檢驗。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LAYER-SUMMARY-DECISION-1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H001｜Layer Summary / Decision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ds-composition-text:S-H001-LAYER-SUMMARY-DECISION-11"/>
          <p:cNvSpPr txBox="1"/>
          <p:nvPr/>
        </p:nvSpPr>
        <p:spPr>
          <a:xfrm>
            <a:off x="640080" y="1325880"/>
            <a:ext cx="10835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Answer｜bulk conductivity 影響缺陷梯度，但不足以單獨解釋重複性。</a:t>
            </a:r>
          </a:p>
          <a:p/>
          <a:p>
            <a:r>
              <a:rPr sz="1800"/>
              <a:t>Status｜partial_support</a:t>
            </a:r>
          </a:p>
          <a:p/>
          <a:p>
            <a:r>
              <a:rPr sz="1800"/>
              <a:t>Decision｜Partial-Go; Bulk conductivity is contributory but insufficient.</a:t>
            </a:r>
          </a:p>
          <a:p/>
          <a:p>
            <a:r>
              <a:rPr sz="1800"/>
              <a:t>Unresolved｜interface contact 的貢獻尚未量化。</a:t>
            </a:r>
          </a:p>
          <a:p/>
          <a:p>
            <a:r>
              <a:rPr sz="1800"/>
              <a:t>Next question｜匹配 bulk conductivity 後，contact resistance 是否主導變異？</a:t>
            </a:r>
          </a:p>
          <a:p/>
          <a:p>
            <a:r>
              <a:rPr sz="1800"/>
              <a:t>Next step｜NS101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1-HYPOTHESIS-TRANSITION-12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H001｜Hypothesis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H001-HYPOTHESIS-TRANSITION-12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 H｜C101</a:t>
            </a:r>
          </a:p>
          <a:p/>
          <a:p>
            <a:r>
              <a:rPr sz="1800"/>
              <a:t>Key results｜RES101; RES102</a:t>
            </a:r>
          </a:p>
          <a:p/>
          <a:p>
            <a:r>
              <a:rPr sz="1800"/>
              <a:t>Precursor｜E104</a:t>
            </a:r>
          </a:p>
          <a:p/>
          <a:p>
            <a:r>
              <a:rPr sz="1800"/>
              <a:t>New H｜C201</a:t>
            </a:r>
          </a:p>
          <a:p/>
          <a:p>
            <a:r>
              <a:rPr sz="1800"/>
              <a:t>Unresolved｜導電度增加後訊號重複性沒有改善。</a:t>
            </a:r>
          </a:p>
          <a:p/>
          <a:p>
            <a:r>
              <a:rPr sz="1800"/>
              <a:t>Rationale｜剩餘變異隨電極接觸位置改變，因此核心解釋由 bulk transport 轉向 interface contact。</a:t>
            </a:r>
          </a:p>
        </p:txBody>
      </p:sp>
      <p:sp>
        <p:nvSpPr>
          <p:cNvPr id="6" name="tds-fig:FIG006/obj-canvas/panel"/>
          <p:cNvSpPr/>
          <p:nvPr/>
        </p:nvSpPr>
        <p:spPr>
          <a:xfrm>
            <a:off x="4879181" y="1385316"/>
            <a:ext cx="6132195" cy="4224528"/>
          </a:xfrm>
          <a:prstGeom prst="rect">
            <a:avLst/>
          </a:prstGeom>
          <a:solidFill>
            <a:srgbClr val="FFFFFF"/>
          </a:solidFill>
          <a:ln w="508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6/obj-title/title"/>
          <p:cNvSpPr txBox="1"/>
          <p:nvPr/>
        </p:nvSpPr>
        <p:spPr>
          <a:xfrm>
            <a:off x="5086350" y="1456182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latin typeface="Arial"/>
              </a:rPr>
              <a:t>Mechanism / 機制</a:t>
            </a:r>
          </a:p>
        </p:txBody>
      </p:sp>
      <p:sp>
        <p:nvSpPr>
          <p:cNvPr id="8" name="tds-fig:FIG006/obj-n001/node"/>
          <p:cNvSpPr/>
          <p:nvPr/>
        </p:nvSpPr>
        <p:spPr>
          <a:xfrm>
            <a:off x="5873591" y="3044952"/>
            <a:ext cx="1077277" cy="603504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6/obj-label-n001/label"/>
          <p:cNvSpPr txBox="1"/>
          <p:nvPr/>
        </p:nvSpPr>
        <p:spPr>
          <a:xfrm>
            <a:off x="6122193" y="312084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C101</a:t>
            </a:r>
          </a:p>
        </p:txBody>
      </p:sp>
      <p:sp>
        <p:nvSpPr>
          <p:cNvPr id="10" name="tds-fig:FIG006/obj-n002/node"/>
          <p:cNvSpPr/>
          <p:nvPr/>
        </p:nvSpPr>
        <p:spPr>
          <a:xfrm>
            <a:off x="8028146" y="3044952"/>
            <a:ext cx="1077277" cy="603504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6/obj-label-n002/label"/>
          <p:cNvSpPr txBox="1"/>
          <p:nvPr/>
        </p:nvSpPr>
        <p:spPr>
          <a:xfrm>
            <a:off x="8276748" y="312084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C201</a:t>
            </a:r>
          </a:p>
        </p:txBody>
      </p:sp>
      <p:sp>
        <p:nvSpPr>
          <p:cNvPr id="12" name="tds-fig:FIG006/obj-state-0/annotation"/>
          <p:cNvSpPr txBox="1"/>
          <p:nvPr/>
        </p:nvSpPr>
        <p:spPr>
          <a:xfrm>
            <a:off x="7344489" y="292973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uncertain</a:t>
            </a:r>
          </a:p>
        </p:txBody>
      </p:sp>
      <p:sp>
        <p:nvSpPr>
          <p:cNvPr id="13" name="tds-fig:FIG006/obj-alternative/callout"/>
          <p:cNvSpPr/>
          <p:nvPr/>
        </p:nvSpPr>
        <p:spPr>
          <a:xfrm>
            <a:off x="7075170" y="4503420"/>
            <a:ext cx="1905952" cy="402336"/>
          </a:xfrm>
          <a:prstGeom prst="rect">
            <a:avLst/>
          </a:prstGeom>
          <a:solidFill>
            <a:srgbClr val="FFF4CC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ds-fig:FIG006/obj-alt-label/annotation"/>
          <p:cNvSpPr txBox="1"/>
          <p:nvPr/>
        </p:nvSpPr>
        <p:spPr>
          <a:xfrm>
            <a:off x="7178754" y="4488789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alternative / uncertainty retained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2-HYPOTHESIS-TITLE-01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H002｜Hypothesis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ds-composition-text:S-H002-HYPOTHESIS-TITLE-01"/>
          <p:cNvSpPr txBox="1"/>
          <p:nvPr/>
        </p:nvSpPr>
        <p:spPr>
          <a:xfrm>
            <a:off x="640080" y="1325880"/>
            <a:ext cx="10835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Hypothesis｜Contact resistance drives instability at low pressure.</a:t>
            </a:r>
          </a:p>
          <a:p/>
          <a:p>
            <a:r>
              <a:rPr sz="1800"/>
              <a:t>Falsifier｜Matched conditions do not change the predicted CV or resistance.</a:t>
            </a:r>
          </a:p>
          <a:p/>
          <a:p>
            <a:r>
              <a:rPr sz="1800"/>
              <a:t>Question｜低接觸壓力下，contact resistance 是否主導訊號不穩定？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2-PROBLEM-DEFINITION-02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H002｜Problem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H002-PROBLEM-DEFINITION-02"/>
          <p:cNvSpPr txBox="1"/>
          <p:nvPr/>
        </p:nvSpPr>
        <p:spPr>
          <a:xfrm>
            <a:off x="640080" y="1325880"/>
            <a:ext cx="10835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Prior｜H01 支持導電度梯度存在; H01 未支持導電度單獨主導重複性</a:t>
            </a:r>
          </a:p>
          <a:p/>
          <a:p>
            <a:r>
              <a:rPr sz="1800"/>
              <a:t>Conflict｜bulk transport 與 interface contact 的相對貢獻尚未區分。</a:t>
            </a:r>
          </a:p>
          <a:p/>
          <a:p>
            <a:r>
              <a:rPr sz="1800"/>
              <a:t>Question｜低接觸壓力下，contact resistance 是否主導訊號不穩定？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2-FISHBONE-LOCATOR-03"/>
          <p:cNvSpPr txBox="1"/>
          <p:nvPr/>
        </p:nvSpPr>
        <p:spPr>
          <a:xfrm>
            <a:off x="502920" y="201168"/>
            <a:ext cx="1110996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/>
              <a:t>H002｜Total Fishbone / Research Map</a:t>
            </a:r>
          </a:p>
        </p:txBody>
      </p:sp>
      <p:sp>
        <p:nvSpPr>
          <p:cNvPr id="3" name="tds-composition-text:S-H002-FISHBONE-LOCATOR-03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History｜FB001 rev2</a:t>
            </a:r>
          </a:p>
          <a:p/>
          <a:p>
            <a:r>
              <a:rPr sz="1800"/>
              <a:t>Focus｜FB-ELECTRODE-CONTACT</a:t>
            </a:r>
          </a:p>
        </p:txBody>
      </p:sp>
      <p:pic>
        <p:nvPicPr>
          <p:cNvPr id="4" name="tds-raster-fallback:FB001-REV2/S-H002-FISHBONE-LOCATOR-03" descr="FB001-re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66294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2-OBSERVATION-PROBLEM-04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H002｜Observation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ds-composition-text:S-H002-OBSERVATION-PROBLEM-04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Question｜低接觸壓力下，contact resistance 是否主導訊號不穩定？</a:t>
            </a:r>
          </a:p>
          <a:p/>
          <a:p>
            <a:r>
              <a:rPr sz="1800"/>
              <a:t>Observation｜位置依賴缺陷與訊號變異已觀察到。</a:t>
            </a:r>
          </a:p>
          <a:p/>
          <a:p>
            <a:r>
              <a:rPr sz="1800"/>
              <a:t>Consensus｜transport gradient 可產生位置效應。</a:t>
            </a:r>
          </a:p>
          <a:p/>
          <a:p>
            <a:r>
              <a:rPr sz="1800"/>
              <a:t>Alternatives｜interface contact remains alternative</a:t>
            </a:r>
          </a:p>
          <a:p/>
          <a:p>
            <a:r>
              <a:rPr sz="1800"/>
              <a:t>Gap｜缺少控制比較隔離機制。</a:t>
            </a:r>
          </a:p>
          <a:p/>
          <a:p>
            <a:r>
              <a:rPr sz="1800"/>
              <a:t>Implication｜需匹配條件後比較。</a:t>
            </a:r>
          </a:p>
          <a:p/>
          <a:p>
            <a:r>
              <a:rPr sz="1800"/>
              <a:t>Mechanism｜contact resistance</a:t>
            </a:r>
          </a:p>
          <a:p/>
          <a:p>
            <a:r>
              <a:rPr sz="1800"/>
              <a:t>Evidence｜C202; C203; E202</a:t>
            </a:r>
          </a:p>
          <a:p/>
          <a:p>
            <a:r>
              <a:rPr sz="1800"/>
              <a:t>Strategy｜匹配導電度並改變接觸壓力</a:t>
            </a:r>
          </a:p>
          <a:p/>
          <a:p>
            <a:r>
              <a:rPr sz="1800"/>
              <a:t>Criterion｜預測指標跨過 decision threshold</a:t>
            </a:r>
          </a:p>
        </p:txBody>
      </p:sp>
      <p:sp>
        <p:nvSpPr>
          <p:cNvPr id="6" name="tds-fig:FIG006/obj-canvas/panel"/>
          <p:cNvSpPr/>
          <p:nvPr/>
        </p:nvSpPr>
        <p:spPr>
          <a:xfrm>
            <a:off x="4879181" y="1385316"/>
            <a:ext cx="6132195" cy="4224528"/>
          </a:xfrm>
          <a:prstGeom prst="rect">
            <a:avLst/>
          </a:prstGeom>
          <a:solidFill>
            <a:srgbClr val="FFFFFF"/>
          </a:solidFill>
          <a:ln w="508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ds-fig:FIG006/obj-title/title"/>
          <p:cNvSpPr txBox="1"/>
          <p:nvPr/>
        </p:nvSpPr>
        <p:spPr>
          <a:xfrm>
            <a:off x="5086350" y="1456182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latin typeface="Arial"/>
              </a:rPr>
              <a:t>Mechanism / 機制</a:t>
            </a:r>
          </a:p>
        </p:txBody>
      </p:sp>
      <p:sp>
        <p:nvSpPr>
          <p:cNvPr id="8" name="tds-fig:FIG006/obj-n001/node"/>
          <p:cNvSpPr/>
          <p:nvPr/>
        </p:nvSpPr>
        <p:spPr>
          <a:xfrm>
            <a:off x="5873591" y="3044952"/>
            <a:ext cx="1077277" cy="603504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6/obj-label-n001/label"/>
          <p:cNvSpPr txBox="1"/>
          <p:nvPr/>
        </p:nvSpPr>
        <p:spPr>
          <a:xfrm>
            <a:off x="6122193" y="312084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contact resistance</a:t>
            </a:r>
          </a:p>
        </p:txBody>
      </p:sp>
      <p:sp>
        <p:nvSpPr>
          <p:cNvPr id="10" name="tds-fig:FIG006/obj-n002/node"/>
          <p:cNvSpPr/>
          <p:nvPr/>
        </p:nvSpPr>
        <p:spPr>
          <a:xfrm>
            <a:off x="8028146" y="3044952"/>
            <a:ext cx="1077277" cy="603504"/>
          </a:xfrm>
          <a:prstGeom prst="ellipse">
            <a:avLst/>
          </a:prstGeom>
          <a:solidFill>
            <a:srgbClr val="F5F5F5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6/obj-label-n002/label"/>
          <p:cNvSpPr txBox="1"/>
          <p:nvPr/>
        </p:nvSpPr>
        <p:spPr>
          <a:xfrm>
            <a:off x="8276748" y="312084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Arial"/>
              </a:rPr>
              <a:t>51</a:t>
            </a:r>
          </a:p>
        </p:txBody>
      </p:sp>
      <p:sp>
        <p:nvSpPr>
          <p:cNvPr id="12" name="tds-fig:FIG006/obj-state-0/annotation"/>
          <p:cNvSpPr txBox="1"/>
          <p:nvPr/>
        </p:nvSpPr>
        <p:spPr>
          <a:xfrm>
            <a:off x="7344489" y="2929737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latin typeface="Arial"/>
              </a:rPr>
              <a:t>uncertain</a:t>
            </a:r>
          </a:p>
        </p:txBody>
      </p:sp>
      <p:sp>
        <p:nvSpPr>
          <p:cNvPr id="13" name="tds-fig:FIG006/obj-alternative/callout"/>
          <p:cNvSpPr/>
          <p:nvPr/>
        </p:nvSpPr>
        <p:spPr>
          <a:xfrm>
            <a:off x="7075170" y="4503420"/>
            <a:ext cx="1905952" cy="402336"/>
          </a:xfrm>
          <a:prstGeom prst="rect">
            <a:avLst/>
          </a:prstGeom>
          <a:solidFill>
            <a:srgbClr val="FFF4CC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ds-fig:FIG006/obj-alt-label/annotation"/>
          <p:cNvSpPr txBox="1"/>
          <p:nvPr/>
        </p:nvSpPr>
        <p:spPr>
          <a:xfrm>
            <a:off x="7178754" y="4488789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alternative / uncertainty retained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2-EXPERIMENT-DESIGN-06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700"/>
              <a:t>H002｜Results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tds-composition-text:S-H002-EXPERIMENT-DESIGN-06"/>
          <p:cNvSpPr txBox="1"/>
          <p:nvPr/>
        </p:nvSpPr>
        <p:spPr>
          <a:xfrm>
            <a:off x="640080" y="1325880"/>
            <a:ext cx="37947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高壓條件 CV 下降 38% ± 7% SD，contact resistance 同步下降</a:t>
            </a:r>
          </a:p>
          <a:p/>
          <a:p>
            <a:r>
              <a:rPr sz="1800"/>
              <a:t>signal CV decrease: 38 ± 7 SD (%)</a:t>
            </a:r>
          </a:p>
          <a:p/>
          <a:p>
            <a:r>
              <a:rPr sz="1800"/>
              <a:t>contact resistance: 同步下降</a:t>
            </a:r>
          </a:p>
        </p:txBody>
      </p:sp>
      <p:sp>
        <p:nvSpPr>
          <p:cNvPr id="8" name="tds-fig:FIG008/obj-canvas/panel"/>
          <p:cNvSpPr/>
          <p:nvPr/>
        </p:nvSpPr>
        <p:spPr>
          <a:xfrm>
            <a:off x="4879181" y="1385316"/>
            <a:ext cx="6132195" cy="4224528"/>
          </a:xfrm>
          <a:prstGeom prst="rect">
            <a:avLst/>
          </a:prstGeom>
          <a:solidFill>
            <a:srgbClr val="F8F8F8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ds-fig:FIG008/obj-title/title"/>
          <p:cNvSpPr txBox="1"/>
          <p:nvPr/>
        </p:nvSpPr>
        <p:spPr>
          <a:xfrm>
            <a:off x="5086350" y="1456182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latin typeface="Arial"/>
              </a:rPr>
              <a:t>Fair Comparison / 比較</a:t>
            </a:r>
          </a:p>
        </p:txBody>
      </p:sp>
      <p:sp>
        <p:nvSpPr>
          <p:cNvPr id="10" name="tds-fig:FIG008/obj-panel-control/panel"/>
          <p:cNvSpPr/>
          <p:nvPr/>
        </p:nvSpPr>
        <p:spPr>
          <a:xfrm>
            <a:off x="5169217" y="2290572"/>
            <a:ext cx="2776061" cy="2514600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ds-fig:FIG008/obj-side-control/control"/>
          <p:cNvSpPr txBox="1"/>
          <p:nvPr/>
        </p:nvSpPr>
        <p:spPr>
          <a:xfrm>
            <a:off x="5334952" y="2361438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Arial"/>
              </a:rPr>
              <a:t>Control</a:t>
            </a:r>
          </a:p>
        </p:txBody>
      </p:sp>
      <p:cxnSp>
        <p:nvCxnSpPr>
          <p:cNvPr id="12" name="tds-fig:FIG008/obj-metric-control-0/connector"/>
          <p:cNvCxnSpPr/>
          <p:nvPr/>
        </p:nvCxnSpPr>
        <p:spPr>
          <a:xfrm>
            <a:off x="5334952" y="3145536"/>
            <a:ext cx="2444591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ds-fig:FIG008/obj-metric-label-control-0/label"/>
          <p:cNvSpPr txBox="1"/>
          <p:nvPr/>
        </p:nvSpPr>
        <p:spPr>
          <a:xfrm>
            <a:off x="5542121" y="2809036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signal CV decrease (%) · same scale</a:t>
            </a:r>
          </a:p>
        </p:txBody>
      </p:sp>
      <p:sp>
        <p:nvSpPr>
          <p:cNvPr id="14" name="tds-fig:FIG008/obj-panel-proposed/panel"/>
          <p:cNvSpPr/>
          <p:nvPr/>
        </p:nvSpPr>
        <p:spPr>
          <a:xfrm>
            <a:off x="8069579" y="2290572"/>
            <a:ext cx="2776061" cy="2514600"/>
          </a:xfrm>
          <a:prstGeom prst="rect">
            <a:avLst/>
          </a:prstGeom>
          <a:solidFill>
            <a:srgbClr val="F4F4F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ds-fig:FIG008/obj-side-proposed/proposed"/>
          <p:cNvSpPr txBox="1"/>
          <p:nvPr/>
        </p:nvSpPr>
        <p:spPr>
          <a:xfrm>
            <a:off x="8235315" y="2361438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latin typeface="Arial"/>
              </a:rPr>
              <a:t>Proposed</a:t>
            </a:r>
          </a:p>
        </p:txBody>
      </p:sp>
      <p:cxnSp>
        <p:nvCxnSpPr>
          <p:cNvPr id="16" name="tds-fig:FIG008/obj-metric-proposed-0/connector"/>
          <p:cNvCxnSpPr/>
          <p:nvPr/>
        </p:nvCxnSpPr>
        <p:spPr>
          <a:xfrm>
            <a:off x="8235315" y="3145536"/>
            <a:ext cx="2444591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ds-fig:FIG008/obj-metric-label-proposed-0/label"/>
          <p:cNvSpPr txBox="1"/>
          <p:nvPr/>
        </p:nvSpPr>
        <p:spPr>
          <a:xfrm>
            <a:off x="8442483" y="2809036"/>
            <a:ext cx="294179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signal CV decrease (%) · same scale</a:t>
            </a:r>
          </a:p>
        </p:txBody>
      </p:sp>
      <p:sp>
        <p:nvSpPr>
          <p:cNvPr id="18" name="tds-fig:FIG008/obj-normalization/annotation"/>
          <p:cNvSpPr txBox="1"/>
          <p:nvPr/>
        </p:nvSpPr>
        <p:spPr>
          <a:xfrm>
            <a:off x="7323772" y="4951476"/>
            <a:ext cx="298323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latin typeface="Arial"/>
              </a:rPr>
              <a:t>same scale · same normalization · matched area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ds-title:S-H002-LAYER-SUMMARY-DECISION-09"/>
          <p:cNvSpPr>
            <a:spLocks noGrp="1"/>
          </p:cNvSpPr>
          <p:nvPr>
            <p:ph type="title"/>
          </p:nvPr>
        </p:nvSpPr>
        <p:spPr>
          <a:xfrm>
            <a:off x="502920" y="201168"/>
            <a:ext cx="11109960" cy="685800"/>
          </a:xfrm>
        </p:spPr>
        <p:txBody>
          <a:bodyPr lIns="0" rIns="0" tIns="0" bIns="0"/>
          <a:lstStyle/>
          <a:p>
            <a:r>
              <a:rPr sz="2200"/>
              <a:t>H002｜Layer Summary / Decision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ds-composition-text:S-H002-LAYER-SUMMARY-DECISION-09"/>
          <p:cNvSpPr txBox="1"/>
          <p:nvPr/>
        </p:nvSpPr>
        <p:spPr>
          <a:xfrm>
            <a:off x="640080" y="1325880"/>
            <a:ext cx="108356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Support｜RES201</a:t>
            </a:r>
          </a:p>
          <a:p/>
          <a:p>
            <a:r>
              <a:rPr sz="1800"/>
              <a:t>Cross-experiment pattern｜匹配導電度後，提高接觸壓力明顯降低變異。</a:t>
            </a:r>
          </a:p>
          <a:p/>
          <a:p>
            <a:r>
              <a:rPr sz="1800"/>
              <a:t>Mechanism assessment｜contact resistance 在低壓條件下主導不穩定。</a:t>
            </a:r>
          </a:p>
          <a:p/>
          <a:p>
            <a:r>
              <a:rPr sz="1800"/>
              <a:t>Alternatives｜電極幾何仍可能調節壓力分布</a:t>
            </a:r>
          </a:p>
          <a:p/>
          <a:p>
            <a:r>
              <a:rPr sz="1800"/>
              <a:t>Uncertainty｜高壓長期循環是否造成新的 wear mechanism 尚未知。</a:t>
            </a:r>
          </a:p>
          <a:p/>
          <a:p>
            <a:r>
              <a:rPr sz="1800"/>
              <a:t>Unresolved｜高壓循環的耐久性與 wear 尚未測試。</a:t>
            </a:r>
          </a:p>
          <a:p/>
          <a:p>
            <a:r>
              <a:rPr sz="1800"/>
              <a:t>Answer｜低接觸壓力下 contact resistance 是主導不穩定來源。</a:t>
            </a:r>
          </a:p>
          <a:p/>
          <a:p>
            <a:r>
              <a:rPr sz="1800"/>
              <a:t>Status｜supported</a:t>
            </a:r>
          </a:p>
          <a:p/>
          <a:p>
            <a:r>
              <a:rPr sz="1800"/>
              <a:t>Decision｜Go; Contact-pressure control discriminates the interface mechanism.</a:t>
            </a:r>
          </a:p>
          <a:p/>
          <a:p>
            <a:r>
              <a:rPr sz="1800"/>
              <a:t>Next question｜接觸壓力改善能否在長期循環下維持？</a:t>
            </a:r>
          </a:p>
          <a:p/>
          <a:p>
            <a:r>
              <a:rPr sz="1800"/>
              <a:t>Next step｜NS201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