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Synthetic Native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Redistributable test fixture — not laboratory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Representative content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Native title/content placeholders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ds-fig:FIG002/obj-canvas/panel"/>
          <p:cNvSpPr/>
          <p:nvPr/>
        </p:nvSpPr>
        <p:spPr>
          <a:xfrm>
            <a:off x="932973" y="1426463"/>
            <a:ext cx="10341292" cy="409651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ds-fig:FIG002/obj-title/title"/>
          <p:cNvSpPr txBox="1"/>
          <p:nvPr/>
        </p:nvSpPr>
        <p:spPr>
          <a:xfrm>
            <a:off x="1268730" y="1487423"/>
            <a:ext cx="483489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>
                <a:latin typeface="Arial"/>
              </a:rPr>
              <a:t>Fishbone / 研究地圖</a:t>
            </a:r>
          </a:p>
        </p:txBody>
      </p:sp>
      <p:cxnSp>
        <p:nvCxnSpPr>
          <p:cNvPr id="6" name="tds-fig:FIG002/obj-spine/spine"/>
          <p:cNvCxnSpPr/>
          <p:nvPr/>
        </p:nvCxnSpPr>
        <p:spPr>
          <a:xfrm>
            <a:off x="1940242" y="3474720"/>
            <a:ext cx="832675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ds-fig:FIG002/obj-br001/node"/>
          <p:cNvSpPr/>
          <p:nvPr/>
        </p:nvSpPr>
        <p:spPr>
          <a:xfrm>
            <a:off x="1805939" y="2070201"/>
            <a:ext cx="1074419" cy="2731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tds-fig:FIG002/obj-edge-br002/branch"/>
          <p:cNvCxnSpPr/>
          <p:nvPr/>
        </p:nvCxnSpPr>
        <p:spPr>
          <a:xfrm>
            <a:off x="2343150" y="2206752"/>
            <a:ext cx="7520940" cy="8778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ds-fig:FIG002/obj-br002/node"/>
          <p:cNvSpPr/>
          <p:nvPr/>
        </p:nvSpPr>
        <p:spPr>
          <a:xfrm>
            <a:off x="9326880" y="2948025"/>
            <a:ext cx="1074419" cy="2731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tds-fig:FIG002/obj-edge-br003/branch"/>
          <p:cNvCxnSpPr/>
          <p:nvPr/>
        </p:nvCxnSpPr>
        <p:spPr>
          <a:xfrm>
            <a:off x="2343150" y="2206752"/>
            <a:ext cx="7520940" cy="175564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ds-fig:FIG002/obj-br003/node"/>
          <p:cNvSpPr/>
          <p:nvPr/>
        </p:nvSpPr>
        <p:spPr>
          <a:xfrm>
            <a:off x="9326880" y="3825849"/>
            <a:ext cx="1074419" cy="2731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tds-fig:FIG002/obj-edge-br004/branch"/>
          <p:cNvCxnSpPr/>
          <p:nvPr/>
        </p:nvCxnSpPr>
        <p:spPr>
          <a:xfrm>
            <a:off x="2343150" y="2206752"/>
            <a:ext cx="7520940" cy="26334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ds-fig:FIG002/obj-br004/node"/>
          <p:cNvSpPr/>
          <p:nvPr/>
        </p:nvSpPr>
        <p:spPr>
          <a:xfrm>
            <a:off x="9326880" y="4703673"/>
            <a:ext cx="1074419" cy="2731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ds-fig:FIG002/obj-label-br001/label"/>
          <p:cNvSpPr txBox="1"/>
          <p:nvPr/>
        </p:nvSpPr>
        <p:spPr>
          <a:xfrm>
            <a:off x="1906666" y="1979980"/>
            <a:ext cx="483489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latin typeface="Arial"/>
              </a:rPr>
              <a:t>Root [completed]</a:t>
            </a:r>
          </a:p>
        </p:txBody>
      </p:sp>
      <p:sp>
        <p:nvSpPr>
          <p:cNvPr id="15" name="tds-fig:FIG002/obj-label-br002/label"/>
          <p:cNvSpPr txBox="1"/>
          <p:nvPr/>
        </p:nvSpPr>
        <p:spPr>
          <a:xfrm>
            <a:off x="9427606" y="2857804"/>
            <a:ext cx="483489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latin typeface="Arial"/>
              </a:rPr>
              <a:t>Contact [partial]</a:t>
            </a:r>
          </a:p>
        </p:txBody>
      </p:sp>
      <p:sp>
        <p:nvSpPr>
          <p:cNvPr id="16" name="tds-fig:FIG002/obj-label-br003/label"/>
          <p:cNvSpPr txBox="1"/>
          <p:nvPr/>
        </p:nvSpPr>
        <p:spPr>
          <a:xfrm>
            <a:off x="9427606" y="3735628"/>
            <a:ext cx="483489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latin typeface="Arial"/>
              </a:rPr>
              <a:t>Future [future]</a:t>
            </a:r>
          </a:p>
        </p:txBody>
      </p:sp>
      <p:sp>
        <p:nvSpPr>
          <p:cNvPr id="17" name="tds-fig:FIG002/obj-label-br004/label"/>
          <p:cNvSpPr txBox="1"/>
          <p:nvPr/>
        </p:nvSpPr>
        <p:spPr>
          <a:xfrm>
            <a:off x="9427606" y="4613452"/>
            <a:ext cx="483489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latin typeface="Arial"/>
              </a:rPr>
              <a:t>Failed [failed]</a:t>
            </a:r>
          </a:p>
        </p:txBody>
      </p:sp>
      <p:sp>
        <p:nvSpPr>
          <p:cNvPr id="18" name="tds-fig:FIG002/obj-revision/annotation"/>
          <p:cNvSpPr txBox="1"/>
          <p:nvPr/>
        </p:nvSpPr>
        <p:spPr>
          <a:xfrm>
            <a:off x="1268730" y="5096256"/>
            <a:ext cx="483489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latin typeface="Arial"/>
              </a:rPr>
              <a:t>Revision FB001-R001 · current focus highlighted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ds-fig:FIG006/obj-canvas/panel"/>
          <p:cNvSpPr/>
          <p:nvPr/>
        </p:nvSpPr>
        <p:spPr>
          <a:xfrm>
            <a:off x="932973" y="1426463"/>
            <a:ext cx="9938384" cy="409651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ds-fig:FIG006/obj-title/title"/>
          <p:cNvSpPr txBox="1"/>
          <p:nvPr/>
        </p:nvSpPr>
        <p:spPr>
          <a:xfrm>
            <a:off x="1268730" y="1487423"/>
            <a:ext cx="483489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>
                <a:latin typeface="Arial"/>
              </a:rPr>
              <a:t>Mechanism / 機制</a:t>
            </a:r>
          </a:p>
        </p:txBody>
      </p:sp>
      <p:sp>
        <p:nvSpPr>
          <p:cNvPr id="6" name="tds-fig:FIG006/obj-n001/node"/>
          <p:cNvSpPr/>
          <p:nvPr/>
        </p:nvSpPr>
        <p:spPr>
          <a:xfrm>
            <a:off x="2544603" y="3035808"/>
            <a:ext cx="1745932" cy="58521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ds-fig:FIG006/obj-label-n001/label"/>
          <p:cNvSpPr txBox="1"/>
          <p:nvPr/>
        </p:nvSpPr>
        <p:spPr>
          <a:xfrm>
            <a:off x="2947511" y="3101644"/>
            <a:ext cx="483489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latin typeface="Arial"/>
              </a:rPr>
              <a:t>Input</a:t>
            </a:r>
          </a:p>
        </p:txBody>
      </p:sp>
      <p:sp>
        <p:nvSpPr>
          <p:cNvPr id="8" name="tds-fig:FIG006/obj-n002/node"/>
          <p:cNvSpPr/>
          <p:nvPr/>
        </p:nvSpPr>
        <p:spPr>
          <a:xfrm>
            <a:off x="6036468" y="3035808"/>
            <a:ext cx="1745932" cy="58521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ds-fig:FIG006/obj-label-n002/label"/>
          <p:cNvSpPr txBox="1"/>
          <p:nvPr/>
        </p:nvSpPr>
        <p:spPr>
          <a:xfrm>
            <a:off x="6439376" y="3101644"/>
            <a:ext cx="483489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latin typeface="Arial"/>
              </a:rPr>
              <a:t>Unknown</a:t>
            </a:r>
          </a:p>
        </p:txBody>
      </p:sp>
      <p:cxnSp>
        <p:nvCxnSpPr>
          <p:cNvPr id="10" name="tds-fig:FIG006/obj-causal-0/connector"/>
          <p:cNvCxnSpPr/>
          <p:nvPr/>
        </p:nvCxnSpPr>
        <p:spPr>
          <a:xfrm>
            <a:off x="4290536" y="3328415"/>
            <a:ext cx="174593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ds-fig:FIG006/obj-state-0/annotation"/>
          <p:cNvSpPr txBox="1"/>
          <p:nvPr/>
        </p:nvSpPr>
        <p:spPr>
          <a:xfrm>
            <a:off x="4928473" y="2916326"/>
            <a:ext cx="483489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latin typeface="Arial"/>
              </a:rPr>
              <a:t>uncertain</a:t>
            </a:r>
          </a:p>
        </p:txBody>
      </p:sp>
      <p:sp>
        <p:nvSpPr>
          <p:cNvPr id="12" name="tds-fig:FIG006/obj-alternative/callout"/>
          <p:cNvSpPr/>
          <p:nvPr/>
        </p:nvSpPr>
        <p:spPr>
          <a:xfrm>
            <a:off x="4491990" y="4450080"/>
            <a:ext cx="3088957" cy="3901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ds-fig:FIG006/obj-alt-label/annotation"/>
          <p:cNvSpPr txBox="1"/>
          <p:nvPr/>
        </p:nvSpPr>
        <p:spPr>
          <a:xfrm>
            <a:off x="4659868" y="4428134"/>
            <a:ext cx="483489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latin typeface="Arial"/>
              </a:rPr>
              <a:t>alternative / uncertainty retained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ds-fig:FIG007/obj-canvas/panel"/>
          <p:cNvSpPr/>
          <p:nvPr/>
        </p:nvSpPr>
        <p:spPr>
          <a:xfrm>
            <a:off x="932973" y="1426463"/>
            <a:ext cx="10341292" cy="409651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ds-fig:FIG007/obj-title/title"/>
          <p:cNvSpPr txBox="1"/>
          <p:nvPr/>
        </p:nvSpPr>
        <p:spPr>
          <a:xfrm>
            <a:off x="1268730" y="1487423"/>
            <a:ext cx="483489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>
                <a:latin typeface="Arial"/>
              </a:rPr>
              <a:t>Experiment / 實驗</a:t>
            </a:r>
          </a:p>
        </p:txBody>
      </p:sp>
      <p:sp>
        <p:nvSpPr>
          <p:cNvPr id="6" name="tds-fig:FIG007/obj-sample-0/sample"/>
          <p:cNvSpPr/>
          <p:nvPr/>
        </p:nvSpPr>
        <p:spPr>
          <a:xfrm>
            <a:off x="1201578" y="2206752"/>
            <a:ext cx="1343025" cy="43891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ds-fig:FIG007/obj-label-sample-0/label"/>
          <p:cNvSpPr txBox="1"/>
          <p:nvPr/>
        </p:nvSpPr>
        <p:spPr>
          <a:xfrm>
            <a:off x="1403032" y="2199436"/>
            <a:ext cx="483489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latin typeface="Arial"/>
              </a:rPr>
              <a:t>sample</a:t>
            </a:r>
          </a:p>
        </p:txBody>
      </p:sp>
      <p:sp>
        <p:nvSpPr>
          <p:cNvPr id="8" name="tds-fig:FIG007/obj-control-1/node"/>
          <p:cNvSpPr/>
          <p:nvPr/>
        </p:nvSpPr>
        <p:spPr>
          <a:xfrm>
            <a:off x="2846784" y="2206752"/>
            <a:ext cx="1343025" cy="43891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ds-fig:FIG007/obj-label-control-1/label"/>
          <p:cNvSpPr txBox="1"/>
          <p:nvPr/>
        </p:nvSpPr>
        <p:spPr>
          <a:xfrm>
            <a:off x="3048238" y="2199436"/>
            <a:ext cx="483489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latin typeface="Arial"/>
              </a:rPr>
              <a:t>baseline</a:t>
            </a:r>
          </a:p>
        </p:txBody>
      </p:sp>
      <p:sp>
        <p:nvSpPr>
          <p:cNvPr id="10" name="tds-fig:FIG007/obj-instrument-2/instrument"/>
          <p:cNvSpPr/>
          <p:nvPr/>
        </p:nvSpPr>
        <p:spPr>
          <a:xfrm>
            <a:off x="4491990" y="2206752"/>
            <a:ext cx="1343025" cy="43891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ds-fig:FIG007/obj-label-instrument-2/label"/>
          <p:cNvSpPr txBox="1"/>
          <p:nvPr/>
        </p:nvSpPr>
        <p:spPr>
          <a:xfrm>
            <a:off x="4693443" y="2199436"/>
            <a:ext cx="483489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latin typeface="Arial"/>
              </a:rPr>
              <a:t>instrument</a:t>
            </a:r>
          </a:p>
        </p:txBody>
      </p:sp>
      <p:sp>
        <p:nvSpPr>
          <p:cNvPr id="12" name="tds-fig:FIG007/obj-interface-3/interface"/>
          <p:cNvSpPr/>
          <p:nvPr/>
        </p:nvSpPr>
        <p:spPr>
          <a:xfrm>
            <a:off x="6137195" y="2206752"/>
            <a:ext cx="1343025" cy="43891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ds-fig:FIG007/obj-label-interface-3/label"/>
          <p:cNvSpPr txBox="1"/>
          <p:nvPr/>
        </p:nvSpPr>
        <p:spPr>
          <a:xfrm>
            <a:off x="6338649" y="2199436"/>
            <a:ext cx="483489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latin typeface="Arial"/>
              </a:rPr>
              <a:t>probe</a:t>
            </a:r>
          </a:p>
        </p:txBody>
      </p:sp>
      <p:sp>
        <p:nvSpPr>
          <p:cNvPr id="14" name="tds-fig:FIG007/obj-input-4/node"/>
          <p:cNvSpPr/>
          <p:nvPr/>
        </p:nvSpPr>
        <p:spPr>
          <a:xfrm>
            <a:off x="7782401" y="2206752"/>
            <a:ext cx="1343025" cy="43891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ds-fig:FIG007/obj-label-input-4/label"/>
          <p:cNvSpPr txBox="1"/>
          <p:nvPr/>
        </p:nvSpPr>
        <p:spPr>
          <a:xfrm>
            <a:off x="7983854" y="2199436"/>
            <a:ext cx="483489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latin typeface="Arial"/>
              </a:rPr>
              <a:t>signal</a:t>
            </a:r>
          </a:p>
        </p:txBody>
      </p:sp>
      <p:sp>
        <p:nvSpPr>
          <p:cNvPr id="16" name="tds-fig:FIG007/obj-output-5/output"/>
          <p:cNvSpPr/>
          <p:nvPr/>
        </p:nvSpPr>
        <p:spPr>
          <a:xfrm>
            <a:off x="9427606" y="2206752"/>
            <a:ext cx="1343025" cy="43891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ds-fig:FIG007/obj-label-output-5/label"/>
          <p:cNvSpPr txBox="1"/>
          <p:nvPr/>
        </p:nvSpPr>
        <p:spPr>
          <a:xfrm>
            <a:off x="9629060" y="2199436"/>
            <a:ext cx="483489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latin typeface="Arial"/>
              </a:rPr>
              <a:t>measurement</a:t>
            </a:r>
          </a:p>
        </p:txBody>
      </p:sp>
      <p:cxnSp>
        <p:nvCxnSpPr>
          <p:cNvPr id="18" name="tds-fig:FIG007/obj-path-0-0/flow"/>
          <p:cNvCxnSpPr/>
          <p:nvPr/>
        </p:nvCxnSpPr>
        <p:spPr>
          <a:xfrm flipH="1">
            <a:off x="1201578" y="2426208"/>
            <a:ext cx="792384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tds-fig:FIG007/obj-path-1-0/flow"/>
          <p:cNvCxnSpPr/>
          <p:nvPr/>
        </p:nvCxnSpPr>
        <p:spPr>
          <a:xfrm>
            <a:off x="2544603" y="2426208"/>
            <a:ext cx="194738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tds-fig:FIG007/obj-path-2-0/flow"/>
          <p:cNvCxnSpPr/>
          <p:nvPr/>
        </p:nvCxnSpPr>
        <p:spPr>
          <a:xfrm>
            <a:off x="5835015" y="2426208"/>
            <a:ext cx="3021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tds-fig:FIG007/obj-path-3-0/flow"/>
          <p:cNvCxnSpPr/>
          <p:nvPr/>
        </p:nvCxnSpPr>
        <p:spPr>
          <a:xfrm>
            <a:off x="7480220" y="2426208"/>
            <a:ext cx="194738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tds-fig:FIG007/obj-path-4-0/flow"/>
          <p:cNvCxnSpPr/>
          <p:nvPr/>
        </p:nvCxnSpPr>
        <p:spPr>
          <a:xfrm flipH="1">
            <a:off x="1201578" y="2426208"/>
            <a:ext cx="298823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ds-fig:FIG003/obj-canvas/panel"/>
          <p:cNvSpPr/>
          <p:nvPr/>
        </p:nvSpPr>
        <p:spPr>
          <a:xfrm>
            <a:off x="932973" y="1426463"/>
            <a:ext cx="10341292" cy="409651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ds-fig:FIG003/obj-title/title"/>
          <p:cNvSpPr txBox="1"/>
          <p:nvPr/>
        </p:nvSpPr>
        <p:spPr>
          <a:xfrm>
            <a:off x="1268730" y="1487423"/>
            <a:ext cx="483489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>
                <a:latin typeface="Arial"/>
              </a:rPr>
              <a:t>Fabrication / 製程</a:t>
            </a:r>
          </a:p>
        </p:txBody>
      </p:sp>
      <p:sp>
        <p:nvSpPr>
          <p:cNvPr id="6" name="tds-fig:FIG003/obj-step-1/process_step"/>
          <p:cNvSpPr/>
          <p:nvPr/>
        </p:nvSpPr>
        <p:spPr>
          <a:xfrm>
            <a:off x="1805939" y="2889504"/>
            <a:ext cx="2551747" cy="8290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ds-fig:FIG003/obj-state-1/material_state"/>
          <p:cNvSpPr txBox="1"/>
          <p:nvPr/>
        </p:nvSpPr>
        <p:spPr>
          <a:xfrm>
            <a:off x="2074544" y="2926080"/>
            <a:ext cx="483489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latin typeface="Arial"/>
              </a:rPr>
              <a:t>state: mixture</a:t>
            </a:r>
          </a:p>
        </p:txBody>
      </p:sp>
      <p:sp>
        <p:nvSpPr>
          <p:cNvPr id="8" name="tds-fig:FIG003/obj-condition-1/annotation"/>
          <p:cNvSpPr txBox="1"/>
          <p:nvPr/>
        </p:nvSpPr>
        <p:spPr>
          <a:xfrm>
            <a:off x="2074544" y="3145535"/>
            <a:ext cx="483489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latin typeface="Arial"/>
              </a:rPr>
              <a:t>T: UNKNOWN · t: UNKNOWN</a:t>
            </a:r>
          </a:p>
        </p:txBody>
      </p:sp>
      <p:sp>
        <p:nvSpPr>
          <p:cNvPr id="9" name="tds-fig:FIG003/obj-step-2/process_step"/>
          <p:cNvSpPr/>
          <p:nvPr/>
        </p:nvSpPr>
        <p:spPr>
          <a:xfrm>
            <a:off x="6170771" y="2889504"/>
            <a:ext cx="2551747" cy="8290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ds-fig:FIG003/obj-state-2/material_state"/>
          <p:cNvSpPr txBox="1"/>
          <p:nvPr/>
        </p:nvSpPr>
        <p:spPr>
          <a:xfrm>
            <a:off x="6439376" y="2926080"/>
            <a:ext cx="483489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latin typeface="Arial"/>
              </a:rPr>
              <a:t>state: gel</a:t>
            </a:r>
          </a:p>
        </p:txBody>
      </p:sp>
      <p:sp>
        <p:nvSpPr>
          <p:cNvPr id="11" name="tds-fig:FIG003/obj-condition-2/annotation"/>
          <p:cNvSpPr txBox="1"/>
          <p:nvPr/>
        </p:nvSpPr>
        <p:spPr>
          <a:xfrm>
            <a:off x="6439376" y="3145535"/>
            <a:ext cx="483489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latin typeface="Arial"/>
              </a:rPr>
              <a:t>T: UNKNOWN · t: UNKNOWN</a:t>
            </a:r>
          </a:p>
        </p:txBody>
      </p:sp>
      <p:cxnSp>
        <p:nvCxnSpPr>
          <p:cNvPr id="12" name="tds-fig:FIG003/obj-transition-2/flow"/>
          <p:cNvCxnSpPr/>
          <p:nvPr/>
        </p:nvCxnSpPr>
        <p:spPr>
          <a:xfrm>
            <a:off x="4357687" y="3304032"/>
            <a:ext cx="181308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ds-fig:FIG008/obj-canvas/panel"/>
          <p:cNvSpPr/>
          <p:nvPr/>
        </p:nvSpPr>
        <p:spPr>
          <a:xfrm>
            <a:off x="932973" y="1426463"/>
            <a:ext cx="9938384" cy="409651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ds-fig:FIG008/obj-title/title"/>
          <p:cNvSpPr txBox="1"/>
          <p:nvPr/>
        </p:nvSpPr>
        <p:spPr>
          <a:xfrm>
            <a:off x="1268730" y="1487423"/>
            <a:ext cx="483489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>
                <a:latin typeface="Arial"/>
              </a:rPr>
              <a:t>Fair Comparison / 比較</a:t>
            </a:r>
          </a:p>
        </p:txBody>
      </p:sp>
      <p:sp>
        <p:nvSpPr>
          <p:cNvPr id="6" name="tds-fig:FIG008/obj-panel-control/panel"/>
          <p:cNvSpPr/>
          <p:nvPr/>
        </p:nvSpPr>
        <p:spPr>
          <a:xfrm>
            <a:off x="1403032" y="2304287"/>
            <a:ext cx="4499133" cy="2438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ds-fig:FIG008/obj-side-control/control"/>
          <p:cNvSpPr txBox="1"/>
          <p:nvPr/>
        </p:nvSpPr>
        <p:spPr>
          <a:xfrm>
            <a:off x="1671637" y="2365247"/>
            <a:ext cx="483489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Arial"/>
              </a:rPr>
              <a:t>Control</a:t>
            </a:r>
          </a:p>
        </p:txBody>
      </p:sp>
      <p:cxnSp>
        <p:nvCxnSpPr>
          <p:cNvPr id="8" name="tds-fig:FIG008/obj-metric-control-0/connector"/>
          <p:cNvCxnSpPr/>
          <p:nvPr/>
        </p:nvCxnSpPr>
        <p:spPr>
          <a:xfrm>
            <a:off x="1671637" y="3133343"/>
            <a:ext cx="396192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ds-fig:FIG008/obj-metric-label-control-0/label"/>
          <p:cNvSpPr txBox="1"/>
          <p:nvPr/>
        </p:nvSpPr>
        <p:spPr>
          <a:xfrm>
            <a:off x="2007393" y="2799283"/>
            <a:ext cx="483489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latin typeface="Arial"/>
              </a:rPr>
              <a:t>metric · same scale</a:t>
            </a:r>
          </a:p>
        </p:txBody>
      </p:sp>
      <p:sp>
        <p:nvSpPr>
          <p:cNvPr id="10" name="tds-fig:FIG008/obj-panel-proposed/panel"/>
          <p:cNvSpPr/>
          <p:nvPr/>
        </p:nvSpPr>
        <p:spPr>
          <a:xfrm>
            <a:off x="6103620" y="2304287"/>
            <a:ext cx="4499133" cy="2438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ds-fig:FIG008/obj-side-proposed/proposed"/>
          <p:cNvSpPr txBox="1"/>
          <p:nvPr/>
        </p:nvSpPr>
        <p:spPr>
          <a:xfrm>
            <a:off x="6372224" y="2365247"/>
            <a:ext cx="483489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Arial"/>
              </a:rPr>
              <a:t>Proposed</a:t>
            </a:r>
          </a:p>
        </p:txBody>
      </p:sp>
      <p:cxnSp>
        <p:nvCxnSpPr>
          <p:cNvPr id="12" name="tds-fig:FIG008/obj-metric-proposed-0/connector"/>
          <p:cNvCxnSpPr/>
          <p:nvPr/>
        </p:nvCxnSpPr>
        <p:spPr>
          <a:xfrm>
            <a:off x="6372224" y="3133343"/>
            <a:ext cx="396192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ds-fig:FIG008/obj-metric-label-proposed-0/label"/>
          <p:cNvSpPr txBox="1"/>
          <p:nvPr/>
        </p:nvSpPr>
        <p:spPr>
          <a:xfrm>
            <a:off x="6707981" y="2799283"/>
            <a:ext cx="483489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latin typeface="Arial"/>
              </a:rPr>
              <a:t>metric · same scale</a:t>
            </a:r>
          </a:p>
        </p:txBody>
      </p:sp>
      <p:sp>
        <p:nvSpPr>
          <p:cNvPr id="14" name="tds-fig:FIG008/obj-normalization/annotation"/>
          <p:cNvSpPr txBox="1"/>
          <p:nvPr/>
        </p:nvSpPr>
        <p:spPr>
          <a:xfrm>
            <a:off x="4894897" y="4876800"/>
            <a:ext cx="483489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latin typeface="Arial"/>
              </a:rPr>
              <a:t>same scale · same normalization · matched area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ds-fig:FIG001/obj-canvas/panel"/>
          <p:cNvSpPr/>
          <p:nvPr/>
        </p:nvSpPr>
        <p:spPr>
          <a:xfrm>
            <a:off x="932973" y="1426463"/>
            <a:ext cx="9938384" cy="409651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ds-fig:FIG001/obj-title/title"/>
          <p:cNvSpPr txBox="1"/>
          <p:nvPr/>
        </p:nvSpPr>
        <p:spPr>
          <a:xfrm>
            <a:off x="1268730" y="1487423"/>
            <a:ext cx="483489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>
                <a:latin typeface="Calibri"/>
              </a:rPr>
              <a:t>Synthetic Quantitative Plot</a:t>
            </a:r>
          </a:p>
        </p:txBody>
      </p:sp>
      <p:cxnSp>
        <p:nvCxnSpPr>
          <p:cNvPr id="6" name="tds-fig:FIG001/obj-x-axis/axis"/>
          <p:cNvCxnSpPr/>
          <p:nvPr/>
        </p:nvCxnSpPr>
        <p:spPr>
          <a:xfrm>
            <a:off x="2208847" y="4693920"/>
            <a:ext cx="778954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tds-fig:FIG001/obj-y-axis/axis"/>
          <p:cNvCxnSpPr/>
          <p:nvPr/>
        </p:nvCxnSpPr>
        <p:spPr>
          <a:xfrm flipV="1">
            <a:off x="2208847" y="2206752"/>
            <a:ext cx="0" cy="24871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ds-fig:FIG001/obj-x-label/label"/>
          <p:cNvSpPr txBox="1"/>
          <p:nvPr/>
        </p:nvSpPr>
        <p:spPr>
          <a:xfrm>
            <a:off x="8655367" y="4681728"/>
            <a:ext cx="483489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latin typeface="Arial"/>
              </a:rPr>
              <a:t>time / synthetic</a:t>
            </a:r>
          </a:p>
        </p:txBody>
      </p:sp>
      <p:sp>
        <p:nvSpPr>
          <p:cNvPr id="9" name="tds-fig:FIG001/obj-y-label/label"/>
          <p:cNvSpPr txBox="1"/>
          <p:nvPr/>
        </p:nvSpPr>
        <p:spPr>
          <a:xfrm>
            <a:off x="1470183" y="1999487"/>
            <a:ext cx="483489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latin typeface="Arial"/>
              </a:rPr>
              <a:t>response / synthetic</a:t>
            </a:r>
          </a:p>
        </p:txBody>
      </p:sp>
      <p:sp>
        <p:nvSpPr>
          <p:cNvPr id="10" name="tds-fig:FIG001/obj-y-domain/annotation"/>
          <p:cNvSpPr txBox="1"/>
          <p:nvPr/>
        </p:nvSpPr>
        <p:spPr>
          <a:xfrm>
            <a:off x="2275998" y="1901952"/>
            <a:ext cx="483489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latin typeface="Arial"/>
              </a:rPr>
              <a:t>1–2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ds-fig:FIG009/obj-canvas/panel"/>
          <p:cNvSpPr/>
          <p:nvPr/>
        </p:nvSpPr>
        <p:spPr>
          <a:xfrm>
            <a:off x="932973" y="1426463"/>
            <a:ext cx="9938384" cy="409651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ds-fig:FIG009/obj-title/title"/>
          <p:cNvSpPr txBox="1"/>
          <p:nvPr/>
        </p:nvSpPr>
        <p:spPr>
          <a:xfrm>
            <a:off x="1268730" y="1487423"/>
            <a:ext cx="483489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>
                <a:latin typeface="Calibri"/>
              </a:rPr>
              <a:t>Synthetic Image Matrix</a:t>
            </a:r>
          </a:p>
        </p:txBody>
      </p:sp>
      <p:sp>
        <p:nvSpPr>
          <p:cNvPr id="6" name="tds-fig:FIG009/obj-panel-0/panel"/>
          <p:cNvSpPr/>
          <p:nvPr/>
        </p:nvSpPr>
        <p:spPr>
          <a:xfrm>
            <a:off x="2208847" y="2304287"/>
            <a:ext cx="3357562" cy="87782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ds-fig:FIG009/obj-label-0/panel_label"/>
          <p:cNvSpPr txBox="1"/>
          <p:nvPr/>
        </p:nvSpPr>
        <p:spPr>
          <a:xfrm>
            <a:off x="2343150" y="2877312"/>
            <a:ext cx="483489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latin typeface="Arial"/>
              </a:rPr>
              <a:t>synthetic panel 1</a:t>
            </a:r>
          </a:p>
        </p:txBody>
      </p:sp>
      <p:sp>
        <p:nvSpPr>
          <p:cNvPr id="8" name="tds-fig:FIG009/obj-panel-1/panel"/>
          <p:cNvSpPr/>
          <p:nvPr/>
        </p:nvSpPr>
        <p:spPr>
          <a:xfrm>
            <a:off x="6439376" y="2304287"/>
            <a:ext cx="3357562" cy="87782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ds-fig:FIG009/obj-label-1/panel_label"/>
          <p:cNvSpPr txBox="1"/>
          <p:nvPr/>
        </p:nvSpPr>
        <p:spPr>
          <a:xfrm>
            <a:off x="6573678" y="2877312"/>
            <a:ext cx="483489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latin typeface="Arial"/>
              </a:rPr>
              <a:t>synthetic panel 2</a:t>
            </a:r>
          </a:p>
        </p:txBody>
      </p:sp>
      <p:sp>
        <p:nvSpPr>
          <p:cNvPr id="10" name="tds-fig:FIG009/obj-panel-2/panel"/>
          <p:cNvSpPr/>
          <p:nvPr/>
        </p:nvSpPr>
        <p:spPr>
          <a:xfrm>
            <a:off x="2208847" y="3621024"/>
            <a:ext cx="3357562" cy="87782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ds-fig:FIG009/obj-label-2/panel_label"/>
          <p:cNvSpPr txBox="1"/>
          <p:nvPr/>
        </p:nvSpPr>
        <p:spPr>
          <a:xfrm>
            <a:off x="2343150" y="4194047"/>
            <a:ext cx="483489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latin typeface="Arial"/>
              </a:rPr>
              <a:t>synthetic panel 3</a:t>
            </a:r>
          </a:p>
        </p:txBody>
      </p:sp>
      <p:sp>
        <p:nvSpPr>
          <p:cNvPr id="12" name="tds-fig:FIG009/obj-panel-3/panel"/>
          <p:cNvSpPr/>
          <p:nvPr/>
        </p:nvSpPr>
        <p:spPr>
          <a:xfrm>
            <a:off x="6439376" y="3621024"/>
            <a:ext cx="3357562" cy="87782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ds-fig:FIG009/obj-label-3/panel_label"/>
          <p:cNvSpPr txBox="1"/>
          <p:nvPr/>
        </p:nvSpPr>
        <p:spPr>
          <a:xfrm>
            <a:off x="6573678" y="4194047"/>
            <a:ext cx="483489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latin typeface="Arial"/>
              </a:rPr>
              <a:t>synthetic panel 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ds-fig:FIG010/obj-canvas/panel"/>
          <p:cNvSpPr/>
          <p:nvPr/>
        </p:nvSpPr>
        <p:spPr>
          <a:xfrm>
            <a:off x="932973" y="1426463"/>
            <a:ext cx="10341292" cy="409651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ds-fig:FIG010/obj-title/title"/>
          <p:cNvSpPr txBox="1"/>
          <p:nvPr/>
        </p:nvSpPr>
        <p:spPr>
          <a:xfrm>
            <a:off x="1268730" y="1487423"/>
            <a:ext cx="483489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>
                <a:latin typeface="Calibri"/>
              </a:rPr>
              <a:t>Concept Illustration</a:t>
            </a:r>
          </a:p>
        </p:txBody>
      </p:sp>
      <p:sp>
        <p:nvSpPr>
          <p:cNvPr id="6" name="tds-fig:FIG010/obj-concept-source/node"/>
          <p:cNvSpPr/>
          <p:nvPr/>
        </p:nvSpPr>
        <p:spPr>
          <a:xfrm>
            <a:off x="3216116" y="2938271"/>
            <a:ext cx="1477327" cy="107289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ds-fig:FIG010/obj-concept-target/node"/>
          <p:cNvSpPr/>
          <p:nvPr/>
        </p:nvSpPr>
        <p:spPr>
          <a:xfrm>
            <a:off x="7513796" y="2938271"/>
            <a:ext cx="1477327" cy="107289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tds-fig:FIG010/obj-concept-flow/flow"/>
          <p:cNvCxnSpPr/>
          <p:nvPr/>
        </p:nvCxnSpPr>
        <p:spPr>
          <a:xfrm>
            <a:off x="4693443" y="3474720"/>
            <a:ext cx="282035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ds-fig:FIG010/obj-concept-label/annotation"/>
          <p:cNvSpPr txBox="1"/>
          <p:nvPr/>
        </p:nvSpPr>
        <p:spPr>
          <a:xfrm>
            <a:off x="4760595" y="3755136"/>
            <a:ext cx="483489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latin typeface="Arial"/>
              </a:rPr>
              <a:t>non-evidence explanatory concept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