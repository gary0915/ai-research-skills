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logical_fixture_id=R01</a:t>
            </a:r>
          </a:p>
          <a:p>
            <a:r>
              <a:t>candidate_id=RRVC-DDD814B3A3058761</a:t>
            </a:r>
          </a:p>
          <a:p>
            <a:r>
              <a:t>body_family_id=BCF-TEXT-TOP-DUAL-VISUAL</a:t>
            </a:r>
          </a:p>
          <a:p>
            <a:r>
              <a:t>body_source_class=tsmc_dominant</a:t>
            </a:r>
          </a:p>
          <a:p>
            <a:r>
              <a:t>candidate_hash=1d7338778d13ad138b15ddaa7e8c32bca709a560778934cfd4455bd9b4bf9b8e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logical_fixture_id=R02</a:t>
            </a:r>
          </a:p>
          <a:p>
            <a:r>
              <a:t>candidate_id=RRVC-E08B3302D873FC4F</a:t>
            </a:r>
          </a:p>
          <a:p>
            <a:r>
              <a:t>body_family_id=BCF-PRINCIPLE-EQUIPMENT-SPLIT</a:t>
            </a:r>
          </a:p>
          <a:p>
            <a:r>
              <a:t>body_source_class=tsmc_dominant</a:t>
            </a:r>
          </a:p>
          <a:p>
            <a:r>
              <a:t>candidate_hash=88ae42bd9621e8fee113edcf7b52a1670a85de45a14cc45dfbf2c5c1f7e853a2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logical_fixture_id=R03</a:t>
            </a:r>
          </a:p>
          <a:p>
            <a:r>
              <a:t>candidate_id=RRVC-79C53AD11445ACE4</a:t>
            </a:r>
          </a:p>
          <a:p>
            <a:r>
              <a:t>body_family_id=BCF-TEXT-TOP-DUAL-VISUAL</a:t>
            </a:r>
          </a:p>
          <a:p>
            <a:r>
              <a:t>body_source_class=historical_reuse</a:t>
            </a:r>
          </a:p>
          <a:p>
            <a:r>
              <a:t>candidate_hash=2b124e24a3e58ae2a1ea77148429bd125e25ffb7537861a9ff8f71dd24aeb129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logical_fixture_id=R04</a:t>
            </a:r>
          </a:p>
          <a:p>
            <a:r>
              <a:t>candidate_id=RRVC-5B5408035971F627</a:t>
            </a:r>
          </a:p>
          <a:p>
            <a:r>
              <a:t>body_family_id=BCF-TECHNOLOGY-COMPARISON</a:t>
            </a:r>
          </a:p>
          <a:p>
            <a:r>
              <a:t>body_source_class=tsmc_dominant</a:t>
            </a:r>
          </a:p>
          <a:p>
            <a:r>
              <a:t>candidate_hash=ccb81d00ee51fb5913d19aea2c2eaa565bc6dde614b11cf7262a9c8f12ff5f47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logical_fixture_id=R04</a:t>
            </a:r>
          </a:p>
          <a:p>
            <a:r>
              <a:t>candidate_id=RRVC-9C3D232355FABF10</a:t>
            </a:r>
          </a:p>
          <a:p>
            <a:r>
              <a:t>body_family_id=BCF-PROBLEM-TO-SOLUTION</a:t>
            </a:r>
          </a:p>
          <a:p>
            <a:r>
              <a:t>body_source_class=tsmc_dominant</a:t>
            </a:r>
          </a:p>
          <a:p>
            <a:r>
              <a:t>candidate_hash=34f325c0ea19d6f58c6db8c54aefc247d89eb57bcf82ae532f1662b546329d0d</a:t>
            </a:r>
          </a:p>
          <a:p>
            <a:r>
              <a:t>selected_by_algorithm=False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logical_fixture_id=R05</a:t>
            </a:r>
          </a:p>
          <a:p>
            <a:r>
              <a:t>candidate_id=RRVC-A0A88FFE317BB571</a:t>
            </a:r>
          </a:p>
          <a:p>
            <a:r>
              <a:t>body_family_id=BCF-TECHNOLOGY-COMPARISON</a:t>
            </a:r>
          </a:p>
          <a:p>
            <a:r>
              <a:t>body_source_class=tsmc_dominant</a:t>
            </a:r>
          </a:p>
          <a:p>
            <a:r>
              <a:t>candidate_hash=c1fcc3a5ef9ba145e4d597c30bdf9542f3151e31b323f8b6e414892f9b02a716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logical_fixture_id=R05</a:t>
            </a:r>
          </a:p>
          <a:p>
            <a:r>
              <a:t>candidate_id=RRVC-AFDA1ECFBC44D324</a:t>
            </a:r>
          </a:p>
          <a:p>
            <a:r>
              <a:t>body_family_id=BCF-LITERATURE-VISUAL-MATRIX</a:t>
            </a:r>
          </a:p>
          <a:p>
            <a:r>
              <a:t>body_source_class=tsmc_dominant</a:t>
            </a:r>
          </a:p>
          <a:p>
            <a:r>
              <a:t>candidate_hash=b02b90cd16fb7d057637d48fd4dfbbbdac3ba39a8814f24adcce843e5f1f6adb</a:t>
            </a:r>
          </a:p>
          <a:p>
            <a:r>
              <a:t>selected_by_algorithm=False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logical_fixture_id=R06</a:t>
            </a:r>
          </a:p>
          <a:p>
            <a:r>
              <a:t>candidate_id=RRVC-FE4A32E8CE2B9170</a:t>
            </a:r>
          </a:p>
          <a:p>
            <a:r>
              <a:t>body_family_id=BCF-PROBLEM-TO-SOLUTION</a:t>
            </a:r>
          </a:p>
          <a:p>
            <a:r>
              <a:t>body_source_class=tsmc_dominant</a:t>
            </a:r>
          </a:p>
          <a:p>
            <a:r>
              <a:t>candidate_hash=799142c1a32e17e9ebbfe44b6f2f27cfc41bb0b2cd4c254821f2764f2b62178c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logical_fixture_id=R07</a:t>
            </a:r>
          </a:p>
          <a:p>
            <a:r>
              <a:t>candidate_id=RRVC-17FB017CC384B555</a:t>
            </a:r>
          </a:p>
          <a:p>
            <a:r>
              <a:t>body_family_id=BCF-PROBLEM-TO-SOLUTION</a:t>
            </a:r>
          </a:p>
          <a:p>
            <a:r>
              <a:t>body_source_class=group_meeting_dominant</a:t>
            </a:r>
          </a:p>
          <a:p>
            <a:r>
              <a:t>candidate_hash=5ac802703abad5fe33ac81cd4a6e2eb41cfd968284f85438cfae50bd1581ca62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logical_fixture_id=R08</a:t>
            </a:r>
          </a:p>
          <a:p>
            <a:r>
              <a:t>candidate_id=RRVC-63AB339C5178A415</a:t>
            </a:r>
          </a:p>
          <a:p>
            <a:r>
              <a:t>body_family_id=BCF-HARDWARE-DESIGN-PROCEDURE</a:t>
            </a:r>
          </a:p>
          <a:p>
            <a:r>
              <a:t>body_source_class=group_meeting_dominant</a:t>
            </a:r>
          </a:p>
          <a:p>
            <a:r>
              <a:t>candidate_hash=3b9bb496e654abe2496fb3a7d4d0260f8edd774245a063e5b754527be0f4c73e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logical_fixture_id=R08</a:t>
            </a:r>
          </a:p>
          <a:p>
            <a:r>
              <a:t>candidate_id=RRVC-6728D88AE926646F</a:t>
            </a:r>
          </a:p>
          <a:p>
            <a:r>
              <a:t>body_family_id=BCF-FEASIBILITY-EVIDENCE-MATRIX</a:t>
            </a:r>
          </a:p>
          <a:p>
            <a:r>
              <a:t>body_source_class=group_meeting_dominant</a:t>
            </a:r>
          </a:p>
          <a:p>
            <a:r>
              <a:t>candidate_hash=86ed9d799ab1a51e96b608169da9d52946edf5574d91bcaf00ea3728332eaaa8</a:t>
            </a:r>
          </a:p>
          <a:p>
            <a:r>
              <a:t>selected_by_algorithm=False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logical_fixture_id=R09</a:t>
            </a:r>
          </a:p>
          <a:p>
            <a:r>
              <a:t>candidate_id=RRVC-6B148A9D705DFB96</a:t>
            </a:r>
          </a:p>
          <a:p>
            <a:r>
              <a:t>body_family_id=BCF-PRINCIPLE-EQUIPMENT-SPLIT</a:t>
            </a:r>
          </a:p>
          <a:p>
            <a:r>
              <a:t>body_source_class=group_meeting_dominant</a:t>
            </a:r>
          </a:p>
          <a:p>
            <a:r>
              <a:t>candidate_hash=8d5137f82f5f1235d5a2febdf3d362606cf79d7fc167ca86adcec2fcb061efaa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logical_fixture_id=R10</a:t>
            </a:r>
          </a:p>
          <a:p>
            <a:r>
              <a:t>candidate_id=RRVC-EECA852EB17473EF</a:t>
            </a:r>
          </a:p>
          <a:p>
            <a:r>
              <a:t>body_family_id=BCF-HARDWARE-DESIGN-PROCEDURE</a:t>
            </a:r>
          </a:p>
          <a:p>
            <a:r>
              <a:t>body_source_class=group_meeting_dominant</a:t>
            </a:r>
          </a:p>
          <a:p>
            <a:r>
              <a:t>candidate_hash=133d96a71c00f0f8b02d4624d92d484c857b2d5af96e380276b28fb4e3976f9b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logical_fixture_id=R11</a:t>
            </a:r>
          </a:p>
          <a:p>
            <a:r>
              <a:t>candidate_id=RRVC-A360B8A5E9077913</a:t>
            </a:r>
          </a:p>
          <a:p>
            <a:r>
              <a:t>body_family_id=BCF-PHYSICAL-VALIDATION-MATRIX</a:t>
            </a:r>
          </a:p>
          <a:p>
            <a:r>
              <a:t>body_source_class=group_meeting_dominant</a:t>
            </a:r>
          </a:p>
          <a:p>
            <a:r>
              <a:t>candidate_hash=0d6b3314d32c219503d67cff043446e7a89fbc01f44df82699ee3bb856a94c2e</a:t>
            </a:r>
          </a:p>
          <a:p>
            <a:r>
              <a:t>selected_by_algorithm=False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logical_fixture_id=R11</a:t>
            </a:r>
          </a:p>
          <a:p>
            <a:r>
              <a:t>candidate_id=RRVC-D025BEB614E8C19C</a:t>
            </a:r>
          </a:p>
          <a:p>
            <a:r>
              <a:t>body_family_id=BCF-REAL-RESULT-VALIDATION</a:t>
            </a:r>
          </a:p>
          <a:p>
            <a:r>
              <a:t>body_source_class=group_meeting_dominant</a:t>
            </a:r>
          </a:p>
          <a:p>
            <a:r>
              <a:t>candidate_hash=008c582b7acce1f4579e262da0da3a500b29332d758093faa41eb3d3989c4e2c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logical_fixture_id=R12</a:t>
            </a:r>
          </a:p>
          <a:p>
            <a:r>
              <a:t>candidate_id=RRVC-1AC941F2F6BE6B96</a:t>
            </a:r>
          </a:p>
          <a:p>
            <a:r>
              <a:t>body_family_id=BCF-PRINCIPLE-EQUIPMENT-SPLIT</a:t>
            </a:r>
          </a:p>
          <a:p>
            <a:r>
              <a:t>body_source_class=group_meeting_dominant</a:t>
            </a:r>
          </a:p>
          <a:p>
            <a:r>
              <a:t>candidate_hash=0042925a720c2350d3edba61487e71a796299111dead2685ed810d6112ff2882</a:t>
            </a:r>
          </a:p>
          <a:p>
            <a:r>
              <a:t>selected_by_algorithm=False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logical_fixture_id=R12</a:t>
            </a:r>
          </a:p>
          <a:p>
            <a:r>
              <a:t>candidate_id=RRVC-6223C9AB9C96B097</a:t>
            </a:r>
          </a:p>
          <a:p>
            <a:r>
              <a:t>body_family_id=BCF-PROBLEM-TO-SOLUTION</a:t>
            </a:r>
          </a:p>
          <a:p>
            <a:r>
              <a:t>body_source_class=group_meeting_dominant</a:t>
            </a:r>
          </a:p>
          <a:p>
            <a:r>
              <a:t>candidate_hash=d6d39febcbe8797a61a34c82055d7099392b63fe0838c1304fa0ff0edeaa7d4e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logical_fixture_id=R13</a:t>
            </a:r>
          </a:p>
          <a:p>
            <a:r>
              <a:t>candidate_id=RRVC-B32D68F0CB335D6A</a:t>
            </a:r>
          </a:p>
          <a:p>
            <a:r>
              <a:t>body_family_id=BCF-PHYSICAL-VALIDATION-MATRIX</a:t>
            </a:r>
          </a:p>
          <a:p>
            <a:r>
              <a:t>body_source_class=group_meeting_dominant</a:t>
            </a:r>
          </a:p>
          <a:p>
            <a:r>
              <a:t>candidate_hash=c72575af2487ddf8a8c34af9c42f6153b518ecc8af3cd3d171e341fd82513638</a:t>
            </a:r>
          </a:p>
          <a:p>
            <a:r>
              <a:t>selected_by_algorithm=False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logical_fixture_id=R13</a:t>
            </a:r>
          </a:p>
          <a:p>
            <a:r>
              <a:t>candidate_id=RRVC-BD0A59D0EA7405B4</a:t>
            </a:r>
          </a:p>
          <a:p>
            <a:r>
              <a:t>body_family_id=BCF-THREE-COLUMN-PHYSICAL-COMPARISON</a:t>
            </a:r>
          </a:p>
          <a:p>
            <a:r>
              <a:t>body_source_class=group_meeting_dominant</a:t>
            </a:r>
          </a:p>
          <a:p>
            <a:r>
              <a:t>candidate_hash=3d0f177aed8445b9ab360bbea1a96a661a898a06115a24dda8b92cec4c8afa6f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logical_fixture_id=R14</a:t>
            </a:r>
          </a:p>
          <a:p>
            <a:r>
              <a:t>candidate_id=RRVC-1D4C0277DB4165C2</a:t>
            </a:r>
          </a:p>
          <a:p>
            <a:r>
              <a:t>body_family_id=BCF-THREE-COLUMN-PHYSICAL-COMPARISON</a:t>
            </a:r>
          </a:p>
          <a:p>
            <a:r>
              <a:t>body_source_class=group_meeting_dominant</a:t>
            </a:r>
          </a:p>
          <a:p>
            <a:r>
              <a:t>candidate_hash=ac4279c80f1eb3f4a2cddd4704a8521fc18f83a58d1a058a450cb1681d99031d</a:t>
            </a:r>
          </a:p>
          <a:p>
            <a:r>
              <a:t>selected_by_algorithm=True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review_artifact=real_research_visual_acceptance</a:t>
            </a:r>
          </a:p>
          <a:p>
            <a:r>
              <a:t>logical_fixture_id=R14</a:t>
            </a:r>
          </a:p>
          <a:p>
            <a:r>
              <a:t>candidate_id=RRVC-CAD9A32016A1C4CA</a:t>
            </a:r>
          </a:p>
          <a:p>
            <a:r>
              <a:t>body_family_id=BCF-HARDWARE-DESIGN-PROCEDURE</a:t>
            </a:r>
          </a:p>
          <a:p>
            <a:r>
              <a:t>body_source_class=group_meeting_dominant</a:t>
            </a:r>
          </a:p>
          <a:p>
            <a:r>
              <a:t>candidate_hash=644819331b29de7271a9c453f54e05c3addc541a9e025f2703849f92f55c291d</a:t>
            </a:r>
          </a:p>
          <a:p>
            <a:r>
              <a:t>selected_by_algorithm=False</a:t>
            </a:r>
          </a:p>
          <a:p>
            <a:r>
              <a:t>human_selection=null</a:t>
            </a:r>
          </a:p>
          <a:p>
            <a:r>
              <a:t>human_status=pending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golden_calibration_fixture=true</a:t>
            </a:r>
          </a:p>
          <a:p>
            <a:r>
              <a:t>candidate_id=PPC-GOLDEN-FEASIBILITY-EVIDENCE-MATRIX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golden_calibration_fixture=true</a:t>
            </a:r>
          </a:p>
          <a:p>
            <a:r>
              <a:t>candidate_id=PPC-GOLDEN-HARDWARE-DESIGN-PROCEDURE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golden_calibration_fixture=true</a:t>
            </a:r>
          </a:p>
          <a:p>
            <a:r>
              <a:t>candidate_id=PPC-GOLDEN-LITERATURE-VISUAL-MATRIX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golden_calibration_fixture=true</a:t>
            </a:r>
          </a:p>
          <a:p>
            <a:r>
              <a:t>candidate_id=PPC-GOLDEN-PHYSICAL-VALIDATION-MATRIX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golden_calibration_fixture=true</a:t>
            </a:r>
          </a:p>
          <a:p>
            <a:r>
              <a:t>candidate_id=PPC-GOLDEN-PRINCIPLE-EQUIPMENT-SPLIT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golden_calibration_fixture=true</a:t>
            </a:r>
          </a:p>
          <a:p>
            <a:r>
              <a:t>candidate_id=PPC-GOLDEN-PROBLEM-TO-SOLUTION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golden_calibration_fixture=true</a:t>
            </a:r>
          </a:p>
          <a:p>
            <a:r>
              <a:t>candidate_id=PPC-GOLDEN-REAL-RESULT-VALIDATION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golden_calibration_fixture=true</a:t>
            </a:r>
          </a:p>
          <a:p>
            <a:r>
              <a:t>candidate_id=PPC-GOLDEN-TECHNOLOGY-COMPARISON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golden_calibration_fixture=true</a:t>
            </a:r>
          </a:p>
          <a:p>
            <a:r>
              <a:t>candidate_id=PPC-GOLDEN-TEXT-TOP-DUAL-VISUAL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golden_calibration_fixture=true</a:t>
            </a:r>
          </a:p>
          <a:p>
            <a:r>
              <a:t>candidate_id=PPC-GOLDEN-THREE-COLUMN-PHYSICAL-COMPARISON</a:t>
            </a:r>
          </a:p>
          <a:p>
            <a:r>
              <a:t>synthetic_non_evidence=true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365126"/>
            <a:ext cx="10515600" cy="132556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828800"/>
            <a:ext cx="10835640" cy="393192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828800"/>
            <a:ext cx="10835640" cy="393192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828800"/>
            <a:ext cx="10835640" cy="393192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" y="1828800"/>
            <a:ext cx="10835640" cy="393192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828800"/>
            <a:ext cx="10835640" cy="393192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1828800"/>
            <a:ext cx="10835640" cy="393192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8200" y="365126"/>
            <a:ext cx="10515600" cy="132556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1828800"/>
            <a:ext cx="10835640" cy="393192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1::RRVC-DDD814B3A305876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論文研究目標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RRVA-R01::RRVC-DDD814B3A3058761::text_top::text_top::R01-TEXT_TOP"/>
          <p:cNvSpPr txBox="1"/>
          <p:nvPr/>
        </p:nvSpPr>
        <p:spPr>
          <a:xfrm>
            <a:off x="1073505" y="1946757"/>
            <a:ext cx="9968788" cy="70774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以控制接觸壓力辨識低壓下訊號不穩定的主導機制。</a:t>
            </a:r>
          </a:p>
        </p:txBody>
      </p:sp>
      <p:sp>
        <p:nvSpPr>
          <p:cNvPr id="5" name="PPAFX::RRVA-R01::RRVC-DDD814B3A3058761::left_visual::frame"/>
          <p:cNvSpPr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1::RRVC-DDD814B3A3058761::left_visual::node-1"/>
          <p:cNvSpPr/>
          <p:nvPr/>
        </p:nvSpPr>
        <p:spPr>
          <a:xfrm>
            <a:off x="1679217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PAFX::RRVA-R01::RRVC-DDD814B3A3058761::left_visual::node-2"/>
          <p:cNvSpPr/>
          <p:nvPr/>
        </p:nvSpPr>
        <p:spPr>
          <a:xfrm>
            <a:off x="3962286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PPAFX::RRVA-R01::RRVC-DDD814B3A3058761::left_visual::connector"/>
          <p:cNvCxnSpPr/>
          <p:nvPr/>
        </p:nvCxnSpPr>
        <p:spPr>
          <a:xfrm>
            <a:off x="2937235" y="3983491"/>
            <a:ext cx="93186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PA::RRVA-R01::RRVC-DDD814B3A3058761::left_visual::primary_visual::R01-LEFT_VISUAL"/>
          <p:cNvSpPr txBox="1"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水凝膠元件與接觸介面示意</a:t>
            </a:r>
          </a:p>
        </p:txBody>
      </p:sp>
      <p:sp>
        <p:nvSpPr>
          <p:cNvPr id="10" name="PPAFX::RRVA-R01::RRVC-DDD814B3A3058761::right_visual::frame"/>
          <p:cNvSpPr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01::RRVC-DDD814B3A3058761::right_visual::node-1"/>
          <p:cNvSpPr/>
          <p:nvPr/>
        </p:nvSpPr>
        <p:spPr>
          <a:xfrm>
            <a:off x="6988681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PAFX::RRVA-R01::RRVC-DDD814B3A3058761::right_visual::node-2"/>
          <p:cNvSpPr/>
          <p:nvPr/>
        </p:nvSpPr>
        <p:spPr>
          <a:xfrm>
            <a:off x="9271750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RRVA-R01::RRVC-DDD814B3A3058761::right_visual::connector"/>
          <p:cNvCxnSpPr/>
          <p:nvPr/>
        </p:nvCxnSpPr>
        <p:spPr>
          <a:xfrm>
            <a:off x="8246699" y="3983491"/>
            <a:ext cx="93186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PA::RRVA-R01::RRVC-DDD814B3A3058761::right_visual::secondary_visual::R01-RIGHT_VISUAL"/>
          <p:cNvSpPr txBox="1"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2::RRVC-E08B3302D873FC4F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研究系統架構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02::RRVC-E08B3302D873FC4F::principle::frame"/>
          <p:cNvSpPr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02::RRVC-E08B3302D873FC4F::principle::node-1"/>
          <p:cNvSpPr/>
          <p:nvPr/>
        </p:nvSpPr>
        <p:spPr>
          <a:xfrm>
            <a:off x="1707389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2::RRVC-E08B3302D873FC4F::principle::node-2"/>
          <p:cNvSpPr/>
          <p:nvPr/>
        </p:nvSpPr>
        <p:spPr>
          <a:xfrm>
            <a:off x="4096648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02::RRVC-E08B3302D873FC4F::principle::connector"/>
          <p:cNvCxnSpPr/>
          <p:nvPr/>
        </p:nvCxnSpPr>
        <p:spPr>
          <a:xfrm>
            <a:off x="3023920" y="3064995"/>
            <a:ext cx="97520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02::RRVC-E08B3302D873FC4F::principle::primary_visual::R02-PRINCIPLE"/>
          <p:cNvSpPr txBox="1"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由水凝膠元件、接觸介面與電性量測鏈共同檢驗訊號穩定性。</a:t>
            </a:r>
          </a:p>
        </p:txBody>
      </p:sp>
      <p:sp>
        <p:nvSpPr>
          <p:cNvPr id="9" name="PPA::RRVA-R02::RRVC-E08B3302D873FC4F::formula::formula::R02-FORMULA"/>
          <p:cNvSpPr txBox="1"/>
          <p:nvPr/>
        </p:nvSpPr>
        <p:spPr>
          <a:xfrm>
            <a:off x="1073505" y="4423867"/>
            <a:ext cx="487603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0" i="0">
                <a:solidFill>
                  <a:srgbClr val="1F1F1F"/>
                </a:solidFill>
                <a:latin typeface="Aptos"/>
              </a:rPr>
              <a:t>由水凝膠元件、接觸介面與電性量測鏈共同檢驗訊號穩定性。</a:t>
            </a:r>
          </a:p>
        </p:txBody>
      </p:sp>
      <p:sp>
        <p:nvSpPr>
          <p:cNvPr id="10" name="PPAFX::RRVA-R02::RRVC-E08B3302D873FC4F::equipment::frame"/>
          <p:cNvSpPr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02::RRVC-E08B3302D873FC4F::equipment::node-1"/>
          <p:cNvSpPr/>
          <p:nvPr/>
        </p:nvSpPr>
        <p:spPr>
          <a:xfrm>
            <a:off x="6988681" y="2706404"/>
            <a:ext cx="1164831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PAFX::RRVA-R02::RRVC-E08B3302D873FC4F::equipment::node-2"/>
          <p:cNvSpPr/>
          <p:nvPr/>
        </p:nvSpPr>
        <p:spPr>
          <a:xfrm>
            <a:off x="9271750" y="2706404"/>
            <a:ext cx="1164831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RRVA-R02::RRVC-E08B3302D873FC4F::equipment::connector"/>
          <p:cNvCxnSpPr/>
          <p:nvPr/>
        </p:nvCxnSpPr>
        <p:spPr>
          <a:xfrm>
            <a:off x="8246699" y="2970629"/>
            <a:ext cx="93186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PA::RRVA-R02::RRVC-E08B3302D873FC4F::equipment::secondary_visual::R02-EQUIPMENT"/>
          <p:cNvSpPr txBox="1"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5" name="PPAFX::RRVA-R02::RRVC-E08B3302D873FC4F::specification::frame"/>
          <p:cNvSpPr/>
          <p:nvPr/>
        </p:nvSpPr>
        <p:spPr>
          <a:xfrm>
            <a:off x="6382969" y="4187952"/>
            <a:ext cx="4659325" cy="86502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755715" y="4360956"/>
          <a:ext cx="3913833" cy="5190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611"/>
                <a:gridCol w="1304611"/>
                <a:gridCol w="1304611"/>
              </a:tblGrid>
              <a:tr h="17300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17300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73005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" name="PPA::RRVA-R02::RRVC-E08B3302D873FC4F::specification::specification_table::R02-SPECIFICATION"/>
          <p:cNvSpPr txBox="1"/>
          <p:nvPr/>
        </p:nvSpPr>
        <p:spPr>
          <a:xfrm>
            <a:off x="6382969" y="4187952"/>
            <a:ext cx="4659325" cy="86502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3::RRVC-79C53AD11445ACE4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研究傳承與目前定位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RRVA-R03::RRVC-79C53AD11445ACE4::text_top::text_top::R03-TEXT_TOP"/>
          <p:cNvSpPr txBox="1"/>
          <p:nvPr/>
        </p:nvSpPr>
        <p:spPr>
          <a:xfrm>
            <a:off x="1073505" y="1946757"/>
            <a:ext cx="9968788" cy="70774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目前工作承接 H002：先驗證接觸電阻，再決定後續實驗。</a:t>
            </a:r>
          </a:p>
        </p:txBody>
      </p:sp>
      <p:sp>
        <p:nvSpPr>
          <p:cNvPr id="5" name="PPAFX::RRVA-R03::RRVC-79C53AD11445ACE4::left_visual::frame"/>
          <p:cNvSpPr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3::RRVC-79C53AD11445ACE4::left_visual::node-1"/>
          <p:cNvSpPr/>
          <p:nvPr/>
        </p:nvSpPr>
        <p:spPr>
          <a:xfrm>
            <a:off x="1679217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PAFX::RRVA-R03::RRVC-79C53AD11445ACE4::left_visual::node-2"/>
          <p:cNvSpPr/>
          <p:nvPr/>
        </p:nvSpPr>
        <p:spPr>
          <a:xfrm>
            <a:off x="3962286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PPAFX::RRVA-R03::RRVC-79C53AD11445ACE4::left_visual::connector"/>
          <p:cNvCxnSpPr/>
          <p:nvPr/>
        </p:nvCxnSpPr>
        <p:spPr>
          <a:xfrm>
            <a:off x="2937235" y="3983491"/>
            <a:ext cx="93186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PA::RRVA-R03::RRVC-79C53AD11445ACE4::left_visual::primary_visual::R03-LEFT_VISUAL"/>
          <p:cNvSpPr txBox="1"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水凝膠元件與接觸介面示意</a:t>
            </a:r>
          </a:p>
        </p:txBody>
      </p:sp>
      <p:sp>
        <p:nvSpPr>
          <p:cNvPr id="10" name="PPAFX::RRVA-R03::RRVC-79C53AD11445ACE4::right_visual::frame"/>
          <p:cNvSpPr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03::RRVC-79C53AD11445ACE4::right_visual::node-1"/>
          <p:cNvSpPr/>
          <p:nvPr/>
        </p:nvSpPr>
        <p:spPr>
          <a:xfrm>
            <a:off x="6988681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PAFX::RRVA-R03::RRVC-79C53AD11445ACE4::right_visual::node-2"/>
          <p:cNvSpPr/>
          <p:nvPr/>
        </p:nvSpPr>
        <p:spPr>
          <a:xfrm>
            <a:off x="9271750" y="3653210"/>
            <a:ext cx="1164831" cy="6605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RRVA-R03::RRVC-79C53AD11445ACE4::right_visual::connector"/>
          <p:cNvCxnSpPr/>
          <p:nvPr/>
        </p:nvCxnSpPr>
        <p:spPr>
          <a:xfrm>
            <a:off x="8246699" y="3983491"/>
            <a:ext cx="93186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PA::RRVA-R03::RRVC-79C53AD11445ACE4::right_visual::secondary_visual::R03-RIGHT_VISUAL"/>
          <p:cNvSpPr txBox="1"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4::RRVC-5B5408035971F627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研究缺口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04::RRVC-5B5408035971F627::approach_a::frame"/>
          <p:cNvSpPr/>
          <p:nvPr/>
        </p:nvSpPr>
        <p:spPr>
          <a:xfrm>
            <a:off x="1073505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04::RRVC-5B5408035971F627::approach_a::node-1"/>
          <p:cNvSpPr/>
          <p:nvPr/>
        </p:nvSpPr>
        <p:spPr>
          <a:xfrm>
            <a:off x="1467922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4::RRVC-5B5408035971F627::approach_a::node-2"/>
          <p:cNvSpPr/>
          <p:nvPr/>
        </p:nvSpPr>
        <p:spPr>
          <a:xfrm>
            <a:off x="2954571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04::RRVC-5B5408035971F627::approach_a::connector"/>
          <p:cNvCxnSpPr/>
          <p:nvPr/>
        </p:nvCxnSpPr>
        <p:spPr>
          <a:xfrm>
            <a:off x="2287096" y="2970629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04::RRVC-5B5408035971F627::approach_a::primary_visual::R04-APPROACH_A"/>
          <p:cNvSpPr txBox="1"/>
          <p:nvPr/>
        </p:nvSpPr>
        <p:spPr>
          <a:xfrm>
            <a:off x="1073505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低接觸壓力下，contact resistance 是否主導訊號不穩定仍待控制比較。</a:t>
            </a:r>
          </a:p>
        </p:txBody>
      </p:sp>
      <p:sp>
        <p:nvSpPr>
          <p:cNvPr id="9" name="PPAFX::RRVA-R04::RRVC-5B5408035971F627::criteria::frame"/>
          <p:cNvSpPr/>
          <p:nvPr/>
        </p:nvSpPr>
        <p:spPr>
          <a:xfrm>
            <a:off x="4540910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83628" y="2442179"/>
          <a:ext cx="2548542" cy="1132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9514"/>
                <a:gridCol w="849514"/>
                <a:gridCol w="849514"/>
              </a:tblGrid>
              <a:tr h="37746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PPA::RRVA-R04::RRVC-5B5408035971F627::criteria::criteria_table::R04-CRITERIA"/>
          <p:cNvSpPr txBox="1"/>
          <p:nvPr/>
        </p:nvSpPr>
        <p:spPr>
          <a:xfrm>
            <a:off x="4540910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  <p:sp>
        <p:nvSpPr>
          <p:cNvPr id="12" name="PPAFX::RRVA-R04::RRVC-5B5408035971F627::approach_b::frame"/>
          <p:cNvSpPr/>
          <p:nvPr/>
        </p:nvSpPr>
        <p:spPr>
          <a:xfrm>
            <a:off x="8008315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PAFX::RRVA-R04::RRVC-5B5408035971F627::approach_b::node-1"/>
          <p:cNvSpPr/>
          <p:nvPr/>
        </p:nvSpPr>
        <p:spPr>
          <a:xfrm>
            <a:off x="8402732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PAFX::RRVA-R04::RRVC-5B5408035971F627::approach_b::node-2"/>
          <p:cNvSpPr/>
          <p:nvPr/>
        </p:nvSpPr>
        <p:spPr>
          <a:xfrm>
            <a:off x="9889381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PPAFX::RRVA-R04::RRVC-5B5408035971F627::approach_b::connector"/>
          <p:cNvCxnSpPr/>
          <p:nvPr/>
        </p:nvCxnSpPr>
        <p:spPr>
          <a:xfrm>
            <a:off x="9221906" y="2970629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PA::RRVA-R04::RRVC-5B5408035971F627::approach_b::secondary_visual::R04-APPROACH_B"/>
          <p:cNvSpPr txBox="1"/>
          <p:nvPr/>
        </p:nvSpPr>
        <p:spPr>
          <a:xfrm>
            <a:off x="8008315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7" name="PPAFX::RRVA-R04::RRVC-5B5408035971F627::mechanism::frame"/>
          <p:cNvSpPr/>
          <p:nvPr/>
        </p:nvSpPr>
        <p:spPr>
          <a:xfrm>
            <a:off x="1073505" y="4266590"/>
            <a:ext cx="9968788" cy="70774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PAFX::RRVA-R04::RRVC-5B5408035971F627::mechanism::node-1"/>
          <p:cNvSpPr/>
          <p:nvPr/>
        </p:nvSpPr>
        <p:spPr>
          <a:xfrm>
            <a:off x="2369447" y="4507223"/>
            <a:ext cx="2492197" cy="19816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PAFX::RRVA-R04::RRVC-5B5408035971F627::mechanism::node-2"/>
          <p:cNvSpPr/>
          <p:nvPr/>
        </p:nvSpPr>
        <p:spPr>
          <a:xfrm>
            <a:off x="7254153" y="4507223"/>
            <a:ext cx="2492197" cy="19816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PPAFX::RRVA-R04::RRVC-5B5408035971F627::mechanism::connector"/>
          <p:cNvCxnSpPr/>
          <p:nvPr/>
        </p:nvCxnSpPr>
        <p:spPr>
          <a:xfrm>
            <a:off x="5061020" y="4606307"/>
            <a:ext cx="199375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PPA::RRVA-R04::RRVC-5B5408035971F627::mechanism::mechanism_pair::R04-MECHANISM"/>
          <p:cNvSpPr txBox="1"/>
          <p:nvPr/>
        </p:nvSpPr>
        <p:spPr>
          <a:xfrm>
            <a:off x="1073505" y="4266590"/>
            <a:ext cx="9968788" cy="70774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機制與替代解釋對照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4::RRVC-9C3D232355FABF10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研究缺口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RRVA-R04::RRVC-9C3D232355FABF10::problem::problem_statement::R04-PROBLEM"/>
          <p:cNvSpPr txBox="1"/>
          <p:nvPr/>
        </p:nvSpPr>
        <p:spPr>
          <a:xfrm>
            <a:off x="1073505" y="1986076"/>
            <a:ext cx="9968788" cy="106161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低接觸壓力下，contact resistance 是否主導訊號不穩定仍待控制比較。</a:t>
            </a:r>
          </a:p>
        </p:txBody>
      </p:sp>
      <p:sp>
        <p:nvSpPr>
          <p:cNvPr id="5" name="PPAFX::RRVA-R04::RRVC-9C3D232355FABF10::solution::frame"/>
          <p:cNvSpPr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4::RRVC-9C3D232355FABF10::solution::node-1"/>
          <p:cNvSpPr/>
          <p:nvPr/>
        </p:nvSpPr>
        <p:spPr>
          <a:xfrm>
            <a:off x="1876425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PAFX::RRVA-R04::RRVC-9C3D232355FABF10::solution::node-2"/>
          <p:cNvSpPr/>
          <p:nvPr/>
        </p:nvSpPr>
        <p:spPr>
          <a:xfrm>
            <a:off x="4902819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PPAFX::RRVA-R04::RRVC-9C3D232355FABF10::solution::connector"/>
          <p:cNvCxnSpPr/>
          <p:nvPr/>
        </p:nvCxnSpPr>
        <p:spPr>
          <a:xfrm>
            <a:off x="3544030" y="4098303"/>
            <a:ext cx="1235263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PA::RRVA-R04::RRVC-9C3D232355FABF10::solution::solution_path::R04-SOLUTION"/>
          <p:cNvSpPr txBox="1"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問題 → 機制 → 受控比較</a:t>
            </a:r>
          </a:p>
        </p:txBody>
      </p:sp>
      <p:sp>
        <p:nvSpPr>
          <p:cNvPr id="10" name="PPAFX::RRVA-R04::RRVC-9C3D232355FABF10::support::frame"/>
          <p:cNvSpPr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04::RRVC-9C3D232355FABF10::support::node-1"/>
          <p:cNvSpPr/>
          <p:nvPr/>
        </p:nvSpPr>
        <p:spPr>
          <a:xfrm>
            <a:off x="8308461" y="3883620"/>
            <a:ext cx="785583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PAFX::RRVA-R04::RRVC-9C3D232355FABF10::support::node-2"/>
          <p:cNvSpPr/>
          <p:nvPr/>
        </p:nvSpPr>
        <p:spPr>
          <a:xfrm>
            <a:off x="9848205" y="3883620"/>
            <a:ext cx="785583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RRVA-R04::RRVC-9C3D232355FABF10::support::connector"/>
          <p:cNvCxnSpPr/>
          <p:nvPr/>
        </p:nvCxnSpPr>
        <p:spPr>
          <a:xfrm>
            <a:off x="9156892" y="4098303"/>
            <a:ext cx="62846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PA::RRVA-R04::RRVC-9C3D232355FABF10::support::support_visual::R04-SUPPORT"/>
          <p:cNvSpPr txBox="1"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量測與驗證支援圖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5::RRVC-A0A88FFE317BB57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文獻證據：自發感測前例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05::RRVC-A0A88FFE317BB571::approach_a::frame"/>
          <p:cNvSpPr/>
          <p:nvPr/>
        </p:nvSpPr>
        <p:spPr>
          <a:xfrm>
            <a:off x="1073505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05::RRVC-A0A88FFE317BB571::approach_a::node-1"/>
          <p:cNvSpPr/>
          <p:nvPr/>
        </p:nvSpPr>
        <p:spPr>
          <a:xfrm>
            <a:off x="1467922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5::RRVC-A0A88FFE317BB571::approach_a::node-2"/>
          <p:cNvSpPr/>
          <p:nvPr/>
        </p:nvSpPr>
        <p:spPr>
          <a:xfrm>
            <a:off x="2954571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05::RRVC-A0A88FFE317BB571::approach_a::connector"/>
          <p:cNvCxnSpPr/>
          <p:nvPr/>
        </p:nvCxnSpPr>
        <p:spPr>
          <a:xfrm>
            <a:off x="2287096" y="2970629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05::RRVC-A0A88FFE317BB571::approach_a::primary_visual::R05-APPROACH_A"/>
          <p:cNvSpPr txBox="1"/>
          <p:nvPr/>
        </p:nvSpPr>
        <p:spPr>
          <a:xfrm>
            <a:off x="1073505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文獻指出 transport gradient 可產生位置效應；接觸介面仍是替代解釋。</a:t>
            </a:r>
          </a:p>
        </p:txBody>
      </p:sp>
      <p:sp>
        <p:nvSpPr>
          <p:cNvPr id="9" name="PPAFX::RRVA-R05::RRVC-A0A88FFE317BB571::criteria::frame"/>
          <p:cNvSpPr/>
          <p:nvPr/>
        </p:nvSpPr>
        <p:spPr>
          <a:xfrm>
            <a:off x="4540910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83628" y="2442179"/>
          <a:ext cx="2548542" cy="1132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9514"/>
                <a:gridCol w="849514"/>
                <a:gridCol w="849514"/>
              </a:tblGrid>
              <a:tr h="37746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PPA::RRVA-R05::RRVC-A0A88FFE317BB571::criteria::criteria_table::R05-CRITERIA"/>
          <p:cNvSpPr txBox="1"/>
          <p:nvPr/>
        </p:nvSpPr>
        <p:spPr>
          <a:xfrm>
            <a:off x="4540910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  <p:sp>
        <p:nvSpPr>
          <p:cNvPr id="12" name="PPAFX::RRVA-R05::RRVC-A0A88FFE317BB571::approach_b::frame"/>
          <p:cNvSpPr/>
          <p:nvPr/>
        </p:nvSpPr>
        <p:spPr>
          <a:xfrm>
            <a:off x="8008315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PAFX::RRVA-R05::RRVC-A0A88FFE317BB571::approach_b::node-1"/>
          <p:cNvSpPr/>
          <p:nvPr/>
        </p:nvSpPr>
        <p:spPr>
          <a:xfrm>
            <a:off x="8402732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PAFX::RRVA-R05::RRVC-A0A88FFE317BB571::approach_b::node-2"/>
          <p:cNvSpPr/>
          <p:nvPr/>
        </p:nvSpPr>
        <p:spPr>
          <a:xfrm>
            <a:off x="9889381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PPAFX::RRVA-R05::RRVC-A0A88FFE317BB571::approach_b::connector"/>
          <p:cNvCxnSpPr/>
          <p:nvPr/>
        </p:nvCxnSpPr>
        <p:spPr>
          <a:xfrm>
            <a:off x="9221906" y="2970629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PA::RRVA-R05::RRVC-A0A88FFE317BB571::approach_b::secondary_visual::R05-APPROACH_B"/>
          <p:cNvSpPr txBox="1"/>
          <p:nvPr/>
        </p:nvSpPr>
        <p:spPr>
          <a:xfrm>
            <a:off x="8008315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7" name="PPAFX::RRVA-R05::RRVC-A0A88FFE317BB571::mechanism::frame"/>
          <p:cNvSpPr/>
          <p:nvPr/>
        </p:nvSpPr>
        <p:spPr>
          <a:xfrm>
            <a:off x="1073505" y="4266590"/>
            <a:ext cx="9968788" cy="70774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PAFX::RRVA-R05::RRVC-A0A88FFE317BB571::mechanism::node-1"/>
          <p:cNvSpPr/>
          <p:nvPr/>
        </p:nvSpPr>
        <p:spPr>
          <a:xfrm>
            <a:off x="2369447" y="4507223"/>
            <a:ext cx="2492197" cy="19816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PAFX::RRVA-R05::RRVC-A0A88FFE317BB571::mechanism::node-2"/>
          <p:cNvSpPr/>
          <p:nvPr/>
        </p:nvSpPr>
        <p:spPr>
          <a:xfrm>
            <a:off x="7254153" y="4507223"/>
            <a:ext cx="2492197" cy="19816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PPAFX::RRVA-R05::RRVC-A0A88FFE317BB571::mechanism::connector"/>
          <p:cNvCxnSpPr/>
          <p:nvPr/>
        </p:nvCxnSpPr>
        <p:spPr>
          <a:xfrm>
            <a:off x="5061020" y="4606307"/>
            <a:ext cx="199375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PPA::RRVA-R05::RRVC-A0A88FFE317BB571::mechanism::mechanism_pair::R05-MECHANISM"/>
          <p:cNvSpPr txBox="1"/>
          <p:nvPr/>
        </p:nvSpPr>
        <p:spPr>
          <a:xfrm>
            <a:off x="1073505" y="4266590"/>
            <a:ext cx="9968788" cy="70774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機制與替代解釋對照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5::RRVC-AFDA1ECFBC44D324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文獻證據：自發感測前例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05::RRVC-AFDA1ECFBC44D324::visual_a::frame"/>
          <p:cNvSpPr/>
          <p:nvPr/>
        </p:nvSpPr>
        <p:spPr>
          <a:xfrm>
            <a:off x="1073505" y="2025395"/>
            <a:ext cx="3033979" cy="137617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05::RRVC-AFDA1ECFBC44D324::visual_a::node-1"/>
          <p:cNvSpPr/>
          <p:nvPr/>
        </p:nvSpPr>
        <p:spPr>
          <a:xfrm>
            <a:off x="1467922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5::RRVC-AFDA1ECFBC44D324::visual_a::node-2"/>
          <p:cNvSpPr/>
          <p:nvPr/>
        </p:nvSpPr>
        <p:spPr>
          <a:xfrm>
            <a:off x="2954571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05::RRVC-AFDA1ECFBC44D324::visual_a::connector"/>
          <p:cNvCxnSpPr/>
          <p:nvPr/>
        </p:nvCxnSpPr>
        <p:spPr>
          <a:xfrm>
            <a:off x="2287096" y="2685957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05::RRVC-AFDA1ECFBC44D324::visual_a::primary_visual::R05-VISUAL_A"/>
          <p:cNvSpPr txBox="1"/>
          <p:nvPr/>
        </p:nvSpPr>
        <p:spPr>
          <a:xfrm>
            <a:off x="1073505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文獻指出 transport gradient 可產生位置效應；接觸介面仍是替代解釋。</a:t>
            </a:r>
          </a:p>
        </p:txBody>
      </p:sp>
      <p:sp>
        <p:nvSpPr>
          <p:cNvPr id="9" name="PPAFX::RRVA-R05::RRVC-AFDA1ECFBC44D324::visual_b::frame"/>
          <p:cNvSpPr/>
          <p:nvPr/>
        </p:nvSpPr>
        <p:spPr>
          <a:xfrm>
            <a:off x="4540910" y="2025395"/>
            <a:ext cx="3033979" cy="137617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RRVA-R05::RRVC-AFDA1ECFBC44D324::visual_b::node-1"/>
          <p:cNvSpPr/>
          <p:nvPr/>
        </p:nvSpPr>
        <p:spPr>
          <a:xfrm>
            <a:off x="4935327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05::RRVC-AFDA1ECFBC44D324::visual_b::node-2"/>
          <p:cNvSpPr/>
          <p:nvPr/>
        </p:nvSpPr>
        <p:spPr>
          <a:xfrm>
            <a:off x="6421976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RRVA-R05::RRVC-AFDA1ECFBC44D324::visual_b::connector"/>
          <p:cNvCxnSpPr/>
          <p:nvPr/>
        </p:nvCxnSpPr>
        <p:spPr>
          <a:xfrm>
            <a:off x="5754501" y="2685957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RRVA-R05::RRVC-AFDA1ECFBC44D324::visual_b::secondary_visual::R05-VISUAL_B"/>
          <p:cNvSpPr txBox="1"/>
          <p:nvPr/>
        </p:nvSpPr>
        <p:spPr>
          <a:xfrm>
            <a:off x="4540910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4" name="PPAFX::RRVA-R05::RRVC-AFDA1ECFBC44D324::visual_c::frame"/>
          <p:cNvSpPr/>
          <p:nvPr/>
        </p:nvSpPr>
        <p:spPr>
          <a:xfrm>
            <a:off x="8008315" y="2025395"/>
            <a:ext cx="3033979" cy="137617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PAFX::RRVA-R05::RRVC-AFDA1ECFBC44D324::visual_c::node-1"/>
          <p:cNvSpPr/>
          <p:nvPr/>
        </p:nvSpPr>
        <p:spPr>
          <a:xfrm>
            <a:off x="8402732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PAFX::RRVA-R05::RRVC-AFDA1ECFBC44D324::visual_c::node-2"/>
          <p:cNvSpPr/>
          <p:nvPr/>
        </p:nvSpPr>
        <p:spPr>
          <a:xfrm>
            <a:off x="9889381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PPAFX::RRVA-R05::RRVC-AFDA1ECFBC44D324::visual_c::connector"/>
          <p:cNvCxnSpPr/>
          <p:nvPr/>
        </p:nvCxnSpPr>
        <p:spPr>
          <a:xfrm>
            <a:off x="9221906" y="2685957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PA::RRVA-R05::RRVC-AFDA1ECFBC44D324::visual_c::secondary_visual::R05-VISUAL_C"/>
          <p:cNvSpPr txBox="1"/>
          <p:nvPr/>
        </p:nvSpPr>
        <p:spPr>
          <a:xfrm>
            <a:off x="8008315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9" name="PPA::RRVA-R05::RRVC-AFDA1ECFBC44D324::cite_a::citation_strip::R05-CITE_A"/>
          <p:cNvSpPr txBox="1"/>
          <p:nvPr/>
        </p:nvSpPr>
        <p:spPr>
          <a:xfrm>
            <a:off x="1073505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資料來源：S-H001-LITERATURE-MECHANISM-05</a:t>
            </a:r>
          </a:p>
        </p:txBody>
      </p:sp>
      <p:sp>
        <p:nvSpPr>
          <p:cNvPr id="20" name="PPA::RRVA-R05::RRVC-AFDA1ECFBC44D324::cite_b::citation_strip::R05-CITE_B"/>
          <p:cNvSpPr txBox="1"/>
          <p:nvPr/>
        </p:nvSpPr>
        <p:spPr>
          <a:xfrm>
            <a:off x="4540910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資料來源：S-H001-LITERATURE-MECHANISM-05</a:t>
            </a:r>
          </a:p>
        </p:txBody>
      </p:sp>
      <p:sp>
        <p:nvSpPr>
          <p:cNvPr id="21" name="PPA::RRVA-R05::RRVC-AFDA1ECFBC44D324::cite_c::citation_strip::R05-CITE_C"/>
          <p:cNvSpPr txBox="1"/>
          <p:nvPr/>
        </p:nvSpPr>
        <p:spPr>
          <a:xfrm>
            <a:off x="8008315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資料來源：S-H001-LITERATURE-MECHANISM-05</a:t>
            </a:r>
          </a:p>
        </p:txBody>
      </p:sp>
      <p:sp>
        <p:nvSpPr>
          <p:cNvPr id="22" name="PPA::RRVA-R05::RRVC-AFDA1ECFBC44D324::synthesis::synthesis_callout::R05-SYNTHESIS"/>
          <p:cNvSpPr txBox="1"/>
          <p:nvPr/>
        </p:nvSpPr>
        <p:spPr>
          <a:xfrm>
            <a:off x="1073505" y="4266590"/>
            <a:ext cx="996878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B00020"/>
                </a:solidFill>
                <a:latin typeface="Aptos"/>
              </a:rPr>
              <a:t>文獻指出 transport gradient 可產生位置效應；接觸介面仍是替代解釋。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6::RRVC-FE4A32E8CE2B9170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文獻綜整至主要機制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RRVA-R06::RRVC-FE4A32E8CE2B9170::problem::problem_statement::R06-PROBLEM"/>
          <p:cNvSpPr txBox="1"/>
          <p:nvPr/>
        </p:nvSpPr>
        <p:spPr>
          <a:xfrm>
            <a:off x="1073505" y="1986076"/>
            <a:ext cx="9968788" cy="106161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以匹配導電度並改變接觸壓力，隔離 contact resistance 的機制貢獻。</a:t>
            </a:r>
          </a:p>
        </p:txBody>
      </p:sp>
      <p:sp>
        <p:nvSpPr>
          <p:cNvPr id="5" name="PPAFX::RRVA-R06::RRVC-FE4A32E8CE2B9170::solution::frame"/>
          <p:cNvSpPr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6::RRVC-FE4A32E8CE2B9170::solution::node-1"/>
          <p:cNvSpPr/>
          <p:nvPr/>
        </p:nvSpPr>
        <p:spPr>
          <a:xfrm>
            <a:off x="1876425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PAFX::RRVA-R06::RRVC-FE4A32E8CE2B9170::solution::node-2"/>
          <p:cNvSpPr/>
          <p:nvPr/>
        </p:nvSpPr>
        <p:spPr>
          <a:xfrm>
            <a:off x="4902819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PPAFX::RRVA-R06::RRVC-FE4A32E8CE2B9170::solution::connector"/>
          <p:cNvCxnSpPr/>
          <p:nvPr/>
        </p:nvCxnSpPr>
        <p:spPr>
          <a:xfrm>
            <a:off x="3544030" y="4098303"/>
            <a:ext cx="1235263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PA::RRVA-R06::RRVC-FE4A32E8CE2B9170::solution::solution_path::R06-SOLUTION"/>
          <p:cNvSpPr txBox="1"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問題 → 機制 → 受控比較</a:t>
            </a:r>
          </a:p>
        </p:txBody>
      </p:sp>
      <p:sp>
        <p:nvSpPr>
          <p:cNvPr id="10" name="PPAFX::RRVA-R06::RRVC-FE4A32E8CE2B9170::support::frame"/>
          <p:cNvSpPr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06::RRVC-FE4A32E8CE2B9170::support::node-1"/>
          <p:cNvSpPr/>
          <p:nvPr/>
        </p:nvSpPr>
        <p:spPr>
          <a:xfrm>
            <a:off x="8308461" y="3883620"/>
            <a:ext cx="785583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PAFX::RRVA-R06::RRVC-FE4A32E8CE2B9170::support::node-2"/>
          <p:cNvSpPr/>
          <p:nvPr/>
        </p:nvSpPr>
        <p:spPr>
          <a:xfrm>
            <a:off x="9848205" y="3883620"/>
            <a:ext cx="785583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RRVA-R06::RRVC-FE4A32E8CE2B9170::support::connector"/>
          <p:cNvCxnSpPr/>
          <p:nvPr/>
        </p:nvCxnSpPr>
        <p:spPr>
          <a:xfrm>
            <a:off x="9156892" y="4098303"/>
            <a:ext cx="62846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PA::RRVA-R06::RRVC-FE4A32E8CE2B9170::support::support_visual::R06-SUPPORT"/>
          <p:cNvSpPr txBox="1"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量測與驗證支援圖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7::RRVC-17FB017CC384B555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研究魚骨：目前分支位置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RRVA-R07::RRVC-17FB017CC384B555::problem::problem_statement::R07-PROBLEM"/>
          <p:cNvSpPr txBox="1"/>
          <p:nvPr/>
        </p:nvSpPr>
        <p:spPr>
          <a:xfrm>
            <a:off x="1073505" y="1986076"/>
            <a:ext cx="9968788" cy="106161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保留 FB001 rev2 歷史結構，僅標示目前接觸介面分支。</a:t>
            </a:r>
          </a:p>
        </p:txBody>
      </p:sp>
      <p:sp>
        <p:nvSpPr>
          <p:cNvPr id="5" name="PPAFX::RRVA-R07::RRVC-17FB017CC384B555::solution::frame"/>
          <p:cNvSpPr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7::RRVC-17FB017CC384B555::solution::node-1"/>
          <p:cNvSpPr/>
          <p:nvPr/>
        </p:nvSpPr>
        <p:spPr>
          <a:xfrm>
            <a:off x="1876425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PAFX::RRVA-R07::RRVC-17FB017CC384B555::solution::node-2"/>
          <p:cNvSpPr/>
          <p:nvPr/>
        </p:nvSpPr>
        <p:spPr>
          <a:xfrm>
            <a:off x="4902819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PPAFX::RRVA-R07::RRVC-17FB017CC384B555::solution::connector"/>
          <p:cNvCxnSpPr/>
          <p:nvPr/>
        </p:nvCxnSpPr>
        <p:spPr>
          <a:xfrm>
            <a:off x="3544030" y="4098303"/>
            <a:ext cx="1235263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PA::RRVA-R07::RRVC-17FB017CC384B555::solution::solution_path::R07-SOLUTION"/>
          <p:cNvSpPr txBox="1"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問題 → 機制 → 受控比較</a:t>
            </a:r>
          </a:p>
        </p:txBody>
      </p:sp>
      <p:sp>
        <p:nvSpPr>
          <p:cNvPr id="10" name="PPAFX::RRVA-R07::RRVC-17FB017CC384B555::support::frame"/>
          <p:cNvSpPr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07::RRVC-17FB017CC384B555::support::node-1"/>
          <p:cNvSpPr/>
          <p:nvPr/>
        </p:nvSpPr>
        <p:spPr>
          <a:xfrm>
            <a:off x="8308461" y="3883620"/>
            <a:ext cx="785583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PAFX::RRVA-R07::RRVC-17FB017CC384B555::support::node-2"/>
          <p:cNvSpPr/>
          <p:nvPr/>
        </p:nvSpPr>
        <p:spPr>
          <a:xfrm>
            <a:off x="9848205" y="3883620"/>
            <a:ext cx="785583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RRVA-R07::RRVC-17FB017CC384B555::support::connector"/>
          <p:cNvCxnSpPr/>
          <p:nvPr/>
        </p:nvCxnSpPr>
        <p:spPr>
          <a:xfrm>
            <a:off x="9156892" y="4098303"/>
            <a:ext cx="62846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PA::RRVA-R07::RRVC-17FB017CC384B555::support::support_visual::R07-SUPPORT"/>
          <p:cNvSpPr txBox="1"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量測與驗證支援圖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8::RRVC-63AB339C5178A415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G02 優先實驗：接觸壓力量測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08::RRVC-63AB339C5178A415::hardware::frame"/>
          <p:cNvSpPr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08::RRVC-63AB339C5178A415::hardware::node-1"/>
          <p:cNvSpPr/>
          <p:nvPr/>
        </p:nvSpPr>
        <p:spPr>
          <a:xfrm>
            <a:off x="1862339" y="2961191"/>
            <a:ext cx="1516989" cy="77065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8::RRVC-63AB339C5178A415::hardware::node-2"/>
          <p:cNvSpPr/>
          <p:nvPr/>
        </p:nvSpPr>
        <p:spPr>
          <a:xfrm>
            <a:off x="4835638" y="2961191"/>
            <a:ext cx="1516989" cy="77065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08::RRVC-63AB339C5178A415::hardware::connector"/>
          <p:cNvCxnSpPr/>
          <p:nvPr/>
        </p:nvCxnSpPr>
        <p:spPr>
          <a:xfrm>
            <a:off x="3500688" y="3346520"/>
            <a:ext cx="1213591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08::RRVC-63AB339C5178A415::hardware::primary_visual::R08-HARDWARE"/>
          <p:cNvSpPr txBox="1"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在匹配導電度條件下改變接觸壓力，量測訊號 CV 與接觸電阻。</a:t>
            </a:r>
          </a:p>
        </p:txBody>
      </p:sp>
      <p:sp>
        <p:nvSpPr>
          <p:cNvPr id="9" name="PPAFX::RRVA-R08::RRVC-63AB339C5178A415::procedure::frame"/>
          <p:cNvSpPr/>
          <p:nvPr/>
        </p:nvSpPr>
        <p:spPr>
          <a:xfrm>
            <a:off x="7683246" y="2025395"/>
            <a:ext cx="3359048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51969" y="2402859"/>
          <a:ext cx="2821600" cy="1132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533"/>
                <a:gridCol w="940533"/>
                <a:gridCol w="940534"/>
              </a:tblGrid>
              <a:tr h="37746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PPA::RRVA-R08::RRVC-63AB339C5178A415::procedure::procedure::R08-PROCEDURE"/>
          <p:cNvSpPr txBox="1"/>
          <p:nvPr/>
        </p:nvSpPr>
        <p:spPr>
          <a:xfrm>
            <a:off x="7683246" y="2025395"/>
            <a:ext cx="3359048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  <p:sp>
        <p:nvSpPr>
          <p:cNvPr id="12" name="PPA::RRVA-R08::RRVC-63AB339C5178A415::go::go_criterion::R08-GO"/>
          <p:cNvSpPr txBox="1"/>
          <p:nvPr/>
        </p:nvSpPr>
        <p:spPr>
          <a:xfrm>
            <a:off x="7683246" y="4187952"/>
            <a:ext cx="335904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B00020"/>
                </a:solidFill>
                <a:latin typeface="Aptos"/>
              </a:rPr>
              <a:t>在匹配導電度條件下改變接觸壓力，量測訊號 CV 與接觸電阻。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8::RRVC-6728D88AE926646F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G02 優先實驗：接觸壓力量測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RRVA-R08::RRVC-6728D88AE926646F::explanation::procedure::R08-EXPLANATION"/>
          <p:cNvSpPr txBox="1"/>
          <p:nvPr/>
        </p:nvSpPr>
        <p:spPr>
          <a:xfrm>
            <a:off x="1073505" y="1986076"/>
            <a:ext cx="3033979" cy="306689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  <p:sp>
        <p:nvSpPr>
          <p:cNvPr id="5" name="PPAFX::RRVA-R08::RRVC-6728D88AE926646F::matrix_a::frame"/>
          <p:cNvSpPr/>
          <p:nvPr/>
        </p:nvSpPr>
        <p:spPr>
          <a:xfrm>
            <a:off x="4649266" y="2025395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8::RRVC-6728D88AE926646F::matrix_a::node-1"/>
          <p:cNvSpPr/>
          <p:nvPr/>
        </p:nvSpPr>
        <p:spPr>
          <a:xfrm>
            <a:off x="5015510" y="2479924"/>
            <a:ext cx="704316" cy="37431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PAFX::RRVA-R08::RRVC-6728D88AE926646F::matrix_a::node-2"/>
          <p:cNvSpPr/>
          <p:nvPr/>
        </p:nvSpPr>
        <p:spPr>
          <a:xfrm>
            <a:off x="6395970" y="2479924"/>
            <a:ext cx="704316" cy="37431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PPAFX::RRVA-R08::RRVC-6728D88AE926646F::matrix_a::connector"/>
          <p:cNvCxnSpPr/>
          <p:nvPr/>
        </p:nvCxnSpPr>
        <p:spPr>
          <a:xfrm>
            <a:off x="5776172" y="2667083"/>
            <a:ext cx="563453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PA::RRVA-R08::RRVC-6728D88AE926646F::matrix_a::primary_visual::R08-MATRIX_A"/>
          <p:cNvSpPr txBox="1"/>
          <p:nvPr/>
        </p:nvSpPr>
        <p:spPr>
          <a:xfrm>
            <a:off x="4649266" y="2025395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水凝膠元件與接觸介面示意</a:t>
            </a:r>
          </a:p>
        </p:txBody>
      </p:sp>
      <p:sp>
        <p:nvSpPr>
          <p:cNvPr id="10" name="PPAFX::RRVA-R08::RRVC-6728D88AE926646F::matrix_b::frame"/>
          <p:cNvSpPr/>
          <p:nvPr/>
        </p:nvSpPr>
        <p:spPr>
          <a:xfrm>
            <a:off x="8008315" y="2025395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08::RRVC-6728D88AE926646F::matrix_b::node-1"/>
          <p:cNvSpPr/>
          <p:nvPr/>
        </p:nvSpPr>
        <p:spPr>
          <a:xfrm>
            <a:off x="8374559" y="2479924"/>
            <a:ext cx="704316" cy="37431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PAFX::RRVA-R08::RRVC-6728D88AE926646F::matrix_b::node-2"/>
          <p:cNvSpPr/>
          <p:nvPr/>
        </p:nvSpPr>
        <p:spPr>
          <a:xfrm>
            <a:off x="9755019" y="2479924"/>
            <a:ext cx="704316" cy="37431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RRVA-R08::RRVC-6728D88AE926646F::matrix_b::connector"/>
          <p:cNvCxnSpPr/>
          <p:nvPr/>
        </p:nvCxnSpPr>
        <p:spPr>
          <a:xfrm>
            <a:off x="9135221" y="2667083"/>
            <a:ext cx="563453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PA::RRVA-R08::RRVC-6728D88AE926646F::matrix_b::secondary_visual::R08-MATRIX_B"/>
          <p:cNvSpPr txBox="1"/>
          <p:nvPr/>
        </p:nvSpPr>
        <p:spPr>
          <a:xfrm>
            <a:off x="8008315" y="2025395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5" name="PPAFX::RRVA-R08::RRVC-6728D88AE926646F::matrix_c::frame"/>
          <p:cNvSpPr/>
          <p:nvPr/>
        </p:nvSpPr>
        <p:spPr>
          <a:xfrm>
            <a:off x="4649266" y="3676802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PAFX::RRVA-R08::RRVC-6728D88AE926646F::matrix_c::node-1"/>
          <p:cNvSpPr/>
          <p:nvPr/>
        </p:nvSpPr>
        <p:spPr>
          <a:xfrm>
            <a:off x="5015510" y="4131331"/>
            <a:ext cx="704316" cy="37431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PAFX::RRVA-R08::RRVC-6728D88AE926646F::matrix_c::node-2"/>
          <p:cNvSpPr/>
          <p:nvPr/>
        </p:nvSpPr>
        <p:spPr>
          <a:xfrm>
            <a:off x="6395970" y="4131331"/>
            <a:ext cx="704316" cy="37431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PPAFX::RRVA-R08::RRVC-6728D88AE926646F::matrix_c::connector"/>
          <p:cNvCxnSpPr/>
          <p:nvPr/>
        </p:nvCxnSpPr>
        <p:spPr>
          <a:xfrm>
            <a:off x="5776172" y="4318490"/>
            <a:ext cx="563453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PA::RRVA-R08::RRVC-6728D88AE926646F::matrix_c::secondary_visual::R08-MATRIX_C"/>
          <p:cNvSpPr txBox="1"/>
          <p:nvPr/>
        </p:nvSpPr>
        <p:spPr>
          <a:xfrm>
            <a:off x="4649266" y="3676802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20" name="PPAFX::RRVA-R08::RRVC-6728D88AE926646F::matrix_d::frame"/>
          <p:cNvSpPr/>
          <p:nvPr/>
        </p:nvSpPr>
        <p:spPr>
          <a:xfrm>
            <a:off x="8008315" y="3676802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PAFX::RRVA-R08::RRVC-6728D88AE926646F::matrix_d::node-1"/>
          <p:cNvSpPr/>
          <p:nvPr/>
        </p:nvSpPr>
        <p:spPr>
          <a:xfrm>
            <a:off x="8374559" y="4131331"/>
            <a:ext cx="704316" cy="37431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PAFX::RRVA-R08::RRVC-6728D88AE926646F::matrix_d::node-2"/>
          <p:cNvSpPr/>
          <p:nvPr/>
        </p:nvSpPr>
        <p:spPr>
          <a:xfrm>
            <a:off x="9755019" y="4131331"/>
            <a:ext cx="704316" cy="37431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PPAFX::RRVA-R08::RRVC-6728D88AE926646F::matrix_d::connector"/>
          <p:cNvCxnSpPr/>
          <p:nvPr/>
        </p:nvCxnSpPr>
        <p:spPr>
          <a:xfrm>
            <a:off x="9135221" y="4318490"/>
            <a:ext cx="563453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PA::RRVA-R08::RRVC-6728D88AE926646F::matrix_d::secondary_visual::R08-MATRIX_D"/>
          <p:cNvSpPr txBox="1"/>
          <p:nvPr/>
        </p:nvSpPr>
        <p:spPr>
          <a:xfrm>
            <a:off x="8008315" y="3676802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09::RRVC-6B148A9D705DFB96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量測架構：電性量測鏈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09::RRVC-6B148A9D705DFB96::principle::frame"/>
          <p:cNvSpPr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09::RRVC-6B148A9D705DFB96::principle::node-1"/>
          <p:cNvSpPr/>
          <p:nvPr/>
        </p:nvSpPr>
        <p:spPr>
          <a:xfrm>
            <a:off x="1707389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09::RRVC-6B148A9D705DFB96::principle::node-2"/>
          <p:cNvSpPr/>
          <p:nvPr/>
        </p:nvSpPr>
        <p:spPr>
          <a:xfrm>
            <a:off x="4096648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09::RRVC-6B148A9D705DFB96::principle::connector"/>
          <p:cNvCxnSpPr/>
          <p:nvPr/>
        </p:nvCxnSpPr>
        <p:spPr>
          <a:xfrm>
            <a:off x="3023920" y="3064995"/>
            <a:ext cx="97520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09::RRVC-6B148A9D705DFB96::principle::primary_visual::R09-PRINCIPLE"/>
          <p:cNvSpPr txBox="1"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以量測儀器、樣品接觸點與資料記錄鏈路對應每一個控制變因。</a:t>
            </a:r>
          </a:p>
        </p:txBody>
      </p:sp>
      <p:sp>
        <p:nvSpPr>
          <p:cNvPr id="9" name="PPA::RRVA-R09::RRVC-6B148A9D705DFB96::formula::formula::R09-FORMULA"/>
          <p:cNvSpPr txBox="1"/>
          <p:nvPr/>
        </p:nvSpPr>
        <p:spPr>
          <a:xfrm>
            <a:off x="1073505" y="4423867"/>
            <a:ext cx="487603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0" i="0">
                <a:solidFill>
                  <a:srgbClr val="1F1F1F"/>
                </a:solidFill>
                <a:latin typeface="Aptos"/>
              </a:rPr>
              <a:t>以量測儀器、樣品接觸點與資料記錄鏈路對應每一個控制變因。</a:t>
            </a:r>
          </a:p>
        </p:txBody>
      </p:sp>
      <p:sp>
        <p:nvSpPr>
          <p:cNvPr id="10" name="PPAFX::RRVA-R09::RRVC-6B148A9D705DFB96::equipment::frame"/>
          <p:cNvSpPr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09::RRVC-6B148A9D705DFB96::equipment::node-1"/>
          <p:cNvSpPr/>
          <p:nvPr/>
        </p:nvSpPr>
        <p:spPr>
          <a:xfrm>
            <a:off x="6988681" y="2706404"/>
            <a:ext cx="1164831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PAFX::RRVA-R09::RRVC-6B148A9D705DFB96::equipment::node-2"/>
          <p:cNvSpPr/>
          <p:nvPr/>
        </p:nvSpPr>
        <p:spPr>
          <a:xfrm>
            <a:off x="9271750" y="2706404"/>
            <a:ext cx="1164831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RRVA-R09::RRVC-6B148A9D705DFB96::equipment::connector"/>
          <p:cNvCxnSpPr/>
          <p:nvPr/>
        </p:nvCxnSpPr>
        <p:spPr>
          <a:xfrm>
            <a:off x="8246699" y="2970629"/>
            <a:ext cx="93186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PA::RRVA-R09::RRVC-6B148A9D705DFB96::equipment::secondary_visual::R09-EQUIPMENT"/>
          <p:cNvSpPr txBox="1"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5" name="PPAFX::RRVA-R09::RRVC-6B148A9D705DFB96::specification::frame"/>
          <p:cNvSpPr/>
          <p:nvPr/>
        </p:nvSpPr>
        <p:spPr>
          <a:xfrm>
            <a:off x="6382969" y="4187952"/>
            <a:ext cx="4659325" cy="86502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755715" y="4360956"/>
          <a:ext cx="3913833" cy="5190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611"/>
                <a:gridCol w="1304611"/>
                <a:gridCol w="1304611"/>
              </a:tblGrid>
              <a:tr h="17300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17300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73005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" name="PPA::RRVA-R09::RRVC-6B148A9D705DFB96::specification::specification_table::R09-SPECIFICATION"/>
          <p:cNvSpPr txBox="1"/>
          <p:nvPr/>
        </p:nvSpPr>
        <p:spPr>
          <a:xfrm>
            <a:off x="6382969" y="4187952"/>
            <a:ext cx="4659325" cy="86502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10::RRVC-EECA852EB17473EF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實驗設計與 Go / No-Go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10::RRVC-EECA852EB17473EF::hardware::frame"/>
          <p:cNvSpPr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10::RRVC-EECA852EB17473EF::hardware::node-1"/>
          <p:cNvSpPr/>
          <p:nvPr/>
        </p:nvSpPr>
        <p:spPr>
          <a:xfrm>
            <a:off x="1862339" y="2961191"/>
            <a:ext cx="1516989" cy="77065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10::RRVC-EECA852EB17473EF::hardware::node-2"/>
          <p:cNvSpPr/>
          <p:nvPr/>
        </p:nvSpPr>
        <p:spPr>
          <a:xfrm>
            <a:off x="4835638" y="2961191"/>
            <a:ext cx="1516989" cy="77065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10::RRVC-EECA852EB17473EF::hardware::connector"/>
          <p:cNvCxnSpPr/>
          <p:nvPr/>
        </p:nvCxnSpPr>
        <p:spPr>
          <a:xfrm>
            <a:off x="3500688" y="3346520"/>
            <a:ext cx="1213591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10::RRVC-EECA852EB17473EF::hardware::primary_visual::R10-HARDWARE"/>
          <p:cNvSpPr txBox="1"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若控制比較後訊號 CV 跨過決策門檻，才進入下一輪驗證。</a:t>
            </a:r>
          </a:p>
        </p:txBody>
      </p:sp>
      <p:sp>
        <p:nvSpPr>
          <p:cNvPr id="9" name="PPAFX::RRVA-R10::RRVC-EECA852EB17473EF::procedure::frame"/>
          <p:cNvSpPr/>
          <p:nvPr/>
        </p:nvSpPr>
        <p:spPr>
          <a:xfrm>
            <a:off x="7683246" y="2025395"/>
            <a:ext cx="3359048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51969" y="2402859"/>
          <a:ext cx="2821600" cy="1132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533"/>
                <a:gridCol w="940533"/>
                <a:gridCol w="940534"/>
              </a:tblGrid>
              <a:tr h="37746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PPA::RRVA-R10::RRVC-EECA852EB17473EF::procedure::procedure::R10-PROCEDURE"/>
          <p:cNvSpPr txBox="1"/>
          <p:nvPr/>
        </p:nvSpPr>
        <p:spPr>
          <a:xfrm>
            <a:off x="7683246" y="2025395"/>
            <a:ext cx="3359048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  <p:sp>
        <p:nvSpPr>
          <p:cNvPr id="12" name="PPA::RRVA-R10::RRVC-EECA852EB17473EF::go::go_criterion::R10-GO"/>
          <p:cNvSpPr txBox="1"/>
          <p:nvPr/>
        </p:nvSpPr>
        <p:spPr>
          <a:xfrm>
            <a:off x="7683246" y="4187952"/>
            <a:ext cx="335904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B00020"/>
                </a:solidFill>
                <a:latin typeface="Aptos"/>
              </a:rPr>
              <a:t>若控制比較後訊號 CV 跨過決策門檻，才進入下一輪驗證。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11::RRVC-A360B8A5E907791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結果與討論版面示意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11::RRVC-A360B8A5E9077913::photo_a::frame"/>
          <p:cNvSpPr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PPAFX::RRVA-R11::RRVC-A360B8A5E9077913::photo_a::plot-line-1"/>
          <p:cNvCxnSpPr/>
          <p:nvPr/>
        </p:nvCxnSpPr>
        <p:spPr>
          <a:xfrm>
            <a:off x="1498262" y="3037470"/>
            <a:ext cx="2245144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PPAFX::RRVA-R11::RRVC-A360B8A5E9077913::photo_a::plot-line-2"/>
          <p:cNvCxnSpPr/>
          <p:nvPr/>
        </p:nvCxnSpPr>
        <p:spPr>
          <a:xfrm flipV="1">
            <a:off x="1498262" y="2258950"/>
            <a:ext cx="0" cy="77852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PPAFX::RRVA-R11::RRVC-A360B8A5E9077913::photo_a::plot-line-3"/>
          <p:cNvCxnSpPr/>
          <p:nvPr/>
        </p:nvCxnSpPr>
        <p:spPr>
          <a:xfrm flipV="1">
            <a:off x="1680300" y="2440605"/>
            <a:ext cx="1668689" cy="44116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11::RRVC-A360B8A5E9077913::photo_a::primary_visual::R11-PHOTO_A"/>
          <p:cNvSpPr txBox="1"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預期版面示意，不代表實驗結果；主圖保留給未來量測結果。</a:t>
            </a:r>
          </a:p>
        </p:txBody>
      </p:sp>
      <p:sp>
        <p:nvSpPr>
          <p:cNvPr id="9" name="PPAFX::RRVA-R11::RRVC-A360B8A5E9077913::photo_b::frame"/>
          <p:cNvSpPr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PPAFX::RRVA-R11::RRVC-A360B8A5E9077913::photo_b::plot-line-1"/>
          <p:cNvCxnSpPr/>
          <p:nvPr/>
        </p:nvCxnSpPr>
        <p:spPr>
          <a:xfrm>
            <a:off x="4857311" y="3037470"/>
            <a:ext cx="2245144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PPAFX::RRVA-R11::RRVC-A360B8A5E9077913::photo_b::plot-line-2"/>
          <p:cNvCxnSpPr/>
          <p:nvPr/>
        </p:nvCxnSpPr>
        <p:spPr>
          <a:xfrm flipV="1">
            <a:off x="4857311" y="2258950"/>
            <a:ext cx="0" cy="77852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PPAFX::RRVA-R11::RRVC-A360B8A5E9077913::photo_b::plot-line-3"/>
          <p:cNvCxnSpPr/>
          <p:nvPr/>
        </p:nvCxnSpPr>
        <p:spPr>
          <a:xfrm flipV="1">
            <a:off x="5039349" y="2440605"/>
            <a:ext cx="1668689" cy="44116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RRVA-R11::RRVC-A360B8A5E9077913::photo_b::secondary_visual::R11-MEASUREMENT_C"/>
          <p:cNvSpPr txBox="1"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4" name="PPAFX::RRVA-R11::RRVC-A360B8A5E9077913::plot::frame"/>
          <p:cNvSpPr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PPAFX::RRVA-R11::RRVC-A360B8A5E9077913::plot::plot-line-1"/>
          <p:cNvCxnSpPr/>
          <p:nvPr/>
        </p:nvCxnSpPr>
        <p:spPr>
          <a:xfrm>
            <a:off x="8246698" y="3497505"/>
            <a:ext cx="2405512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PPAFX::RRVA-R11::RRVC-A360B8A5E9077913::plot::plot-line-2"/>
          <p:cNvCxnSpPr/>
          <p:nvPr/>
        </p:nvCxnSpPr>
        <p:spPr>
          <a:xfrm flipV="1">
            <a:off x="8246698" y="2365112"/>
            <a:ext cx="0" cy="1132393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PPAFX::RRVA-R11::RRVC-A360B8A5E9077913::plot::plot-line-3"/>
          <p:cNvCxnSpPr/>
          <p:nvPr/>
        </p:nvCxnSpPr>
        <p:spPr>
          <a:xfrm flipV="1">
            <a:off x="8441740" y="2629337"/>
            <a:ext cx="1787881" cy="641689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PA::RRVA-R11::RRVC-A360B8A5E9077913::plot::validation_plot::R11-PLOT"/>
          <p:cNvSpPr txBox="1"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主結果圖位置</a:t>
            </a:r>
          </a:p>
        </p:txBody>
      </p:sp>
      <p:sp>
        <p:nvSpPr>
          <p:cNvPr id="19" name="PPA::RRVA-R11::RRVC-A360B8A5E9077913::caption_a::caption::R11-CAPTION_A"/>
          <p:cNvSpPr txBox="1"/>
          <p:nvPr/>
        </p:nvSpPr>
        <p:spPr>
          <a:xfrm>
            <a:off x="1073505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資料來源：S-H002-EXPERIMENT-DESIGN-06</a:t>
            </a:r>
          </a:p>
        </p:txBody>
      </p:sp>
      <p:sp>
        <p:nvSpPr>
          <p:cNvPr id="20" name="PPA::RRVA-R11::RRVC-A360B8A5E9077913::caption_b::caption::R11-CAPTION_B"/>
          <p:cNvSpPr txBox="1"/>
          <p:nvPr/>
        </p:nvSpPr>
        <p:spPr>
          <a:xfrm>
            <a:off x="4432554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資料來源：S-H002-EXPERIMENT-DESIGN-06</a:t>
            </a:r>
          </a:p>
        </p:txBody>
      </p:sp>
      <p:sp>
        <p:nvSpPr>
          <p:cNvPr id="21" name="PPAFX::RRVA-R11::RRVC-A360B8A5E9077913::measurement_c::frame"/>
          <p:cNvSpPr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PPAFX::RRVA-R11::RRVC-A360B8A5E9077913::measurement_c::plot-line-1"/>
          <p:cNvCxnSpPr/>
          <p:nvPr/>
        </p:nvCxnSpPr>
        <p:spPr>
          <a:xfrm>
            <a:off x="8246698" y="4722692"/>
            <a:ext cx="2405512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PPAFX::RRVA-R11::RRVC-A360B8A5E9077913::measurement_c::plot-line-2"/>
          <p:cNvCxnSpPr/>
          <p:nvPr/>
        </p:nvCxnSpPr>
        <p:spPr>
          <a:xfrm flipV="1">
            <a:off x="8246698" y="4250862"/>
            <a:ext cx="0" cy="47183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PPAFX::RRVA-R11::RRVC-A360B8A5E9077913::measurement_c::plot-line-3"/>
          <p:cNvCxnSpPr/>
          <p:nvPr/>
        </p:nvCxnSpPr>
        <p:spPr>
          <a:xfrm flipV="1">
            <a:off x="8441740" y="4360955"/>
            <a:ext cx="1787881" cy="26737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PA::RRVA-R11::RRVC-A360B8A5E9077913::measurement_c::secondary_visual::R11-PHOTO_B"/>
          <p:cNvSpPr txBox="1"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26" name="PPA::RRVA-R11::RRVC-A360B8A5E9077913::context::compact_context::R11-CONTEXT"/>
          <p:cNvSpPr txBox="1"/>
          <p:nvPr/>
        </p:nvSpPr>
        <p:spPr>
          <a:xfrm>
            <a:off x="1073505" y="4266590"/>
            <a:ext cx="6393027" cy="66842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11::RRVC-D025BEB614E8C19C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結果與討論版面示意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11::RRVC-D025BEB614E8C19C::result::frame"/>
          <p:cNvSpPr/>
          <p:nvPr/>
        </p:nvSpPr>
        <p:spPr>
          <a:xfrm>
            <a:off x="1073505" y="2064715"/>
            <a:ext cx="6718096" cy="2634386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PPAFX::RRVA-R11::RRVC-D025BEB614E8C19C::result::plot-line-1"/>
          <p:cNvCxnSpPr/>
          <p:nvPr/>
        </p:nvCxnSpPr>
        <p:spPr>
          <a:xfrm>
            <a:off x="2014038" y="4119536"/>
            <a:ext cx="4971391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PPAFX::RRVA-R11::RRVC-D025BEB614E8C19C::result::plot-line-2"/>
          <p:cNvCxnSpPr/>
          <p:nvPr/>
        </p:nvCxnSpPr>
        <p:spPr>
          <a:xfrm flipV="1">
            <a:off x="2014038" y="2538904"/>
            <a:ext cx="0" cy="1580632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PPAFX::RRVA-R11::RRVC-D025BEB614E8C19C::result::plot-line-3"/>
          <p:cNvCxnSpPr/>
          <p:nvPr/>
        </p:nvCxnSpPr>
        <p:spPr>
          <a:xfrm flipV="1">
            <a:off x="2417124" y="2907718"/>
            <a:ext cx="3694953" cy="89569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11::RRVC-D025BEB614E8C19C::result::primary_visual::R11-RESULT"/>
          <p:cNvSpPr txBox="1"/>
          <p:nvPr/>
        </p:nvSpPr>
        <p:spPr>
          <a:xfrm>
            <a:off x="1073505" y="2064715"/>
            <a:ext cx="6718096" cy="263438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預期版面示意，不代表實驗結果；主圖保留給未來量測結果。</a:t>
            </a:r>
          </a:p>
        </p:txBody>
      </p:sp>
      <p:sp>
        <p:nvSpPr>
          <p:cNvPr id="9" name="PPA::RRVA-R11::RRVC-D025BEB614E8C19C::metric::metric_callout::R11-METRIC"/>
          <p:cNvSpPr txBox="1"/>
          <p:nvPr/>
        </p:nvSpPr>
        <p:spPr>
          <a:xfrm>
            <a:off x="8441740" y="2143353"/>
            <a:ext cx="2600553" cy="86502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2200" b="1" i="0">
                <a:solidFill>
                  <a:srgbClr val="B00020"/>
                </a:solidFill>
                <a:latin typeface="Aptos"/>
              </a:rPr>
              <a:t>預期版面示意，不代表實驗結果；主圖保留給未來量測結果。</a:t>
            </a:r>
          </a:p>
        </p:txBody>
      </p:sp>
      <p:sp>
        <p:nvSpPr>
          <p:cNvPr id="10" name="PPA::RRVA-R11::RRVC-D025BEB614E8C19C::context::compact_context::R11-CONTEXT"/>
          <p:cNvSpPr txBox="1"/>
          <p:nvPr/>
        </p:nvSpPr>
        <p:spPr>
          <a:xfrm>
            <a:off x="8441740" y="3401568"/>
            <a:ext cx="2600553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12::RRVC-1AC941F2F6BE6B96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問題至機制至解法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12::RRVC-1AC941F2F6BE6B96::principle::frame"/>
          <p:cNvSpPr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12::RRVC-1AC941F2F6BE6B96::principle::node-1"/>
          <p:cNvSpPr/>
          <p:nvPr/>
        </p:nvSpPr>
        <p:spPr>
          <a:xfrm>
            <a:off x="1707389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12::RRVC-1AC941F2F6BE6B96::principle::node-2"/>
          <p:cNvSpPr/>
          <p:nvPr/>
        </p:nvSpPr>
        <p:spPr>
          <a:xfrm>
            <a:off x="4096648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12::RRVC-1AC941F2F6BE6B96::principle::connector"/>
          <p:cNvCxnSpPr/>
          <p:nvPr/>
        </p:nvCxnSpPr>
        <p:spPr>
          <a:xfrm>
            <a:off x="3023920" y="3064995"/>
            <a:ext cx="97520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12::RRVC-1AC941F2F6BE6B96::principle::primary_visual::R12-PRINCIPLE"/>
          <p:cNvSpPr txBox="1"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問題：低壓接觸不穩；機制：contact resistance；策略：匹配導電度並改變壓力。</a:t>
            </a:r>
          </a:p>
        </p:txBody>
      </p:sp>
      <p:sp>
        <p:nvSpPr>
          <p:cNvPr id="9" name="PPA::RRVA-R12::RRVC-1AC941F2F6BE6B96::formula::formula::R12-FORMULA"/>
          <p:cNvSpPr txBox="1"/>
          <p:nvPr/>
        </p:nvSpPr>
        <p:spPr>
          <a:xfrm>
            <a:off x="1073505" y="4423867"/>
            <a:ext cx="487603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0" i="0">
                <a:solidFill>
                  <a:srgbClr val="1F1F1F"/>
                </a:solidFill>
                <a:latin typeface="Aptos"/>
              </a:rPr>
              <a:t>問題：低壓接觸不穩；機制：contact resistance；策略：匹配導電度並改變壓力。</a:t>
            </a:r>
          </a:p>
        </p:txBody>
      </p:sp>
      <p:sp>
        <p:nvSpPr>
          <p:cNvPr id="10" name="PPAFX::RRVA-R12::RRVC-1AC941F2F6BE6B96::equipment::frame"/>
          <p:cNvSpPr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12::RRVC-1AC941F2F6BE6B96::equipment::node-1"/>
          <p:cNvSpPr/>
          <p:nvPr/>
        </p:nvSpPr>
        <p:spPr>
          <a:xfrm>
            <a:off x="6988681" y="2706404"/>
            <a:ext cx="1164831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PAFX::RRVA-R12::RRVC-1AC941F2F6BE6B96::equipment::node-2"/>
          <p:cNvSpPr/>
          <p:nvPr/>
        </p:nvSpPr>
        <p:spPr>
          <a:xfrm>
            <a:off x="9271750" y="2706404"/>
            <a:ext cx="1164831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RRVA-R12::RRVC-1AC941F2F6BE6B96::equipment::connector"/>
          <p:cNvCxnSpPr/>
          <p:nvPr/>
        </p:nvCxnSpPr>
        <p:spPr>
          <a:xfrm>
            <a:off x="8246699" y="2970629"/>
            <a:ext cx="93186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PA::RRVA-R12::RRVC-1AC941F2F6BE6B96::equipment::secondary_visual::R12-EQUIPMENT"/>
          <p:cNvSpPr txBox="1"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5" name="PPAFX::RRVA-R12::RRVC-1AC941F2F6BE6B96::specification::frame"/>
          <p:cNvSpPr/>
          <p:nvPr/>
        </p:nvSpPr>
        <p:spPr>
          <a:xfrm>
            <a:off x="6382969" y="4187952"/>
            <a:ext cx="4659325" cy="86502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755715" y="4360956"/>
          <a:ext cx="3913833" cy="5190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611"/>
                <a:gridCol w="1304611"/>
                <a:gridCol w="1304611"/>
              </a:tblGrid>
              <a:tr h="17300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17300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73005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" name="PPA::RRVA-R12::RRVC-1AC941F2F6BE6B96::specification::specification_table::R12-SPECIFICATION"/>
          <p:cNvSpPr txBox="1"/>
          <p:nvPr/>
        </p:nvSpPr>
        <p:spPr>
          <a:xfrm>
            <a:off x="6382969" y="4187952"/>
            <a:ext cx="4659325" cy="86502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12::RRVC-6223C9AB9C96B097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問題至機制至解法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RRVA-R12::RRVC-6223C9AB9C96B097::problem::problem_statement::R12-PROBLEM"/>
          <p:cNvSpPr txBox="1"/>
          <p:nvPr/>
        </p:nvSpPr>
        <p:spPr>
          <a:xfrm>
            <a:off x="1073505" y="1986076"/>
            <a:ext cx="9968788" cy="106161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問題：低壓接觸不穩；機制：contact resistance；策略：匹配導電度並改變壓力。</a:t>
            </a:r>
          </a:p>
        </p:txBody>
      </p:sp>
      <p:sp>
        <p:nvSpPr>
          <p:cNvPr id="5" name="PPAFX::RRVA-R12::RRVC-6223C9AB9C96B097::solution::frame"/>
          <p:cNvSpPr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12::RRVC-6223C9AB9C96B097::solution::node-1"/>
          <p:cNvSpPr/>
          <p:nvPr/>
        </p:nvSpPr>
        <p:spPr>
          <a:xfrm>
            <a:off x="1876425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PAFX::RRVA-R12::RRVC-6223C9AB9C96B097::solution::node-2"/>
          <p:cNvSpPr/>
          <p:nvPr/>
        </p:nvSpPr>
        <p:spPr>
          <a:xfrm>
            <a:off x="4902819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PPAFX::RRVA-R12::RRVC-6223C9AB9C96B097::solution::connector"/>
          <p:cNvCxnSpPr/>
          <p:nvPr/>
        </p:nvCxnSpPr>
        <p:spPr>
          <a:xfrm>
            <a:off x="3544030" y="4098303"/>
            <a:ext cx="1235263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PA::RRVA-R12::RRVC-6223C9AB9C96B097::solution::solution_path::R12-SOLUTION"/>
          <p:cNvSpPr txBox="1"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問題 → 機制 → 受控比較</a:t>
            </a:r>
          </a:p>
        </p:txBody>
      </p:sp>
      <p:sp>
        <p:nvSpPr>
          <p:cNvPr id="10" name="PPAFX::RRVA-R12::RRVC-6223C9AB9C96B097::support::frame"/>
          <p:cNvSpPr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12::RRVC-6223C9AB9C96B097::support::node-1"/>
          <p:cNvSpPr/>
          <p:nvPr/>
        </p:nvSpPr>
        <p:spPr>
          <a:xfrm>
            <a:off x="8308461" y="3883620"/>
            <a:ext cx="785583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PAFX::RRVA-R12::RRVC-6223C9AB9C96B097::support::node-2"/>
          <p:cNvSpPr/>
          <p:nvPr/>
        </p:nvSpPr>
        <p:spPr>
          <a:xfrm>
            <a:off x="9848205" y="3883620"/>
            <a:ext cx="785583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RRVA-R12::RRVC-6223C9AB9C96B097::support::connector"/>
          <p:cNvCxnSpPr/>
          <p:nvPr/>
        </p:nvCxnSpPr>
        <p:spPr>
          <a:xfrm>
            <a:off x="9156892" y="4098303"/>
            <a:ext cx="62846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PA::RRVA-R12::RRVC-6223C9AB9C96B097::support::support_visual::R12-SUPPORT"/>
          <p:cNvSpPr txBox="1"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量測與驗證支援圖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13::RRVC-B32D68F0CB335D6A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物理驗證與比較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13::RRVC-B32D68F0CB335D6A::photo_a::frame"/>
          <p:cNvSpPr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13::RRVC-B32D68F0CB335D6A::photo_a::node-1"/>
          <p:cNvSpPr/>
          <p:nvPr/>
        </p:nvSpPr>
        <p:spPr>
          <a:xfrm>
            <a:off x="1467922" y="2466556"/>
            <a:ext cx="758494" cy="36330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13::RRVC-B32D68F0CB335D6A::photo_a::node-2"/>
          <p:cNvSpPr/>
          <p:nvPr/>
        </p:nvSpPr>
        <p:spPr>
          <a:xfrm>
            <a:off x="2954571" y="2466556"/>
            <a:ext cx="758494" cy="36330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13::RRVC-B32D68F0CB335D6A::photo_a::connector"/>
          <p:cNvCxnSpPr/>
          <p:nvPr/>
        </p:nvCxnSpPr>
        <p:spPr>
          <a:xfrm>
            <a:off x="2287096" y="2648210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13::RRVC-B32D68F0CB335D6A::photo_a::primary_visual::R13-PHOTO_A"/>
          <p:cNvSpPr txBox="1"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以相同位置與相同判準水平對齊 control / treatment 的比較結果。</a:t>
            </a:r>
          </a:p>
        </p:txBody>
      </p:sp>
      <p:sp>
        <p:nvSpPr>
          <p:cNvPr id="9" name="PPAFX::RRVA-R13::RRVC-B32D68F0CB335D6A::photo_b::frame"/>
          <p:cNvSpPr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RRVA-R13::RRVC-B32D68F0CB335D6A::photo_b::node-1"/>
          <p:cNvSpPr/>
          <p:nvPr/>
        </p:nvSpPr>
        <p:spPr>
          <a:xfrm>
            <a:off x="4826971" y="2466556"/>
            <a:ext cx="758494" cy="36330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13::RRVC-B32D68F0CB335D6A::photo_b::node-2"/>
          <p:cNvSpPr/>
          <p:nvPr/>
        </p:nvSpPr>
        <p:spPr>
          <a:xfrm>
            <a:off x="6313620" y="2466556"/>
            <a:ext cx="758494" cy="36330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RRVA-R13::RRVC-B32D68F0CB335D6A::photo_b::connector"/>
          <p:cNvCxnSpPr/>
          <p:nvPr/>
        </p:nvCxnSpPr>
        <p:spPr>
          <a:xfrm>
            <a:off x="5646145" y="2648210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RRVA-R13::RRVC-B32D68F0CB335D6A::photo_b::secondary_visual::R13-MEASUREMENT_C"/>
          <p:cNvSpPr txBox="1"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4" name="PPAFX::RRVA-R13::RRVC-B32D68F0CB335D6A::plot::frame"/>
          <p:cNvSpPr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PPAFX::RRVA-R13::RRVC-B32D68F0CB335D6A::plot::plot-line-1"/>
          <p:cNvCxnSpPr/>
          <p:nvPr/>
        </p:nvCxnSpPr>
        <p:spPr>
          <a:xfrm>
            <a:off x="8246698" y="3497505"/>
            <a:ext cx="2405512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PPAFX::RRVA-R13::RRVC-B32D68F0CB335D6A::plot::plot-line-2"/>
          <p:cNvCxnSpPr/>
          <p:nvPr/>
        </p:nvCxnSpPr>
        <p:spPr>
          <a:xfrm flipV="1">
            <a:off x="8246698" y="2365112"/>
            <a:ext cx="0" cy="1132393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PPAFX::RRVA-R13::RRVC-B32D68F0CB335D6A::plot::plot-line-3"/>
          <p:cNvCxnSpPr/>
          <p:nvPr/>
        </p:nvCxnSpPr>
        <p:spPr>
          <a:xfrm flipV="1">
            <a:off x="8441740" y="2629337"/>
            <a:ext cx="1787881" cy="641689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PA::RRVA-R13::RRVC-B32D68F0CB335D6A::plot::validation_plot::R13-PLOT"/>
          <p:cNvSpPr txBox="1"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主結果圖位置</a:t>
            </a:r>
          </a:p>
        </p:txBody>
      </p:sp>
      <p:sp>
        <p:nvSpPr>
          <p:cNvPr id="19" name="PPA::RRVA-R13::RRVC-B32D68F0CB335D6A::caption_a::caption::R13-CAPTION_A"/>
          <p:cNvSpPr txBox="1"/>
          <p:nvPr/>
        </p:nvSpPr>
        <p:spPr>
          <a:xfrm>
            <a:off x="1073505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資料來源：S-H002-EXPERIMENT-DESIGN-06</a:t>
            </a:r>
          </a:p>
        </p:txBody>
      </p:sp>
      <p:sp>
        <p:nvSpPr>
          <p:cNvPr id="20" name="PPA::RRVA-R13::RRVC-B32D68F0CB335D6A::caption_b::caption::R13-CAPTION_B"/>
          <p:cNvSpPr txBox="1"/>
          <p:nvPr/>
        </p:nvSpPr>
        <p:spPr>
          <a:xfrm>
            <a:off x="4432554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資料來源：S-H002-EXPERIMENT-DESIGN-06</a:t>
            </a:r>
          </a:p>
        </p:txBody>
      </p:sp>
      <p:sp>
        <p:nvSpPr>
          <p:cNvPr id="21" name="PPAFX::RRVA-R13::RRVC-B32D68F0CB335D6A::measurement_c::frame"/>
          <p:cNvSpPr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PAFX::RRVA-R13::RRVC-B32D68F0CB335D6A::measurement_c::node-1"/>
          <p:cNvSpPr/>
          <p:nvPr/>
        </p:nvSpPr>
        <p:spPr>
          <a:xfrm>
            <a:off x="8214191" y="4376683"/>
            <a:ext cx="812673" cy="220187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PAFX::RRVA-R13::RRVC-B32D68F0CB335D6A::measurement_c::node-2"/>
          <p:cNvSpPr/>
          <p:nvPr/>
        </p:nvSpPr>
        <p:spPr>
          <a:xfrm>
            <a:off x="9807031" y="4376683"/>
            <a:ext cx="812673" cy="220187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PPAFX::RRVA-R13::RRVC-B32D68F0CB335D6A::measurement_c::connector"/>
          <p:cNvCxnSpPr/>
          <p:nvPr/>
        </p:nvCxnSpPr>
        <p:spPr>
          <a:xfrm>
            <a:off x="9091878" y="4486777"/>
            <a:ext cx="650139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PA::RRVA-R13::RRVC-B32D68F0CB335D6A::measurement_c::secondary_visual::R13-PHOTO_B"/>
          <p:cNvSpPr txBox="1"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26" name="PPA::RRVA-R13::RRVC-B32D68F0CB335D6A::context::compact_context::R13-CONTEXT"/>
          <p:cNvSpPr txBox="1"/>
          <p:nvPr/>
        </p:nvSpPr>
        <p:spPr>
          <a:xfrm>
            <a:off x="1073505" y="4266590"/>
            <a:ext cx="6393027" cy="66842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13::RRVC-BD0A59D0EA7405B4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物理驗證與比較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13::RRVC-BD0A59D0EA7405B4::column_a::frame"/>
          <p:cNvSpPr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13::RRVC-BD0A59D0EA7405B4::column_a::node-1"/>
          <p:cNvSpPr/>
          <p:nvPr/>
        </p:nvSpPr>
        <p:spPr>
          <a:xfrm>
            <a:off x="1453835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13::RRVC-BD0A59D0EA7405B4::column_a::node-2"/>
          <p:cNvSpPr/>
          <p:nvPr/>
        </p:nvSpPr>
        <p:spPr>
          <a:xfrm>
            <a:off x="2887390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13::RRVC-BD0A59D0EA7405B4::column_a::connector"/>
          <p:cNvCxnSpPr/>
          <p:nvPr/>
        </p:nvCxnSpPr>
        <p:spPr>
          <a:xfrm>
            <a:off x="2243753" y="3121615"/>
            <a:ext cx="58512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13::RRVC-BD0A59D0EA7405B4::column_a::primary_visual::R13-COLUMN_A"/>
          <p:cNvSpPr txBox="1"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以相同位置與相同判準水平對齊 control / treatment 的比較結果。</a:t>
            </a:r>
          </a:p>
        </p:txBody>
      </p:sp>
      <p:sp>
        <p:nvSpPr>
          <p:cNvPr id="9" name="PPAFX::RRVA-R13::RRVC-BD0A59D0EA7405B4::column_b::frame"/>
          <p:cNvSpPr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RRVA-R13::RRVC-BD0A59D0EA7405B4::column_b::node-1"/>
          <p:cNvSpPr/>
          <p:nvPr/>
        </p:nvSpPr>
        <p:spPr>
          <a:xfrm>
            <a:off x="4975418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13::RRVC-BD0A59D0EA7405B4::column_b::node-2"/>
          <p:cNvSpPr/>
          <p:nvPr/>
        </p:nvSpPr>
        <p:spPr>
          <a:xfrm>
            <a:off x="6408973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RRVA-R13::RRVC-BD0A59D0EA7405B4::column_b::connector"/>
          <p:cNvCxnSpPr/>
          <p:nvPr/>
        </p:nvCxnSpPr>
        <p:spPr>
          <a:xfrm>
            <a:off x="5765336" y="3121615"/>
            <a:ext cx="58512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RRVA-R13::RRVC-BD0A59D0EA7405B4::column_b::secondary_visual::R13-COLUMN_B"/>
          <p:cNvSpPr txBox="1"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4" name="PPAFX::RRVA-R13::RRVC-BD0A59D0EA7405B4::column_c::frame"/>
          <p:cNvSpPr/>
          <p:nvPr/>
        </p:nvSpPr>
        <p:spPr>
          <a:xfrm>
            <a:off x="8116671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PAFX::RRVA-R13::RRVC-BD0A59D0EA7405B4::column_c::node-1"/>
          <p:cNvSpPr/>
          <p:nvPr/>
        </p:nvSpPr>
        <p:spPr>
          <a:xfrm>
            <a:off x="8497001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PAFX::RRVA-R13::RRVC-BD0A59D0EA7405B4::column_c::node-2"/>
          <p:cNvSpPr/>
          <p:nvPr/>
        </p:nvSpPr>
        <p:spPr>
          <a:xfrm>
            <a:off x="9930556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PPAFX::RRVA-R13::RRVC-BD0A59D0EA7405B4::column_c::connector"/>
          <p:cNvCxnSpPr/>
          <p:nvPr/>
        </p:nvCxnSpPr>
        <p:spPr>
          <a:xfrm>
            <a:off x="9286919" y="3121615"/>
            <a:ext cx="58512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PA::RRVA-R13::RRVC-BD0A59D0EA7405B4::column_c::secondary_visual::R13-COLUMN_C"/>
          <p:cNvSpPr txBox="1"/>
          <p:nvPr/>
        </p:nvSpPr>
        <p:spPr>
          <a:xfrm>
            <a:off x="8116671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9" name="PPAFX::RRVA-R13::RRVC-BD0A59D0EA7405B4::criteria::frame"/>
          <p:cNvSpPr/>
          <p:nvPr/>
        </p:nvSpPr>
        <p:spPr>
          <a:xfrm>
            <a:off x="1073505" y="4581144"/>
            <a:ext cx="6501384" cy="471830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93615" y="4675510"/>
          <a:ext cx="5461162" cy="283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87"/>
                <a:gridCol w="1820387"/>
                <a:gridCol w="1820388"/>
              </a:tblGrid>
              <a:tr h="94366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94366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94366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PPA::RRVA-R13::RRVC-BD0A59D0EA7405B4::criteria::criteria_strip::R13-CRITERIA"/>
          <p:cNvSpPr txBox="1"/>
          <p:nvPr/>
        </p:nvSpPr>
        <p:spPr>
          <a:xfrm>
            <a:off x="1073505" y="4581144"/>
            <a:ext cx="6501384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  <p:sp>
        <p:nvSpPr>
          <p:cNvPr id="22" name="PPA::RRVA-R13::RRVC-BD0A59D0EA7405B4::decision::decision_callout::R13-DECISION"/>
          <p:cNvSpPr txBox="1"/>
          <p:nvPr/>
        </p:nvSpPr>
        <p:spPr>
          <a:xfrm>
            <a:off x="8225027" y="4581144"/>
            <a:ext cx="2817266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B00020"/>
                </a:solidFill>
                <a:latin typeface="Aptos"/>
              </a:rPr>
              <a:t>以相同位置與相同判準水平對齊 control / treatment 的比較結果。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14::RRVC-1D4C0277DB4165C2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決策與下一步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14::RRVC-1D4C0277DB4165C2::column_a::frame"/>
          <p:cNvSpPr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14::RRVC-1D4C0277DB4165C2::column_a::node-1"/>
          <p:cNvSpPr/>
          <p:nvPr/>
        </p:nvSpPr>
        <p:spPr>
          <a:xfrm>
            <a:off x="1453835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14::RRVC-1D4C0277DB4165C2::column_a::node-2"/>
          <p:cNvSpPr/>
          <p:nvPr/>
        </p:nvSpPr>
        <p:spPr>
          <a:xfrm>
            <a:off x="2887390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14::RRVC-1D4C0277DB4165C2::column_a::connector"/>
          <p:cNvCxnSpPr/>
          <p:nvPr/>
        </p:nvCxnSpPr>
        <p:spPr>
          <a:xfrm>
            <a:off x="2243753" y="3121615"/>
            <a:ext cx="58512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14::RRVC-1D4C0277DB4165C2::column_a::primary_visual::R14-COLUMN_A"/>
          <p:cNvSpPr txBox="1"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依控制比較結果決定是否保留接觸介面假說，並安排下一步驗證。</a:t>
            </a:r>
          </a:p>
        </p:txBody>
      </p:sp>
      <p:sp>
        <p:nvSpPr>
          <p:cNvPr id="9" name="PPAFX::RRVA-R14::RRVC-1D4C0277DB4165C2::column_b::frame"/>
          <p:cNvSpPr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RRVA-R14::RRVC-1D4C0277DB4165C2::column_b::node-1"/>
          <p:cNvSpPr/>
          <p:nvPr/>
        </p:nvSpPr>
        <p:spPr>
          <a:xfrm>
            <a:off x="4975418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RRVA-R14::RRVC-1D4C0277DB4165C2::column_b::node-2"/>
          <p:cNvSpPr/>
          <p:nvPr/>
        </p:nvSpPr>
        <p:spPr>
          <a:xfrm>
            <a:off x="6408973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RRVA-R14::RRVC-1D4C0277DB4165C2::column_b::connector"/>
          <p:cNvCxnSpPr/>
          <p:nvPr/>
        </p:nvCxnSpPr>
        <p:spPr>
          <a:xfrm>
            <a:off x="5765336" y="3121615"/>
            <a:ext cx="58512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RRVA-R14::RRVC-1D4C0277DB4165C2::column_b::secondary_visual::R14-COLUMN_B"/>
          <p:cNvSpPr txBox="1"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4" name="PPAFX::RRVA-R14::RRVC-1D4C0277DB4165C2::column_c::frame"/>
          <p:cNvSpPr/>
          <p:nvPr/>
        </p:nvSpPr>
        <p:spPr>
          <a:xfrm>
            <a:off x="8116671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PAFX::RRVA-R14::RRVC-1D4C0277DB4165C2::column_c::node-1"/>
          <p:cNvSpPr/>
          <p:nvPr/>
        </p:nvSpPr>
        <p:spPr>
          <a:xfrm>
            <a:off x="8497001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PAFX::RRVA-R14::RRVC-1D4C0277DB4165C2::column_c::node-2"/>
          <p:cNvSpPr/>
          <p:nvPr/>
        </p:nvSpPr>
        <p:spPr>
          <a:xfrm>
            <a:off x="9930556" y="2813352"/>
            <a:ext cx="731405" cy="61652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PPAFX::RRVA-R14::RRVC-1D4C0277DB4165C2::column_c::connector"/>
          <p:cNvCxnSpPr/>
          <p:nvPr/>
        </p:nvCxnSpPr>
        <p:spPr>
          <a:xfrm>
            <a:off x="9286919" y="3121615"/>
            <a:ext cx="585125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PA::RRVA-R14::RRVC-1D4C0277DB4165C2::column_c::secondary_visual::R14-COLUMN_C"/>
          <p:cNvSpPr txBox="1"/>
          <p:nvPr/>
        </p:nvSpPr>
        <p:spPr>
          <a:xfrm>
            <a:off x="8116671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受控比較結構</a:t>
            </a:r>
          </a:p>
        </p:txBody>
      </p:sp>
      <p:sp>
        <p:nvSpPr>
          <p:cNvPr id="19" name="PPAFX::RRVA-R14::RRVC-1D4C0277DB4165C2::criteria::frame"/>
          <p:cNvSpPr/>
          <p:nvPr/>
        </p:nvSpPr>
        <p:spPr>
          <a:xfrm>
            <a:off x="1073505" y="4581144"/>
            <a:ext cx="6501384" cy="471830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93615" y="4675510"/>
          <a:ext cx="5461162" cy="283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87"/>
                <a:gridCol w="1820387"/>
                <a:gridCol w="1820388"/>
              </a:tblGrid>
              <a:tr h="94366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94366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94366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PPA::RRVA-R14::RRVC-1D4C0277DB4165C2::criteria::criteria_strip::R14-CRITERIA"/>
          <p:cNvSpPr txBox="1"/>
          <p:nvPr/>
        </p:nvSpPr>
        <p:spPr>
          <a:xfrm>
            <a:off x="1073505" y="4581144"/>
            <a:ext cx="6501384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  <p:sp>
        <p:nvSpPr>
          <p:cNvPr id="22" name="PPA::RRVA-R14::RRVC-1D4C0277DB4165C2::decision::decision_callout::R14-DECISION"/>
          <p:cNvSpPr txBox="1"/>
          <p:nvPr/>
        </p:nvSpPr>
        <p:spPr>
          <a:xfrm>
            <a:off x="8225027" y="4581144"/>
            <a:ext cx="2817266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B00020"/>
                </a:solidFill>
                <a:latin typeface="Aptos"/>
              </a:rPr>
              <a:t>依控制比較結果決定是否保留接觸介面假說，並安排下一步驗證。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RRVA-R14::RRVC-CAD9A32016A1C4CA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決策與下一步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RRVA-R14::RRVC-CAD9A32016A1C4CA::hardware::frame"/>
          <p:cNvSpPr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RRVA-R14::RRVC-CAD9A32016A1C4CA::hardware::node-1"/>
          <p:cNvSpPr/>
          <p:nvPr/>
        </p:nvSpPr>
        <p:spPr>
          <a:xfrm>
            <a:off x="1862339" y="2961191"/>
            <a:ext cx="1516989" cy="77065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RRVA-R14::RRVC-CAD9A32016A1C4CA::hardware::node-2"/>
          <p:cNvSpPr/>
          <p:nvPr/>
        </p:nvSpPr>
        <p:spPr>
          <a:xfrm>
            <a:off x="4835638" y="2961191"/>
            <a:ext cx="1516989" cy="77065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RRVA-R14::RRVC-CAD9A32016A1C4CA::hardware::connector"/>
          <p:cNvCxnSpPr/>
          <p:nvPr/>
        </p:nvCxnSpPr>
        <p:spPr>
          <a:xfrm>
            <a:off x="3500688" y="3346520"/>
            <a:ext cx="1213591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RRVA-R14::RRVC-CAD9A32016A1C4CA::hardware::primary_visual::R14-HARDWARE"/>
          <p:cNvSpPr txBox="1"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依控制比較結果決定是否保留接觸介面假說，並安排下一步驗證。</a:t>
            </a:r>
          </a:p>
        </p:txBody>
      </p:sp>
      <p:sp>
        <p:nvSpPr>
          <p:cNvPr id="9" name="PPAFX::RRVA-R14::RRVC-CAD9A32016A1C4CA::procedure::frame"/>
          <p:cNvSpPr/>
          <p:nvPr/>
        </p:nvSpPr>
        <p:spPr>
          <a:xfrm>
            <a:off x="7683246" y="2025395"/>
            <a:ext cx="3359048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51969" y="2402859"/>
          <a:ext cx="2821600" cy="1132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533"/>
                <a:gridCol w="940533"/>
                <a:gridCol w="940534"/>
              </a:tblGrid>
              <a:tr h="37746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PPA::RRVA-R14::RRVC-CAD9A32016A1C4CA::procedure::procedure::R14-PROCEDURE"/>
          <p:cNvSpPr txBox="1"/>
          <p:nvPr/>
        </p:nvSpPr>
        <p:spPr>
          <a:xfrm>
            <a:off x="7683246" y="2025395"/>
            <a:ext cx="3359048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控制變因、量測鏈與判準依來源閉合</a:t>
            </a:r>
          </a:p>
        </p:txBody>
      </p:sp>
      <p:sp>
        <p:nvSpPr>
          <p:cNvPr id="12" name="PPA::RRVA-R14::RRVC-CAD9A32016A1C4CA::go::go_criterion::R14-GO"/>
          <p:cNvSpPr txBox="1"/>
          <p:nvPr/>
        </p:nvSpPr>
        <p:spPr>
          <a:xfrm>
            <a:off x="7683246" y="4187952"/>
            <a:ext cx="335904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B00020"/>
                </a:solidFill>
                <a:latin typeface="Aptos"/>
              </a:rPr>
              <a:t>依控制比較結果決定是否保留接觸介面假說，並安排下一步驗證。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FEASIBILITY-EVIDENCE-MATRIX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結構校準附錄｜FEASIBILITY-EVIDENCE-MATRIX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PPA-GOLDEN-FEASIBILITY-EVIDENCE-MATRIX::PPC-GOLDEN-FEASIBILITY-EVIDENCE-MATRIX::explanation::procedure::GOLDEN-EXPLANATION"/>
          <p:cNvSpPr txBox="1"/>
          <p:nvPr/>
        </p:nvSpPr>
        <p:spPr>
          <a:xfrm>
            <a:off x="1073505" y="1986076"/>
            <a:ext cx="3033979" cy="306689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Method sequence</a:t>
            </a:r>
          </a:p>
        </p:txBody>
      </p:sp>
      <p:sp>
        <p:nvSpPr>
          <p:cNvPr id="5" name="PPAFX::PPA-GOLDEN-FEASIBILITY-EVIDENCE-MATRIX::PPC-GOLDEN-FEASIBILITY-EVIDENCE-MATRIX::matrix_a::frame"/>
          <p:cNvSpPr/>
          <p:nvPr/>
        </p:nvSpPr>
        <p:spPr>
          <a:xfrm>
            <a:off x="4649266" y="2025395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FEASIBILITY-EVIDENCE-MATRIX::PPC-GOLDEN-FEASIBILITY-EVIDENCE-MATRIX::matrix_a::visual-frame"/>
          <p:cNvSpPr/>
          <p:nvPr/>
        </p:nvSpPr>
        <p:spPr>
          <a:xfrm>
            <a:off x="5212719" y="2346239"/>
            <a:ext cx="1634014" cy="614951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GOLDEN-FEASIBILITY-EVIDENCE-MATRIX::PPC-GOLDEN-FEASIBILITY-EVIDENCE-MATRIX::matrix_a::dimension-line"/>
          <p:cNvCxnSpPr/>
          <p:nvPr/>
        </p:nvCxnSpPr>
        <p:spPr>
          <a:xfrm>
            <a:off x="4987337" y="3094876"/>
            <a:ext cx="214112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FEASIBILITY-EVIDENCE-MATRIX::PPC-GOLDEN-FEASIBILITY-EVIDENCE-MATRIX::matrix_a::primary_visual::GOLDEN-MATRIX_A"/>
          <p:cNvSpPr txBox="1"/>
          <p:nvPr/>
        </p:nvSpPr>
        <p:spPr>
          <a:xfrm>
            <a:off x="4649266" y="2025395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9" name="PPAFX::PPA-GOLDEN-FEASIBILITY-EVIDENCE-MATRIX::PPC-GOLDEN-FEASIBILITY-EVIDENCE-MATRIX::matrix_b::frame"/>
          <p:cNvSpPr/>
          <p:nvPr/>
        </p:nvSpPr>
        <p:spPr>
          <a:xfrm>
            <a:off x="8008315" y="2025395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PPA-GOLDEN-FEASIBILITY-EVIDENCE-MATRIX::PPC-GOLDEN-FEASIBILITY-EVIDENCE-MATRIX::matrix_b::visual-frame"/>
          <p:cNvSpPr/>
          <p:nvPr/>
        </p:nvSpPr>
        <p:spPr>
          <a:xfrm>
            <a:off x="8571768" y="2346239"/>
            <a:ext cx="1634014" cy="614951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PPAFX::PPA-GOLDEN-FEASIBILITY-EVIDENCE-MATRIX::PPC-GOLDEN-FEASIBILITY-EVIDENCE-MATRIX::matrix_b::dimension-line"/>
          <p:cNvCxnSpPr/>
          <p:nvPr/>
        </p:nvCxnSpPr>
        <p:spPr>
          <a:xfrm>
            <a:off x="8346386" y="3094876"/>
            <a:ext cx="214112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PA::PPA-GOLDEN-FEASIBILITY-EVIDENCE-MATRIX::PPC-GOLDEN-FEASIBILITY-EVIDENCE-MATRIX::matrix_b::secondary_visual::GOLDEN-MATRIX_B"/>
          <p:cNvSpPr txBox="1"/>
          <p:nvPr/>
        </p:nvSpPr>
        <p:spPr>
          <a:xfrm>
            <a:off x="8008315" y="2025395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3" name="PPAFX::PPA-GOLDEN-FEASIBILITY-EVIDENCE-MATRIX::PPC-GOLDEN-FEASIBILITY-EVIDENCE-MATRIX::matrix_c::frame"/>
          <p:cNvSpPr/>
          <p:nvPr/>
        </p:nvSpPr>
        <p:spPr>
          <a:xfrm>
            <a:off x="4649266" y="3676802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PAFX::PPA-GOLDEN-FEASIBILITY-EVIDENCE-MATRIX::PPC-GOLDEN-FEASIBILITY-EVIDENCE-MATRIX::matrix_c::visual-frame"/>
          <p:cNvSpPr/>
          <p:nvPr/>
        </p:nvSpPr>
        <p:spPr>
          <a:xfrm>
            <a:off x="5212719" y="3997646"/>
            <a:ext cx="1634014" cy="614951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PPAFX::PPA-GOLDEN-FEASIBILITY-EVIDENCE-MATRIX::PPC-GOLDEN-FEASIBILITY-EVIDENCE-MATRIX::matrix_c::dimension-line"/>
          <p:cNvCxnSpPr/>
          <p:nvPr/>
        </p:nvCxnSpPr>
        <p:spPr>
          <a:xfrm>
            <a:off x="4987337" y="4746283"/>
            <a:ext cx="214112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PA::PPA-GOLDEN-FEASIBILITY-EVIDENCE-MATRIX::PPC-GOLDEN-FEASIBILITY-EVIDENCE-MATRIX::matrix_c::secondary_visual::GOLDEN-MATRIX_C"/>
          <p:cNvSpPr txBox="1"/>
          <p:nvPr/>
        </p:nvSpPr>
        <p:spPr>
          <a:xfrm>
            <a:off x="4649266" y="3676802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7" name="PPAFX::PPA-GOLDEN-FEASIBILITY-EVIDENCE-MATRIX::PPC-GOLDEN-FEASIBILITY-EVIDENCE-MATRIX::matrix_d::frame"/>
          <p:cNvSpPr/>
          <p:nvPr/>
        </p:nvSpPr>
        <p:spPr>
          <a:xfrm>
            <a:off x="8008315" y="3676802"/>
            <a:ext cx="2817266" cy="13368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PAFX::PPA-GOLDEN-FEASIBILITY-EVIDENCE-MATRIX::PPC-GOLDEN-FEASIBILITY-EVIDENCE-MATRIX::matrix_d::visual-frame"/>
          <p:cNvSpPr/>
          <p:nvPr/>
        </p:nvSpPr>
        <p:spPr>
          <a:xfrm>
            <a:off x="8571768" y="3997646"/>
            <a:ext cx="1634014" cy="614951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PPAFX::PPA-GOLDEN-FEASIBILITY-EVIDENCE-MATRIX::PPC-GOLDEN-FEASIBILITY-EVIDENCE-MATRIX::matrix_d::dimension-line"/>
          <p:cNvCxnSpPr/>
          <p:nvPr/>
        </p:nvCxnSpPr>
        <p:spPr>
          <a:xfrm>
            <a:off x="8346386" y="4746283"/>
            <a:ext cx="214112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PA::PPA-GOLDEN-FEASIBILITY-EVIDENCE-MATRIX::PPC-GOLDEN-FEASIBILITY-EVIDENCE-MATRIX::matrix_d::secondary_visual::GOLDEN-MATRIX_D"/>
          <p:cNvSpPr txBox="1"/>
          <p:nvPr/>
        </p:nvSpPr>
        <p:spPr>
          <a:xfrm>
            <a:off x="8008315" y="3676802"/>
            <a:ext cx="2817266" cy="13368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HARDWARE-DESIGN-PROCEDURE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結構校準附錄｜HARDWARE-DESIGN-PROCEDURE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HARDWARE-DESIGN-PROCEDURE::PPC-GOLDEN-HARDWARE-DESIGN-PROCEDURE::hardware::frame"/>
          <p:cNvSpPr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HARDWARE-DESIGN-PROCEDURE::PPC-GOLDEN-HARDWARE-DESIGN-PROCEDURE::hardware::visual-frame"/>
          <p:cNvSpPr/>
          <p:nvPr/>
        </p:nvSpPr>
        <p:spPr>
          <a:xfrm>
            <a:off x="2287096" y="2685957"/>
            <a:ext cx="3519415" cy="126607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PPAFX::PPA-GOLDEN-HARDWARE-DESIGN-PROCEDURE::PPC-GOLDEN-HARDWARE-DESIGN-PROCEDURE::hardware::dimension-line"/>
          <p:cNvCxnSpPr/>
          <p:nvPr/>
        </p:nvCxnSpPr>
        <p:spPr>
          <a:xfrm>
            <a:off x="1801659" y="4227270"/>
            <a:ext cx="4611649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PA::PPA-GOLDEN-HARDWARE-DESIGN-PROCEDURE::PPC-GOLDEN-HARDWARE-DESIGN-PROCEDURE::hardware::primary_visual::GOLDEN-HARDWARE"/>
          <p:cNvSpPr txBox="1"/>
          <p:nvPr/>
        </p:nvSpPr>
        <p:spPr>
          <a:xfrm>
            <a:off x="1073505" y="2025395"/>
            <a:ext cx="6067958" cy="275234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Component geometry study</a:t>
            </a:r>
          </a:p>
        </p:txBody>
      </p:sp>
      <p:sp>
        <p:nvSpPr>
          <p:cNvPr id="8" name="PPA::PPA-GOLDEN-HARDWARE-DESIGN-PROCEDURE::PPC-GOLDEN-HARDWARE-DESIGN-PROCEDURE::procedure::procedure::GOLDEN-PROCEDURE"/>
          <p:cNvSpPr txBox="1"/>
          <p:nvPr/>
        </p:nvSpPr>
        <p:spPr>
          <a:xfrm>
            <a:off x="7683246" y="2025395"/>
            <a:ext cx="3359048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Method sequence</a:t>
            </a:r>
          </a:p>
        </p:txBody>
      </p:sp>
      <p:sp>
        <p:nvSpPr>
          <p:cNvPr id="9" name="PPA::PPA-GOLDEN-HARDWARE-DESIGN-PROCEDURE::PPC-GOLDEN-HARDWARE-DESIGN-PROCEDURE::go::go_criterion::GOLDEN-GO"/>
          <p:cNvSpPr txBox="1"/>
          <p:nvPr/>
        </p:nvSpPr>
        <p:spPr>
          <a:xfrm>
            <a:off x="7683246" y="4187952"/>
            <a:ext cx="335904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B00020"/>
                </a:solidFill>
                <a:latin typeface="Aptos"/>
              </a:rPr>
              <a:t>Decision threshold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LITERATURE-VISUAL-MATRIX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結構校準附錄｜LITERATURE-VISUAL-MATRIX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LITERATURE-VISUAL-MATRIX::PPC-GOLDEN-LITERATURE-VISUAL-MATRIX::visual_a::frame"/>
          <p:cNvSpPr/>
          <p:nvPr/>
        </p:nvSpPr>
        <p:spPr>
          <a:xfrm>
            <a:off x="1073505" y="2025395"/>
            <a:ext cx="3033979" cy="137617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LITERATURE-VISUAL-MATRIX::PPC-GOLDEN-LITERATURE-VISUAL-MATRIX::visual_a::node-1"/>
          <p:cNvSpPr/>
          <p:nvPr/>
        </p:nvSpPr>
        <p:spPr>
          <a:xfrm>
            <a:off x="1467922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LITERATURE-VISUAL-MATRIX::PPC-GOLDEN-LITERATURE-VISUAL-MATRIX::visual_a::node-2"/>
          <p:cNvSpPr/>
          <p:nvPr/>
        </p:nvSpPr>
        <p:spPr>
          <a:xfrm>
            <a:off x="2954571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GOLDEN-LITERATURE-VISUAL-MATRIX::PPC-GOLDEN-LITERATURE-VISUAL-MATRIX::visual_a::connector"/>
          <p:cNvCxnSpPr/>
          <p:nvPr/>
        </p:nvCxnSpPr>
        <p:spPr>
          <a:xfrm>
            <a:off x="2287096" y="2685957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LITERATURE-VISUAL-MATRIX::PPC-GOLDEN-LITERATURE-VISUAL-MATRIX::visual_a::primary_visual::GOLDEN-VISUAL_A"/>
          <p:cNvSpPr txBox="1"/>
          <p:nvPr/>
        </p:nvSpPr>
        <p:spPr>
          <a:xfrm>
            <a:off x="1073505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9" name="PPAFX::PPA-GOLDEN-LITERATURE-VISUAL-MATRIX::PPC-GOLDEN-LITERATURE-VISUAL-MATRIX::visual_b::frame"/>
          <p:cNvSpPr/>
          <p:nvPr/>
        </p:nvSpPr>
        <p:spPr>
          <a:xfrm>
            <a:off x="4540910" y="2025395"/>
            <a:ext cx="3033979" cy="137617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PPA-GOLDEN-LITERATURE-VISUAL-MATRIX::PPC-GOLDEN-LITERATURE-VISUAL-MATRIX::visual_b::node-1"/>
          <p:cNvSpPr/>
          <p:nvPr/>
        </p:nvSpPr>
        <p:spPr>
          <a:xfrm>
            <a:off x="4935327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PPA-GOLDEN-LITERATURE-VISUAL-MATRIX::PPC-GOLDEN-LITERATURE-VISUAL-MATRIX::visual_b::node-2"/>
          <p:cNvSpPr/>
          <p:nvPr/>
        </p:nvSpPr>
        <p:spPr>
          <a:xfrm>
            <a:off x="6421976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PPA-GOLDEN-LITERATURE-VISUAL-MATRIX::PPC-GOLDEN-LITERATURE-VISUAL-MATRIX::visual_b::connector"/>
          <p:cNvCxnSpPr/>
          <p:nvPr/>
        </p:nvCxnSpPr>
        <p:spPr>
          <a:xfrm>
            <a:off x="5754501" y="2685957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PPA-GOLDEN-LITERATURE-VISUAL-MATRIX::PPC-GOLDEN-LITERATURE-VISUAL-MATRIX::visual_b::secondary_visual::GOLDEN-VISUAL_B"/>
          <p:cNvSpPr txBox="1"/>
          <p:nvPr/>
        </p:nvSpPr>
        <p:spPr>
          <a:xfrm>
            <a:off x="4540910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4" name="PPAFX::PPA-GOLDEN-LITERATURE-VISUAL-MATRIX::PPC-GOLDEN-LITERATURE-VISUAL-MATRIX::visual_c::frame"/>
          <p:cNvSpPr/>
          <p:nvPr/>
        </p:nvSpPr>
        <p:spPr>
          <a:xfrm>
            <a:off x="8008315" y="2025395"/>
            <a:ext cx="3033979" cy="137617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PAFX::PPA-GOLDEN-LITERATURE-VISUAL-MATRIX::PPC-GOLDEN-LITERATURE-VISUAL-MATRIX::visual_c::node-1"/>
          <p:cNvSpPr/>
          <p:nvPr/>
        </p:nvSpPr>
        <p:spPr>
          <a:xfrm>
            <a:off x="8402732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PAFX::PPA-GOLDEN-LITERATURE-VISUAL-MATRIX::PPC-GOLDEN-LITERATURE-VISUAL-MATRIX::visual_c::node-2"/>
          <p:cNvSpPr/>
          <p:nvPr/>
        </p:nvSpPr>
        <p:spPr>
          <a:xfrm>
            <a:off x="9889381" y="2493293"/>
            <a:ext cx="758494" cy="38532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PPAFX::PPA-GOLDEN-LITERATURE-VISUAL-MATRIX::PPC-GOLDEN-LITERATURE-VISUAL-MATRIX::visual_c::connector"/>
          <p:cNvCxnSpPr/>
          <p:nvPr/>
        </p:nvCxnSpPr>
        <p:spPr>
          <a:xfrm>
            <a:off x="9221906" y="2685957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PA::PPA-GOLDEN-LITERATURE-VISUAL-MATRIX::PPC-GOLDEN-LITERATURE-VISUAL-MATRIX::visual_c::secondary_visual::GOLDEN-VISUAL_C"/>
          <p:cNvSpPr txBox="1"/>
          <p:nvPr/>
        </p:nvSpPr>
        <p:spPr>
          <a:xfrm>
            <a:off x="8008315" y="2025395"/>
            <a:ext cx="3033979" cy="137617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9" name="PPA::PPA-GOLDEN-LITERATURE-VISUAL-MATRIX::PPC-GOLDEN-LITERATURE-VISUAL-MATRIX::cite_a::citation_strip::GOLDEN-CITE_A"/>
          <p:cNvSpPr txBox="1"/>
          <p:nvPr/>
        </p:nvSpPr>
        <p:spPr>
          <a:xfrm>
            <a:off x="1073505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Reference fixture · citation placement</a:t>
            </a:r>
          </a:p>
        </p:txBody>
      </p:sp>
      <p:sp>
        <p:nvSpPr>
          <p:cNvPr id="20" name="PPA::PPA-GOLDEN-LITERATURE-VISUAL-MATRIX::PPC-GOLDEN-LITERATURE-VISUAL-MATRIX::cite_b::citation_strip::GOLDEN-CITE_B"/>
          <p:cNvSpPr txBox="1"/>
          <p:nvPr/>
        </p:nvSpPr>
        <p:spPr>
          <a:xfrm>
            <a:off x="4540910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Reference fixture · citation placement</a:t>
            </a:r>
          </a:p>
        </p:txBody>
      </p:sp>
      <p:sp>
        <p:nvSpPr>
          <p:cNvPr id="21" name="PPA::PPA-GOLDEN-LITERATURE-VISUAL-MATRIX::PPC-GOLDEN-LITERATURE-VISUAL-MATRIX::cite_c::citation_strip::GOLDEN-CITE_C"/>
          <p:cNvSpPr txBox="1"/>
          <p:nvPr/>
        </p:nvSpPr>
        <p:spPr>
          <a:xfrm>
            <a:off x="8008315" y="3558844"/>
            <a:ext cx="3033979" cy="31455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ptos"/>
              </a:rPr>
              <a:t>Reference fixture · citation placement</a:t>
            </a:r>
          </a:p>
        </p:txBody>
      </p:sp>
      <p:sp>
        <p:nvSpPr>
          <p:cNvPr id="22" name="PPA::PPA-GOLDEN-LITERATURE-VISUAL-MATRIX::PPC-GOLDEN-LITERATURE-VISUAL-MATRIX::synthesis::synthesis_callout::GOLDEN-SYNTHESIS"/>
          <p:cNvSpPr txBox="1"/>
          <p:nvPr/>
        </p:nvSpPr>
        <p:spPr>
          <a:xfrm>
            <a:off x="1073505" y="4266590"/>
            <a:ext cx="996878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B00020"/>
                </a:solidFill>
                <a:latin typeface="Aptos"/>
              </a:rPr>
              <a:t>Synthesis note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PHYSICAL-VALIDATION-MATRIX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結構校準附錄｜PHYSICAL-VALIDATION-MATRIX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PHYSICAL-VALIDATION-MATRIX::PPC-GOLDEN-PHYSICAL-VALIDATION-MATRIX::photo_a::frame"/>
          <p:cNvSpPr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PHYSICAL-VALIDATION-MATRIX::PPC-GOLDEN-PHYSICAL-VALIDATION-MATRIX::photo_a::visual-frame"/>
          <p:cNvSpPr/>
          <p:nvPr/>
        </p:nvSpPr>
        <p:spPr>
          <a:xfrm>
            <a:off x="1680300" y="2336802"/>
            <a:ext cx="1759707" cy="5968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PPAFX::PPA-GOLDEN-PHYSICAL-VALIDATION-MATRIX::PPC-GOLDEN-PHYSICAL-VALIDATION-MATRIX::photo_a::dimension-line"/>
          <p:cNvCxnSpPr/>
          <p:nvPr/>
        </p:nvCxnSpPr>
        <p:spPr>
          <a:xfrm>
            <a:off x="1437582" y="3063421"/>
            <a:ext cx="2305824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PA::PPA-GOLDEN-PHYSICAL-VALIDATION-MATRIX::PPC-GOLDEN-PHYSICAL-VALIDATION-MATRIX::photo_a::primary_visual::GOLDEN-PHOTO_A"/>
          <p:cNvSpPr txBox="1"/>
          <p:nvPr/>
        </p:nvSpPr>
        <p:spPr>
          <a:xfrm>
            <a:off x="1073505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8" name="PPAFX::PPA-GOLDEN-PHYSICAL-VALIDATION-MATRIX::PPC-GOLDEN-PHYSICAL-VALIDATION-MATRIX::photo_b::frame"/>
          <p:cNvSpPr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PAFX::PPA-GOLDEN-PHYSICAL-VALIDATION-MATRIX::PPC-GOLDEN-PHYSICAL-VALIDATION-MATRIX::photo_b::visual-frame"/>
          <p:cNvSpPr/>
          <p:nvPr/>
        </p:nvSpPr>
        <p:spPr>
          <a:xfrm>
            <a:off x="5039349" y="2336802"/>
            <a:ext cx="1759707" cy="5968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PPAFX::PPA-GOLDEN-PHYSICAL-VALIDATION-MATRIX::PPC-GOLDEN-PHYSICAL-VALIDATION-MATRIX::photo_b::dimension-line"/>
          <p:cNvCxnSpPr/>
          <p:nvPr/>
        </p:nvCxnSpPr>
        <p:spPr>
          <a:xfrm>
            <a:off x="4796631" y="3063421"/>
            <a:ext cx="2305824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PPA::PPA-GOLDEN-PHYSICAL-VALIDATION-MATRIX::PPC-GOLDEN-PHYSICAL-VALIDATION-MATRIX::photo_b::secondary_visual::GOLDEN-PHOTO_B"/>
          <p:cNvSpPr txBox="1"/>
          <p:nvPr/>
        </p:nvSpPr>
        <p:spPr>
          <a:xfrm>
            <a:off x="4432554" y="2025395"/>
            <a:ext cx="3033979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2" name="PPAFX::PPA-GOLDEN-PHYSICAL-VALIDATION-MATRIX::PPC-GOLDEN-PHYSICAL-VALIDATION-MATRIX::plot::frame"/>
          <p:cNvSpPr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PPAFX::PPA-GOLDEN-PHYSICAL-VALIDATION-MATRIX::PPC-GOLDEN-PHYSICAL-VALIDATION-MATRIX::plot::plot-line-1"/>
          <p:cNvCxnSpPr/>
          <p:nvPr/>
        </p:nvCxnSpPr>
        <p:spPr>
          <a:xfrm>
            <a:off x="8246698" y="3497505"/>
            <a:ext cx="2405512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PPAFX::PPA-GOLDEN-PHYSICAL-VALIDATION-MATRIX::PPC-GOLDEN-PHYSICAL-VALIDATION-MATRIX::plot::plot-line-2"/>
          <p:cNvCxnSpPr/>
          <p:nvPr/>
        </p:nvCxnSpPr>
        <p:spPr>
          <a:xfrm flipV="1">
            <a:off x="8246698" y="2365112"/>
            <a:ext cx="0" cy="1132393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PPAFX::PPA-GOLDEN-PHYSICAL-VALIDATION-MATRIX::PPC-GOLDEN-PHYSICAL-VALIDATION-MATRIX::plot::plot-line-3"/>
          <p:cNvCxnSpPr/>
          <p:nvPr/>
        </p:nvCxnSpPr>
        <p:spPr>
          <a:xfrm flipV="1">
            <a:off x="8441740" y="2629337"/>
            <a:ext cx="1787881" cy="641689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PA::PPA-GOLDEN-PHYSICAL-VALIDATION-MATRIX::PPC-GOLDEN-PHYSICAL-VALIDATION-MATRIX::plot::validation_plot::GOLDEN-PLOT"/>
          <p:cNvSpPr txBox="1"/>
          <p:nvPr/>
        </p:nvSpPr>
        <p:spPr>
          <a:xfrm>
            <a:off x="7791602" y="2025395"/>
            <a:ext cx="3250692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17" name="PPA::PPA-GOLDEN-PHYSICAL-VALIDATION-MATRIX::PPC-GOLDEN-PHYSICAL-VALIDATION-MATRIX::caption_a::caption::GOLDEN-CAPTION_A"/>
          <p:cNvSpPr txBox="1"/>
          <p:nvPr/>
        </p:nvSpPr>
        <p:spPr>
          <a:xfrm>
            <a:off x="1073505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Figure caption · bounded layout fixture</a:t>
            </a:r>
          </a:p>
        </p:txBody>
      </p:sp>
      <p:sp>
        <p:nvSpPr>
          <p:cNvPr id="18" name="PPA::PPA-GOLDEN-PHYSICAL-VALIDATION-MATRIX::PPC-GOLDEN-PHYSICAL-VALIDATION-MATRIX::caption_b::caption::GOLDEN-CAPTION_B"/>
          <p:cNvSpPr txBox="1"/>
          <p:nvPr/>
        </p:nvSpPr>
        <p:spPr>
          <a:xfrm>
            <a:off x="4432554" y="3480206"/>
            <a:ext cx="3033979" cy="39319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Aptos"/>
              </a:rPr>
              <a:t>Figure caption · bounded layout fixture</a:t>
            </a:r>
          </a:p>
        </p:txBody>
      </p:sp>
      <p:sp>
        <p:nvSpPr>
          <p:cNvPr id="19" name="PPAFX::PPA-GOLDEN-PHYSICAL-VALIDATION-MATRIX::PPC-GOLDEN-PHYSICAL-VALIDATION-MATRIX::measurement_c::frame"/>
          <p:cNvSpPr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PAFX::PPA-GOLDEN-PHYSICAL-VALIDATION-MATRIX::PPC-GOLDEN-PHYSICAL-VALIDATION-MATRIX::measurement_c::visual-frame"/>
          <p:cNvSpPr/>
          <p:nvPr/>
        </p:nvSpPr>
        <p:spPr>
          <a:xfrm>
            <a:off x="8441740" y="4298045"/>
            <a:ext cx="1885401" cy="36173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PPAFX::PPA-GOLDEN-PHYSICAL-VALIDATION-MATRIX::PPC-GOLDEN-PHYSICAL-VALIDATION-MATRIX::measurement_c::dimension-line"/>
          <p:cNvCxnSpPr/>
          <p:nvPr/>
        </p:nvCxnSpPr>
        <p:spPr>
          <a:xfrm>
            <a:off x="8181685" y="4738420"/>
            <a:ext cx="2470525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PA::PPA-GOLDEN-PHYSICAL-VALIDATION-MATRIX::PPC-GOLDEN-PHYSICAL-VALIDATION-MATRIX::measurement_c::secondary_visual::GOLDEN-MEASUREMENT_C"/>
          <p:cNvSpPr txBox="1"/>
          <p:nvPr/>
        </p:nvSpPr>
        <p:spPr>
          <a:xfrm>
            <a:off x="7791602" y="4109313"/>
            <a:ext cx="3250692" cy="786384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23" name="PPA::PPA-GOLDEN-PHYSICAL-VALIDATION-MATRIX::PPC-GOLDEN-PHYSICAL-VALIDATION-MATRIX::context::compact_context::GOLDEN-CONTEXT"/>
          <p:cNvSpPr txBox="1"/>
          <p:nvPr/>
        </p:nvSpPr>
        <p:spPr>
          <a:xfrm>
            <a:off x="1073505" y="4266590"/>
            <a:ext cx="6393027" cy="66842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PRINCIPLE-EQUIPMENT-SPLIT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結構校準附錄｜PRINCIPLE-EQUIPMENT-SPLIT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PRINCIPLE-EQUIPMENT-SPLIT::PPC-GOLDEN-PRINCIPLE-EQUIPMENT-SPLIT::principle::frame"/>
          <p:cNvSpPr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PRINCIPLE-EQUIPMENT-SPLIT::PPC-GOLDEN-PRINCIPLE-EQUIPMENT-SPLIT::principle::node-1"/>
          <p:cNvSpPr/>
          <p:nvPr/>
        </p:nvSpPr>
        <p:spPr>
          <a:xfrm>
            <a:off x="1707389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PRINCIPLE-EQUIPMENT-SPLIT::PPC-GOLDEN-PRINCIPLE-EQUIPMENT-SPLIT::principle::node-2"/>
          <p:cNvSpPr/>
          <p:nvPr/>
        </p:nvSpPr>
        <p:spPr>
          <a:xfrm>
            <a:off x="4096648" y="2773246"/>
            <a:ext cx="1219009" cy="5834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GOLDEN-PRINCIPLE-EQUIPMENT-SPLIT::PPC-GOLDEN-PRINCIPLE-EQUIPMENT-SPLIT::principle::connector"/>
          <p:cNvCxnSpPr/>
          <p:nvPr/>
        </p:nvCxnSpPr>
        <p:spPr>
          <a:xfrm>
            <a:off x="3023920" y="3064995"/>
            <a:ext cx="97520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PRINCIPLE-EQUIPMENT-SPLIT::PPC-GOLDEN-PRINCIPLE-EQUIPMENT-SPLIT::principle::primary_visual::GOLDEN-PRINCIPLE"/>
          <p:cNvSpPr txBox="1"/>
          <p:nvPr/>
        </p:nvSpPr>
        <p:spPr>
          <a:xfrm>
            <a:off x="1073505" y="2064715"/>
            <a:ext cx="4876038" cy="208391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9" name="PPA::PPA-GOLDEN-PRINCIPLE-EQUIPMENT-SPLIT::PPC-GOLDEN-PRINCIPLE-EQUIPMENT-SPLIT::formula::formula::GOLDEN-FORMULA"/>
          <p:cNvSpPr txBox="1"/>
          <p:nvPr/>
        </p:nvSpPr>
        <p:spPr>
          <a:xfrm>
            <a:off x="1073505" y="4423867"/>
            <a:ext cx="4876038" cy="629107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0" i="0">
                <a:solidFill>
                  <a:srgbClr val="1F1F1F"/>
                </a:solidFill>
                <a:latin typeface="Aptos"/>
              </a:rPr>
              <a:t>Controlled relation</a:t>
            </a:r>
          </a:p>
        </p:txBody>
      </p:sp>
      <p:sp>
        <p:nvSpPr>
          <p:cNvPr id="10" name="PPAFX::PPA-GOLDEN-PRINCIPLE-EQUIPMENT-SPLIT::PPC-GOLDEN-PRINCIPLE-EQUIPMENT-SPLIT::equipment::frame"/>
          <p:cNvSpPr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PPA-GOLDEN-PRINCIPLE-EQUIPMENT-SPLIT::PPC-GOLDEN-PRINCIPLE-EQUIPMENT-SPLIT::equipment::visual-frame"/>
          <p:cNvSpPr/>
          <p:nvPr/>
        </p:nvSpPr>
        <p:spPr>
          <a:xfrm>
            <a:off x="7314834" y="2517672"/>
            <a:ext cx="2702408" cy="868167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PPA-GOLDEN-PRINCIPLE-EQUIPMENT-SPLIT::PPC-GOLDEN-PRINCIPLE-EQUIPMENT-SPLIT::equipment::dimension-line"/>
          <p:cNvCxnSpPr/>
          <p:nvPr/>
        </p:nvCxnSpPr>
        <p:spPr>
          <a:xfrm>
            <a:off x="6942088" y="3574571"/>
            <a:ext cx="3541087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PPA-GOLDEN-PRINCIPLE-EQUIPMENT-SPLIT::PPC-GOLDEN-PRINCIPLE-EQUIPMENT-SPLIT::equipment::secondary_visual::GOLDEN-EQUIPMENT"/>
          <p:cNvSpPr txBox="1"/>
          <p:nvPr/>
        </p:nvSpPr>
        <p:spPr>
          <a:xfrm>
            <a:off x="6382969" y="2064715"/>
            <a:ext cx="4659325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4" name="PPAFX::PPA-GOLDEN-PRINCIPLE-EQUIPMENT-SPLIT::PPC-GOLDEN-PRINCIPLE-EQUIPMENT-SPLIT::specification::frame"/>
          <p:cNvSpPr/>
          <p:nvPr/>
        </p:nvSpPr>
        <p:spPr>
          <a:xfrm>
            <a:off x="6382969" y="4187952"/>
            <a:ext cx="4659325" cy="86502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55715" y="4360956"/>
          <a:ext cx="3913833" cy="5190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611"/>
                <a:gridCol w="1304611"/>
                <a:gridCol w="1304611"/>
              </a:tblGrid>
              <a:tr h="17300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17300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73005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" name="PPA::PPA-GOLDEN-PRINCIPLE-EQUIPMENT-SPLIT::PPC-GOLDEN-PRINCIPLE-EQUIPMENT-SPLIT::specification::specification_table::GOLDEN-SPECIFICATION"/>
          <p:cNvSpPr txBox="1"/>
          <p:nvPr/>
        </p:nvSpPr>
        <p:spPr>
          <a:xfrm>
            <a:off x="6382969" y="4187952"/>
            <a:ext cx="4659325" cy="86502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Aptos"/>
              </a:rPr>
              <a:t>Comparison criteria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PROBLEM-TO-SOLUTION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結構校準附錄｜PROBLEM-TO-SOLUTION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PPA-GOLDEN-PROBLEM-TO-SOLUTION::PPC-GOLDEN-PROBLEM-TO-SOLUTION::problem::problem_statement::GOLDEN-PROBLEM"/>
          <p:cNvSpPr txBox="1"/>
          <p:nvPr/>
        </p:nvSpPr>
        <p:spPr>
          <a:xfrm>
            <a:off x="1073505" y="1986076"/>
            <a:ext cx="9968788" cy="106161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5" name="PPAFX::PPA-GOLDEN-PROBLEM-TO-SOLUTION::PPC-GOLDEN-PROBLEM-TO-SOLUTION::solution::frame"/>
          <p:cNvSpPr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PROBLEM-TO-SOLUTION::PPC-GOLDEN-PROBLEM-TO-SOLUTION::solution::node-1"/>
          <p:cNvSpPr/>
          <p:nvPr/>
        </p:nvSpPr>
        <p:spPr>
          <a:xfrm>
            <a:off x="1876425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PAFX::PPA-GOLDEN-PROBLEM-TO-SOLUTION::PPC-GOLDEN-PROBLEM-TO-SOLUTION::solution::node-2"/>
          <p:cNvSpPr/>
          <p:nvPr/>
        </p:nvSpPr>
        <p:spPr>
          <a:xfrm>
            <a:off x="4902819" y="3883620"/>
            <a:ext cx="1544078" cy="429365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PPAFX::PPA-GOLDEN-PROBLEM-TO-SOLUTION::PPC-GOLDEN-PROBLEM-TO-SOLUTION::solution::connector"/>
          <p:cNvCxnSpPr/>
          <p:nvPr/>
        </p:nvCxnSpPr>
        <p:spPr>
          <a:xfrm>
            <a:off x="3544030" y="4098303"/>
            <a:ext cx="1235263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PA::PPA-GOLDEN-PROBLEM-TO-SOLUTION::PPC-GOLDEN-PROBLEM-TO-SOLUTION::solution::solution_path::GOLDEN-SOLUTION"/>
          <p:cNvSpPr txBox="1"/>
          <p:nvPr/>
        </p:nvSpPr>
        <p:spPr>
          <a:xfrm>
            <a:off x="1073505" y="3362248"/>
            <a:ext cx="6176314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0" name="PPAFX::PPA-GOLDEN-PROBLEM-TO-SOLUTION::PPC-GOLDEN-PROBLEM-TO-SOLUTION::support::frame"/>
          <p:cNvSpPr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PAFX::PPA-GOLDEN-PROBLEM-TO-SOLUTION::PPC-GOLDEN-PROBLEM-TO-SOLUTION::support::visual-frame"/>
          <p:cNvSpPr/>
          <p:nvPr/>
        </p:nvSpPr>
        <p:spPr>
          <a:xfrm>
            <a:off x="8528425" y="3730275"/>
            <a:ext cx="1822554" cy="70538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PPAFX::PPA-GOLDEN-PROBLEM-TO-SOLUTION::PPC-GOLDEN-PROBLEM-TO-SOLUTION::support::dimension-line"/>
          <p:cNvCxnSpPr/>
          <p:nvPr/>
        </p:nvCxnSpPr>
        <p:spPr>
          <a:xfrm>
            <a:off x="8277038" y="4589006"/>
            <a:ext cx="2388174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PA::PPA-GOLDEN-PROBLEM-TO-SOLUTION::PPC-GOLDEN-PROBLEM-TO-SOLUTION::support::support_visual::GOLDEN-SUPPORT"/>
          <p:cNvSpPr txBox="1"/>
          <p:nvPr/>
        </p:nvSpPr>
        <p:spPr>
          <a:xfrm>
            <a:off x="7899958" y="3362248"/>
            <a:ext cx="3142335" cy="1533448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REAL-RESULT-VALIDATION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結構校準附錄｜REAL-RESULT-VALIDATION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REAL-RESULT-VALIDATION::PPC-GOLDEN-REAL-RESULT-VALIDATION::result::frame"/>
          <p:cNvSpPr/>
          <p:nvPr/>
        </p:nvSpPr>
        <p:spPr>
          <a:xfrm>
            <a:off x="1073505" y="2064715"/>
            <a:ext cx="6718096" cy="2634386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PPAFX::PPA-GOLDEN-REAL-RESULT-VALIDATION::PPC-GOLDEN-REAL-RESULT-VALIDATION::result::plot-line-1"/>
          <p:cNvCxnSpPr/>
          <p:nvPr/>
        </p:nvCxnSpPr>
        <p:spPr>
          <a:xfrm>
            <a:off x="2014038" y="4119536"/>
            <a:ext cx="4971391" cy="0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PPAFX::PPA-GOLDEN-REAL-RESULT-VALIDATION::PPC-GOLDEN-REAL-RESULT-VALIDATION::result::plot-line-2"/>
          <p:cNvCxnSpPr/>
          <p:nvPr/>
        </p:nvCxnSpPr>
        <p:spPr>
          <a:xfrm flipV="1">
            <a:off x="2014038" y="2538904"/>
            <a:ext cx="0" cy="1580632"/>
          </a:xfrm>
          <a:prstGeom prst="line">
            <a:avLst/>
          </a:prstGeom>
          <a:ln w="889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PPAFX::PPA-GOLDEN-REAL-RESULT-VALIDATION::PPC-GOLDEN-REAL-RESULT-VALIDATION::result::plot-line-3"/>
          <p:cNvCxnSpPr/>
          <p:nvPr/>
        </p:nvCxnSpPr>
        <p:spPr>
          <a:xfrm flipV="1">
            <a:off x="2417124" y="2907718"/>
            <a:ext cx="3694953" cy="895691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REAL-RESULT-VALIDATION::PPC-GOLDEN-REAL-RESULT-VALIDATION::result::primary_visual::GOLDEN-RESULT"/>
          <p:cNvSpPr txBox="1"/>
          <p:nvPr/>
        </p:nvSpPr>
        <p:spPr>
          <a:xfrm>
            <a:off x="1073505" y="2064715"/>
            <a:ext cx="6718096" cy="2634386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Measured-trend composition</a:t>
            </a:r>
          </a:p>
        </p:txBody>
      </p:sp>
      <p:sp>
        <p:nvSpPr>
          <p:cNvPr id="9" name="PPA::PPA-GOLDEN-REAL-RESULT-VALIDATION::PPC-GOLDEN-REAL-RESULT-VALIDATION::metric::metric_callout::GOLDEN-METRIC"/>
          <p:cNvSpPr txBox="1"/>
          <p:nvPr/>
        </p:nvSpPr>
        <p:spPr>
          <a:xfrm>
            <a:off x="8441740" y="2143353"/>
            <a:ext cx="2600553" cy="86502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2200" b="1" i="0">
                <a:solidFill>
                  <a:srgbClr val="B00020"/>
                </a:solidFill>
                <a:latin typeface="Aptos"/>
              </a:rPr>
              <a:t>Decision threshold</a:t>
            </a:r>
          </a:p>
        </p:txBody>
      </p:sp>
      <p:sp>
        <p:nvSpPr>
          <p:cNvPr id="10" name="PPA::PPA-GOLDEN-REAL-RESULT-VALIDATION::PPC-GOLDEN-REAL-RESULT-VALIDATION::context::compact_context::GOLDEN-CONTEXT"/>
          <p:cNvSpPr txBox="1"/>
          <p:nvPr/>
        </p:nvSpPr>
        <p:spPr>
          <a:xfrm>
            <a:off x="8441740" y="3401568"/>
            <a:ext cx="2600553" cy="1297533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TECHNOLOGY-COMPARISON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結構校準附錄｜TECHNOLOGY-COMPARISON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TECHNOLOGY-COMPARISON::PPC-GOLDEN-TECHNOLOGY-COMPARISON::approach_a::frame"/>
          <p:cNvSpPr/>
          <p:nvPr/>
        </p:nvSpPr>
        <p:spPr>
          <a:xfrm>
            <a:off x="1073505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TECHNOLOGY-COMPARISON::PPC-GOLDEN-TECHNOLOGY-COMPARISON::approach_a::node-1"/>
          <p:cNvSpPr/>
          <p:nvPr/>
        </p:nvSpPr>
        <p:spPr>
          <a:xfrm>
            <a:off x="1467922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TECHNOLOGY-COMPARISON::PPC-GOLDEN-TECHNOLOGY-COMPARISON::approach_a::node-2"/>
          <p:cNvSpPr/>
          <p:nvPr/>
        </p:nvSpPr>
        <p:spPr>
          <a:xfrm>
            <a:off x="2954571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GOLDEN-TECHNOLOGY-COMPARISON::PPC-GOLDEN-TECHNOLOGY-COMPARISON::approach_a::connector"/>
          <p:cNvCxnSpPr/>
          <p:nvPr/>
        </p:nvCxnSpPr>
        <p:spPr>
          <a:xfrm>
            <a:off x="2287096" y="2970629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TECHNOLOGY-COMPARISON::PPC-GOLDEN-TECHNOLOGY-COMPARISON::approach_a::primary_visual::GOLDEN-APPROACH_A"/>
          <p:cNvSpPr txBox="1"/>
          <p:nvPr/>
        </p:nvSpPr>
        <p:spPr>
          <a:xfrm>
            <a:off x="1073505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9" name="PPAFX::PPA-GOLDEN-TECHNOLOGY-COMPARISON::PPC-GOLDEN-TECHNOLOGY-COMPARISON::criteria::frame"/>
          <p:cNvSpPr/>
          <p:nvPr/>
        </p:nvSpPr>
        <p:spPr>
          <a:xfrm>
            <a:off x="4540910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83628" y="2442179"/>
          <a:ext cx="2548542" cy="1132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9514"/>
                <a:gridCol w="849514"/>
                <a:gridCol w="849514"/>
              </a:tblGrid>
              <a:tr h="377464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464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PPA::PPA-GOLDEN-TECHNOLOGY-COMPARISON::PPC-GOLDEN-TECHNOLOGY-COMPARISON::criteria::criteria_table::GOLDEN-CRITERIA"/>
          <p:cNvSpPr txBox="1"/>
          <p:nvPr/>
        </p:nvSpPr>
        <p:spPr>
          <a:xfrm>
            <a:off x="4540910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Aptos"/>
              </a:rPr>
              <a:t>Comparison criteria</a:t>
            </a:r>
          </a:p>
        </p:txBody>
      </p:sp>
      <p:sp>
        <p:nvSpPr>
          <p:cNvPr id="12" name="PPAFX::PPA-GOLDEN-TECHNOLOGY-COMPARISON::PPC-GOLDEN-TECHNOLOGY-COMPARISON::approach_b::frame"/>
          <p:cNvSpPr/>
          <p:nvPr/>
        </p:nvSpPr>
        <p:spPr>
          <a:xfrm>
            <a:off x="8008315" y="2064715"/>
            <a:ext cx="3033979" cy="1887321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PAFX::PPA-GOLDEN-TECHNOLOGY-COMPARISON::PPC-GOLDEN-TECHNOLOGY-COMPARISON::approach_b::node-1"/>
          <p:cNvSpPr/>
          <p:nvPr/>
        </p:nvSpPr>
        <p:spPr>
          <a:xfrm>
            <a:off x="8402732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PAFX::PPA-GOLDEN-TECHNOLOGY-COMPARISON::PPC-GOLDEN-TECHNOLOGY-COMPARISON::approach_b::node-2"/>
          <p:cNvSpPr/>
          <p:nvPr/>
        </p:nvSpPr>
        <p:spPr>
          <a:xfrm>
            <a:off x="9889381" y="2706404"/>
            <a:ext cx="758494" cy="52844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PPAFX::PPA-GOLDEN-TECHNOLOGY-COMPARISON::PPC-GOLDEN-TECHNOLOGY-COMPARISON::approach_b::connector"/>
          <p:cNvCxnSpPr/>
          <p:nvPr/>
        </p:nvCxnSpPr>
        <p:spPr>
          <a:xfrm>
            <a:off x="9221906" y="2970629"/>
            <a:ext cx="606796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PA::PPA-GOLDEN-TECHNOLOGY-COMPARISON::PPC-GOLDEN-TECHNOLOGY-COMPARISON::approach_b::secondary_visual::GOLDEN-APPROACH_B"/>
          <p:cNvSpPr txBox="1"/>
          <p:nvPr/>
        </p:nvSpPr>
        <p:spPr>
          <a:xfrm>
            <a:off x="8008315" y="2064715"/>
            <a:ext cx="3033979" cy="1887321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  <p:sp>
        <p:nvSpPr>
          <p:cNvPr id="17" name="PPAFX::PPA-GOLDEN-TECHNOLOGY-COMPARISON::PPC-GOLDEN-TECHNOLOGY-COMPARISON::mechanism::frame"/>
          <p:cNvSpPr/>
          <p:nvPr/>
        </p:nvSpPr>
        <p:spPr>
          <a:xfrm>
            <a:off x="1073505" y="4266590"/>
            <a:ext cx="9968788" cy="70774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PAFX::PPA-GOLDEN-TECHNOLOGY-COMPARISON::PPC-GOLDEN-TECHNOLOGY-COMPARISON::mechanism::node-1"/>
          <p:cNvSpPr/>
          <p:nvPr/>
        </p:nvSpPr>
        <p:spPr>
          <a:xfrm>
            <a:off x="2369447" y="4507223"/>
            <a:ext cx="2492197" cy="19816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PAFX::PPA-GOLDEN-TECHNOLOGY-COMPARISON::PPC-GOLDEN-TECHNOLOGY-COMPARISON::mechanism::node-2"/>
          <p:cNvSpPr/>
          <p:nvPr/>
        </p:nvSpPr>
        <p:spPr>
          <a:xfrm>
            <a:off x="7254153" y="4507223"/>
            <a:ext cx="2492197" cy="198168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PPAFX::PPA-GOLDEN-TECHNOLOGY-COMPARISON::PPC-GOLDEN-TECHNOLOGY-COMPARISON::mechanism::connector"/>
          <p:cNvCxnSpPr/>
          <p:nvPr/>
        </p:nvCxnSpPr>
        <p:spPr>
          <a:xfrm>
            <a:off x="5061020" y="4606307"/>
            <a:ext cx="1993757" cy="0"/>
          </a:xfrm>
          <a:prstGeom prst="line">
            <a:avLst/>
          </a:prstGeom>
          <a:ln w="1397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PPA::PPA-GOLDEN-TECHNOLOGY-COMPARISON::PPC-GOLDEN-TECHNOLOGY-COMPARISON::mechanism::mechanism_pair::GOLDEN-MECHANISM"/>
          <p:cNvSpPr txBox="1"/>
          <p:nvPr/>
        </p:nvSpPr>
        <p:spPr>
          <a:xfrm>
            <a:off x="1073505" y="4266590"/>
            <a:ext cx="9968788" cy="70774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mechanism view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TEXT-TOP-DUAL-VISUAL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結構校準附錄｜TEXT-TOP-DUAL-VISUAL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::PPA-GOLDEN-TEXT-TOP-DUAL-VISUAL::PPC-GOLDEN-TEXT-TOP-DUAL-VISUAL::text_top::text_top::GOLDEN-TEXT_TOP"/>
          <p:cNvSpPr txBox="1"/>
          <p:nvPr/>
        </p:nvSpPr>
        <p:spPr>
          <a:xfrm>
            <a:off x="1073505" y="1946757"/>
            <a:ext cx="9968788" cy="70774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Structured supporting context</a:t>
            </a:r>
          </a:p>
        </p:txBody>
      </p:sp>
      <p:sp>
        <p:nvSpPr>
          <p:cNvPr id="5" name="PPAFX::PPA-GOLDEN-TEXT-TOP-DUAL-VISUAL::PPC-GOLDEN-TEXT-TOP-DUAL-VISUAL::left_visual::frame"/>
          <p:cNvSpPr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PAFX::PPA-GOLDEN-TEXT-TOP-DUAL-VISUAL::PPC-GOLDEN-TEXT-TOP-DUAL-VISUAL::left_visual::visual-frame"/>
          <p:cNvSpPr/>
          <p:nvPr/>
        </p:nvSpPr>
        <p:spPr>
          <a:xfrm>
            <a:off x="2005370" y="3417295"/>
            <a:ext cx="2702408" cy="108520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PAFX::PPA-GOLDEN-TEXT-TOP-DUAL-VISUAL::PPC-GOLDEN-TEXT-TOP-DUAL-VISUAL::left_visual::dimension-line"/>
          <p:cNvCxnSpPr/>
          <p:nvPr/>
        </p:nvCxnSpPr>
        <p:spPr>
          <a:xfrm>
            <a:off x="1632624" y="4738420"/>
            <a:ext cx="3541087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PA::PPA-GOLDEN-TEXT-TOP-DUAL-VISUAL::PPC-GOLDEN-TEXT-TOP-DUAL-VISUAL::left_visual::primary_visual::GOLDEN-LEFT_VISUAL"/>
          <p:cNvSpPr txBox="1"/>
          <p:nvPr/>
        </p:nvSpPr>
        <p:spPr>
          <a:xfrm>
            <a:off x="1073505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9" name="PPAFX::PPA-GOLDEN-TEXT-TOP-DUAL-VISUAL::PPC-GOLDEN-TEXT-TOP-DUAL-VISUAL::right_visual::frame"/>
          <p:cNvSpPr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PAFX::PPA-GOLDEN-TEXT-TOP-DUAL-VISUAL::PPC-GOLDEN-TEXT-TOP-DUAL-VISUAL::right_visual::visual-frame"/>
          <p:cNvSpPr/>
          <p:nvPr/>
        </p:nvSpPr>
        <p:spPr>
          <a:xfrm>
            <a:off x="7314834" y="3417295"/>
            <a:ext cx="2702408" cy="1085209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PPAFX::PPA-GOLDEN-TEXT-TOP-DUAL-VISUAL::PPC-GOLDEN-TEXT-TOP-DUAL-VISUAL::right_visual::dimension-line"/>
          <p:cNvCxnSpPr/>
          <p:nvPr/>
        </p:nvCxnSpPr>
        <p:spPr>
          <a:xfrm>
            <a:off x="6942088" y="4738420"/>
            <a:ext cx="3541087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PA::PPA-GOLDEN-TEXT-TOP-DUAL-VISUAL::PPC-GOLDEN-TEXT-TOP-DUAL-VISUAL::right_visual::secondary_visual::GOLDEN-RIGHT_VISUAL"/>
          <p:cNvSpPr txBox="1"/>
          <p:nvPr/>
        </p:nvSpPr>
        <p:spPr>
          <a:xfrm>
            <a:off x="6382969" y="2851099"/>
            <a:ext cx="4659325" cy="2359152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GOLDEN-THREE-COLUMN-PHYSICAL-COMPARISON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2"/>
          </a:xfrm>
        </p:spPr>
        <p:txBody>
          <a:bodyPr lIns="38100" rIns="38100" tIns="25400" bIns="25400" anchor="ctr"/>
          <a:lstStyle/>
          <a:p>
            <a:pPr algn="l"/>
            <a:r>
              <a:rPr sz="3000" b="1" i="0">
                <a:solidFill>
                  <a:srgbClr val="1F1F1F"/>
                </a:solidFill>
                <a:latin typeface="Aptos"/>
              </a:rPr>
              <a:t>結構校準附錄｜THREE-COLUMN-PHYSICAL-COMPARISON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PAFX::PPA-GOLDEN-THREE-COLUMN-PHYSICAL-COMPARISON::PPC-GOLDEN-THREE-COLUMN-PHYSICAL-COMPARISON::column_a::frame"/>
          <p:cNvSpPr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PAFX::PPA-GOLDEN-THREE-COLUMN-PHYSICAL-COMPARISON::PPC-GOLDEN-THREE-COLUMN-PHYSICAL-COMPARISON::column_a::visual-frame"/>
          <p:cNvSpPr/>
          <p:nvPr/>
        </p:nvSpPr>
        <p:spPr>
          <a:xfrm>
            <a:off x="1658629" y="2593165"/>
            <a:ext cx="1696860" cy="10128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PPAFX::PPA-GOLDEN-THREE-COLUMN-PHYSICAL-COMPARISON::PPC-GOLDEN-THREE-COLUMN-PHYSICAL-COMPARISON::column_a::dimension-line"/>
          <p:cNvCxnSpPr/>
          <p:nvPr/>
        </p:nvCxnSpPr>
        <p:spPr>
          <a:xfrm>
            <a:off x="1424579" y="3826215"/>
            <a:ext cx="222347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PA::PPA-GOLDEN-THREE-COLUMN-PHYSICAL-COMPARISON::PPC-GOLDEN-THREE-COLUMN-PHYSICAL-COMPARISON::column_a::primary_visual::GOLDEN-COLUMN_A"/>
          <p:cNvSpPr txBox="1"/>
          <p:nvPr/>
        </p:nvSpPr>
        <p:spPr>
          <a:xfrm>
            <a:off x="1073505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8" name="PPAFX::PPA-GOLDEN-THREE-COLUMN-PHYSICAL-COMPARISON::PPC-GOLDEN-THREE-COLUMN-PHYSICAL-COMPARISON::column_b::frame"/>
          <p:cNvSpPr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PAFX::PPA-GOLDEN-THREE-COLUMN-PHYSICAL-COMPARISON::PPC-GOLDEN-THREE-COLUMN-PHYSICAL-COMPARISON::column_b::visual-frame"/>
          <p:cNvSpPr/>
          <p:nvPr/>
        </p:nvSpPr>
        <p:spPr>
          <a:xfrm>
            <a:off x="5180212" y="2593165"/>
            <a:ext cx="1696860" cy="10128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PPAFX::PPA-GOLDEN-THREE-COLUMN-PHYSICAL-COMPARISON::PPC-GOLDEN-THREE-COLUMN-PHYSICAL-COMPARISON::column_b::dimension-line"/>
          <p:cNvCxnSpPr/>
          <p:nvPr/>
        </p:nvCxnSpPr>
        <p:spPr>
          <a:xfrm>
            <a:off x="4946162" y="3826215"/>
            <a:ext cx="222347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PPA::PPA-GOLDEN-THREE-COLUMN-PHYSICAL-COMPARISON::PPC-GOLDEN-THREE-COLUMN-PHYSICAL-COMPARISON::column_b::secondary_visual::GOLDEN-COLUMN_B"/>
          <p:cNvSpPr txBox="1"/>
          <p:nvPr/>
        </p:nvSpPr>
        <p:spPr>
          <a:xfrm>
            <a:off x="4595088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2" name="PPAFX::PPA-GOLDEN-THREE-COLUMN-PHYSICAL-COMPARISON::PPC-GOLDEN-THREE-COLUMN-PHYSICAL-COMPARISON::column_c::frame"/>
          <p:cNvSpPr/>
          <p:nvPr/>
        </p:nvSpPr>
        <p:spPr>
          <a:xfrm>
            <a:off x="8116671" y="2064715"/>
            <a:ext cx="2925622" cy="2201875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PAFX::PPA-GOLDEN-THREE-COLUMN-PHYSICAL-COMPARISON::PPC-GOLDEN-THREE-COLUMN-PHYSICAL-COMPARISON::column_c::visual-frame"/>
          <p:cNvSpPr/>
          <p:nvPr/>
        </p:nvSpPr>
        <p:spPr>
          <a:xfrm>
            <a:off x="8701795" y="2593165"/>
            <a:ext cx="1696860" cy="1012862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PPAFX::PPA-GOLDEN-THREE-COLUMN-PHYSICAL-COMPARISON::PPC-GOLDEN-THREE-COLUMN-PHYSICAL-COMPARISON::column_c::dimension-line"/>
          <p:cNvCxnSpPr/>
          <p:nvPr/>
        </p:nvCxnSpPr>
        <p:spPr>
          <a:xfrm>
            <a:off x="8467745" y="3826215"/>
            <a:ext cx="2223473" cy="0"/>
          </a:xfrm>
          <a:prstGeom prst="line">
            <a:avLst/>
          </a:prstGeom>
          <a:ln w="9525">
            <a:solidFill>
              <a:srgbClr val="4F6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PA::PPA-GOLDEN-THREE-COLUMN-PHYSICAL-COMPARISON::PPC-GOLDEN-THREE-COLUMN-PHYSICAL-COMPARISON::column_c::secondary_visual::GOLDEN-COLUMN_C"/>
          <p:cNvSpPr txBox="1"/>
          <p:nvPr/>
        </p:nvSpPr>
        <p:spPr>
          <a:xfrm>
            <a:off x="8116671" y="2064715"/>
            <a:ext cx="2925622" cy="2201875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1F1F1F"/>
                </a:solidFill>
                <a:latin typeface="Aptos"/>
              </a:rPr>
              <a:t>Reference-image placement</a:t>
            </a:r>
          </a:p>
        </p:txBody>
      </p:sp>
      <p:sp>
        <p:nvSpPr>
          <p:cNvPr id="16" name="PPAFX::PPA-GOLDEN-THREE-COLUMN-PHYSICAL-COMPARISON::PPC-GOLDEN-THREE-COLUMN-PHYSICAL-COMPARISON::criteria::frame"/>
          <p:cNvSpPr/>
          <p:nvPr/>
        </p:nvSpPr>
        <p:spPr>
          <a:xfrm>
            <a:off x="1073505" y="4581144"/>
            <a:ext cx="6501384" cy="471830"/>
          </a:xfrm>
          <a:prstGeom prst="rect">
            <a:avLst/>
          </a:prstGeom>
          <a:solidFill>
            <a:srgbClr val="FFFFFF"/>
          </a:solidFill>
          <a:ln w="10160"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593615" y="4675510"/>
          <a:ext cx="5461162" cy="283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87"/>
                <a:gridCol w="1820387"/>
                <a:gridCol w="1820388"/>
              </a:tblGrid>
              <a:tr h="94366"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1F1F1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>
                    <a:solidFill>
                      <a:srgbClr val="1F1F1F"/>
                    </a:solidFill>
                  </a:tcPr>
                </a:tc>
              </a:tr>
              <a:tr h="94366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94366"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38100" rIns="38100" tIns="25400" bIns="25400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1F1F1F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PPA::PPA-GOLDEN-THREE-COLUMN-PHYSICAL-COMPARISON::PPC-GOLDEN-THREE-COLUMN-PHYSICAL-COMPARISON::criteria::criteria_strip::GOLDEN-CRITERIA"/>
          <p:cNvSpPr txBox="1"/>
          <p:nvPr/>
        </p:nvSpPr>
        <p:spPr>
          <a:xfrm>
            <a:off x="1073505" y="4581144"/>
            <a:ext cx="6501384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Aptos"/>
              </a:rPr>
              <a:t>Comparison criteria</a:t>
            </a:r>
          </a:p>
        </p:txBody>
      </p:sp>
      <p:sp>
        <p:nvSpPr>
          <p:cNvPr id="19" name="PPA::PPA-GOLDEN-THREE-COLUMN-PHYSICAL-COMPARISON::PPC-GOLDEN-THREE-COLUMN-PHYSICAL-COMPARISON::decision::decision_callout::GOLDEN-DECISION"/>
          <p:cNvSpPr txBox="1"/>
          <p:nvPr/>
        </p:nvSpPr>
        <p:spPr>
          <a:xfrm>
            <a:off x="8225027" y="4581144"/>
            <a:ext cx="2817266" cy="471830"/>
          </a:xfrm>
          <a:prstGeom prst="rect">
            <a:avLst/>
          </a:prstGeom>
          <a:noFill/>
        </p:spPr>
        <p:txBody>
          <a:bodyPr wrap="none" lIns="38100" rIns="381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B00020"/>
                </a:solidFill>
                <a:latin typeface="Aptos"/>
              </a:rPr>
              <a:t>Decision threshold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