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logical_slide_id=PPA-CASE-A-EXPERIMENT</a:t>
            </a:r>
          </a:p>
          <a:p>
            <a:r>
              <a:t>candidate_id=PPC-A118F5613DDB64C3</a:t>
            </a:r>
          </a:p>
          <a:p>
            <a:r>
              <a:t>body_family_id=BCF-HARDWARE-DESIGN-PROCEDURE</a:t>
            </a:r>
          </a:p>
          <a:p>
            <a:r>
              <a:t>selected=True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logical_slide_id=PPA-CASE-B-PHYSICAL</a:t>
            </a:r>
          </a:p>
          <a:p>
            <a:r>
              <a:t>candidate_id=PPC-096AA5FA0BA06EE1</a:t>
            </a:r>
          </a:p>
          <a:p>
            <a:r>
              <a:t>body_family_id=BCF-PHYSICAL-VALIDATION-MATRIX</a:t>
            </a:r>
          </a:p>
          <a:p>
            <a:r>
              <a:t>selected=True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logical_slide_id=PPA-CASE-C-RESULT</a:t>
            </a:r>
          </a:p>
          <a:p>
            <a:r>
              <a:t>candidate_id=PPC-497C2609E843D136</a:t>
            </a:r>
          </a:p>
          <a:p>
            <a:r>
              <a:t>body_family_id=BCF-PHYSICAL-VALIDATION-MATRIX</a:t>
            </a:r>
          </a:p>
          <a:p>
            <a:r>
              <a:t>selected=True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logical_slide_id=PPA-CASE-C-RESULT</a:t>
            </a:r>
          </a:p>
          <a:p>
            <a:r>
              <a:t>candidate_id=PPC-6DC7B591568B4649</a:t>
            </a:r>
          </a:p>
          <a:p>
            <a:r>
              <a:t>body_family_id=BCF-REAL-RESULT-VALIDATION</a:t>
            </a:r>
          </a:p>
          <a:p>
            <a:r>
              <a:t>selected=False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logical_slide_id=PPA-CASE-D-MULTIMODAL</a:t>
            </a:r>
          </a:p>
          <a:p>
            <a:r>
              <a:t>candidate_id=PPC-B2E8AD28884FEC68</a:t>
            </a:r>
          </a:p>
          <a:p>
            <a:r>
              <a:t>body_family_id=BCF-PHYSICAL-VALIDATION-MATRIX</a:t>
            </a:r>
          </a:p>
          <a:p>
            <a:r>
              <a:t>selected=True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logical_slide_id=PPA-CASE-E-LITERATURE</a:t>
            </a:r>
          </a:p>
          <a:p>
            <a:r>
              <a:t>candidate_id=PPC-2067AD3AC8E29B97</a:t>
            </a:r>
          </a:p>
          <a:p>
            <a:r>
              <a:t>body_family_id=BCF-LITERATURE-VISUAL-MATRIX</a:t>
            </a:r>
          </a:p>
          <a:p>
            <a:r>
              <a:t>selected=True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logical_slide_id=PPA-CASE-E-LITERATURE</a:t>
            </a:r>
          </a:p>
          <a:p>
            <a:r>
              <a:t>candidate_id=PPC-E2D8E8694848D8DD</a:t>
            </a:r>
          </a:p>
          <a:p>
            <a:r>
              <a:t>body_family_id=BCF-TEXT-TOP-DUAL-VISUAL</a:t>
            </a:r>
          </a:p>
          <a:p>
            <a:r>
              <a:t>selected=False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logical_slide_id=PPA-CASE-F-COMPARISON</a:t>
            </a:r>
          </a:p>
          <a:p>
            <a:r>
              <a:t>candidate_id=PPC-1BB2BEBF7E6618D7</a:t>
            </a:r>
          </a:p>
          <a:p>
            <a:r>
              <a:t>body_family_id=BCF-TECHNOLOGY-COMPARISON</a:t>
            </a:r>
          </a:p>
          <a:p>
            <a:r>
              <a:t>selected=True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logical_slide_id=PPA-CASE-F-COMPARISON</a:t>
            </a:r>
          </a:p>
          <a:p>
            <a:r>
              <a:t>candidate_id=PPC-44A416081EC9BE79</a:t>
            </a:r>
          </a:p>
          <a:p>
            <a:r>
              <a:t>body_family_id=BCF-THREE-COLUMN-PHYSICAL-COMPARISON</a:t>
            </a:r>
          </a:p>
          <a:p>
            <a:r>
              <a:t>selected=False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logical_slide_id=PPA-CASE-G-PRINCIPLE</a:t>
            </a:r>
          </a:p>
          <a:p>
            <a:r>
              <a:t>candidate_id=PPC-CF994760E192A2C1</a:t>
            </a:r>
          </a:p>
          <a:p>
            <a:r>
              <a:t>body_family_id=BCF-TEXT-TOP-DUAL-VISUAL</a:t>
            </a:r>
          </a:p>
          <a:p>
            <a:r>
              <a:t>selected=False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logical_slide_id=PPA-CASE-G-PRINCIPLE</a:t>
            </a:r>
          </a:p>
          <a:p>
            <a:r>
              <a:t>candidate_id=PPC-E866D0D74E77404B</a:t>
            </a:r>
          </a:p>
          <a:p>
            <a:r>
              <a:t>body_family_id=BCF-PRINCIPLE-EQUIPMENT-SPLIT</a:t>
            </a:r>
          </a:p>
          <a:p>
            <a:r>
              <a:t>selected=True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logical_slide_id=PPA-CASE-H-HISTORICAL</a:t>
            </a:r>
          </a:p>
          <a:p>
            <a:r>
              <a:t>candidate_id=PPC-453ABDFB2283E7A6</a:t>
            </a:r>
          </a:p>
          <a:p>
            <a:r>
              <a:t>body_family_id=BCF-PHYSICAL-VALIDATION-MATRIX</a:t>
            </a:r>
          </a:p>
          <a:p>
            <a:r>
              <a:t>selected=True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logical_slide_id=PPA-CASE-H-HISTORICAL</a:t>
            </a:r>
          </a:p>
          <a:p>
            <a:r>
              <a:t>candidate_id=PPC-468E2014216AC345</a:t>
            </a:r>
          </a:p>
          <a:p>
            <a:r>
              <a:t>body_family_id=BCF-REAL-RESULT-VALIDATION</a:t>
            </a:r>
          </a:p>
          <a:p>
            <a:r>
              <a:t>selected=False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logical_slide_id=PPA-CASE-I-CONTINUATION</a:t>
            </a:r>
          </a:p>
          <a:p>
            <a:r>
              <a:t>candidate_id=PPC-F1CFC7CC4822B5C0</a:t>
            </a:r>
          </a:p>
          <a:p>
            <a:r>
              <a:t>body_family_id=BCF-HARDWARE-DESIGN-PROCEDURE</a:t>
            </a:r>
          </a:p>
          <a:p>
            <a:r>
              <a:t>selected=True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logical_slide_id=PPA-CASE-J-DIVERSITY</a:t>
            </a:r>
          </a:p>
          <a:p>
            <a:r>
              <a:t>candidate_id=PPC-8B074929C8B57B90</a:t>
            </a:r>
          </a:p>
          <a:p>
            <a:r>
              <a:t>body_family_id=BCF-THREE-COLUMN-PHYSICAL-COMPARISON</a:t>
            </a:r>
          </a:p>
          <a:p>
            <a:r>
              <a:t>selected=False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logical_slide_id=PPA-CASE-J-DIVERSITY</a:t>
            </a:r>
          </a:p>
          <a:p>
            <a:r>
              <a:t>candidate_id=PPC-EFFDE13A1C6DCF85</a:t>
            </a:r>
          </a:p>
          <a:p>
            <a:r>
              <a:t>body_family_id=BCF-PHYSICAL-VALIDATION-MATRIX</a:t>
            </a:r>
          </a:p>
          <a:p>
            <a:r>
              <a:t>selected=True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candidate_id=PPC-GOLDEN-FEASIBILITY-EVIDENCE-MATRIX</a:t>
            </a:r>
          </a:p>
          <a:p>
            <a:r>
              <a:t>body_family_id=BCF-FEASIBILITY-EVIDENCE-MATRIX</a:t>
            </a:r>
          </a:p>
          <a:p>
            <a:r>
              <a:t>golden_calibration_fixture=true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candidate_id=PPC-GOLDEN-HARDWARE-DESIGN-PROCEDURE</a:t>
            </a:r>
          </a:p>
          <a:p>
            <a:r>
              <a:t>body_family_id=BCF-HARDWARE-DESIGN-PROCEDURE</a:t>
            </a:r>
          </a:p>
          <a:p>
            <a:r>
              <a:t>golden_calibration_fixture=true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candidate_id=PPC-GOLDEN-LITERATURE-VISUAL-MATRIX</a:t>
            </a:r>
          </a:p>
          <a:p>
            <a:r>
              <a:t>body_family_id=BCF-LITERATURE-VISUAL-MATRIX</a:t>
            </a:r>
          </a:p>
          <a:p>
            <a:r>
              <a:t>golden_calibration_fixture=true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candidate_id=PPC-GOLDEN-PHYSICAL-VALIDATION-MATRIX</a:t>
            </a:r>
          </a:p>
          <a:p>
            <a:r>
              <a:t>body_family_id=BCF-PHYSICAL-VALIDATION-MATRIX</a:t>
            </a:r>
          </a:p>
          <a:p>
            <a:r>
              <a:t>golden_calibration_fixture=true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candidate_id=PPC-GOLDEN-PRINCIPLE-EQUIPMENT-SPLIT</a:t>
            </a:r>
          </a:p>
          <a:p>
            <a:r>
              <a:t>body_family_id=BCF-PRINCIPLE-EQUIPMENT-SPLIT</a:t>
            </a:r>
          </a:p>
          <a:p>
            <a:r>
              <a:t>golden_calibration_fixture=true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candidate_id=PPC-GOLDEN-PROBLEM-TO-SOLUTION</a:t>
            </a:r>
          </a:p>
          <a:p>
            <a:r>
              <a:t>body_family_id=BCF-PROBLEM-TO-SOLUTION</a:t>
            </a:r>
          </a:p>
          <a:p>
            <a:r>
              <a:t>golden_calibration_fixture=true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candidate_id=PPC-GOLDEN-REAL-RESULT-VALIDATION</a:t>
            </a:r>
          </a:p>
          <a:p>
            <a:r>
              <a:t>body_family_id=BCF-REAL-RESULT-VALIDATION</a:t>
            </a:r>
          </a:p>
          <a:p>
            <a:r>
              <a:t>golden_calibration_fixture=true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candidate_id=PPC-GOLDEN-TECHNOLOGY-COMPARISON</a:t>
            </a:r>
          </a:p>
          <a:p>
            <a:r>
              <a:t>body_family_id=BCF-TECHNOLOGY-COMPARISON</a:t>
            </a:r>
          </a:p>
          <a:p>
            <a:r>
              <a:t>golden_calibration_fixture=true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candidate_id=PPC-GOLDEN-TEXT-TOP-DUAL-VISUAL</a:t>
            </a:r>
          </a:p>
          <a:p>
            <a:r>
              <a:t>body_family_id=BCF-TEXT-TOP-DUAL-VISUAL</a:t>
            </a:r>
          </a:p>
          <a:p>
            <a:r>
              <a:t>golden_calibration_fixture=true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candidate_id=PPC-GOLDEN-THREE-COLUMN-PHYSICAL-COMPARISON</a:t>
            </a:r>
          </a:p>
          <a:p>
            <a:r>
              <a:t>body_family_id=BCF-THREE-COLUMN-PHYSICAL-COMPARISON</a:t>
            </a:r>
          </a:p>
          <a:p>
            <a:r>
              <a:t>golden_calibration_fixture=true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365126"/>
            <a:ext cx="10515600" cy="132556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828800"/>
            <a:ext cx="10835640" cy="393192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828800"/>
            <a:ext cx="10835640" cy="393192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828800"/>
            <a:ext cx="10835640" cy="393192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" y="1828800"/>
            <a:ext cx="10835640" cy="393192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1828800"/>
            <a:ext cx="10835640" cy="393192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8200" y="365126"/>
            <a:ext cx="10515600" cy="132556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1828800"/>
            <a:ext cx="10835640" cy="393192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A-EXPERIMENT::PPC-A118F5613DDB64C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CASE-A-EXPERIMENT | BCF-HARDWARE-DESIGN-PROCEDURE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A-EXPERIMENT::PPC-A118F5613DDB64C3::hardware::frame"/>
          <p:cNvSpPr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CASE-A-EXPERIMENT::PPC-A118F5613DDB64C3::hardware::visual-frame"/>
          <p:cNvSpPr/>
          <p:nvPr/>
        </p:nvSpPr>
        <p:spPr>
          <a:xfrm>
            <a:off x="2287096" y="2685957"/>
            <a:ext cx="3519415" cy="126607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PPAFX::PPA-CASE-A-EXPERIMENT::PPC-A118F5613DDB64C3::hardware::dimension-line"/>
          <p:cNvCxnSpPr/>
          <p:nvPr/>
        </p:nvCxnSpPr>
        <p:spPr>
          <a:xfrm>
            <a:off x="1801659" y="4227270"/>
            <a:ext cx="4611649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PA::PPA-CASE-A-EXPERIMENT::PPC-A118F5613DDB64C3::hardware::primary_visual::CAD"/>
          <p:cNvSpPr txBox="1"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Component geometry study</a:t>
            </a:r>
          </a:p>
        </p:txBody>
      </p:sp>
      <p:sp>
        <p:nvSpPr>
          <p:cNvPr id="8" name="PPA::PPA-CASE-A-EXPERIMENT::PPC-A118F5613DDB64C3::procedure::procedure::CONTROLS"/>
          <p:cNvSpPr txBox="1"/>
          <p:nvPr/>
        </p:nvSpPr>
        <p:spPr>
          <a:xfrm>
            <a:off x="7683246" y="2025395"/>
            <a:ext cx="3359048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Method sequence</a:t>
            </a:r>
          </a:p>
        </p:txBody>
      </p:sp>
      <p:sp>
        <p:nvSpPr>
          <p:cNvPr id="9" name="PPA::PPA-CASE-A-EXPERIMENT::PPC-A118F5613DDB64C3::go::go_criterion::GO"/>
          <p:cNvSpPr txBox="1"/>
          <p:nvPr/>
        </p:nvSpPr>
        <p:spPr>
          <a:xfrm>
            <a:off x="7683246" y="4187952"/>
            <a:ext cx="335904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B00020"/>
                </a:solidFill>
                <a:latin typeface="Aptos"/>
              </a:rPr>
              <a:t>Decision threshold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B-PHYSICAL::PPC-096AA5FA0BA06EE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CASE-B-PHYSICAL | BCF-PHYSICAL-VALIDATION-MATRIX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B-PHYSICAL::PPC-096AA5FA0BA06EE1::photo_a::frame"/>
          <p:cNvSpPr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CASE-B-PHYSICAL::PPC-096AA5FA0BA06EE1::photo_a::visual-frame"/>
          <p:cNvSpPr/>
          <p:nvPr/>
        </p:nvSpPr>
        <p:spPr>
          <a:xfrm>
            <a:off x="1680300" y="2336802"/>
            <a:ext cx="1759707" cy="5968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PPAFX::PPA-CASE-B-PHYSICAL::PPC-096AA5FA0BA06EE1::photo_a::dimension-line"/>
          <p:cNvCxnSpPr/>
          <p:nvPr/>
        </p:nvCxnSpPr>
        <p:spPr>
          <a:xfrm>
            <a:off x="1437582" y="3063421"/>
            <a:ext cx="2305824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PA::PPA-CASE-B-PHYSICAL::PPC-096AA5FA0BA06EE1::photo_a::primary_visual::PHOTO-1"/>
          <p:cNvSpPr txBox="1"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8" name="PPAFX::PPA-CASE-B-PHYSICAL::PPC-096AA5FA0BA06EE1::photo_b::frame"/>
          <p:cNvSpPr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PPAFX::PPA-CASE-B-PHYSICAL::PPC-096AA5FA0BA06EE1::photo_b::plot-line-1"/>
          <p:cNvCxnSpPr/>
          <p:nvPr/>
        </p:nvCxnSpPr>
        <p:spPr>
          <a:xfrm>
            <a:off x="4857311" y="3037470"/>
            <a:ext cx="2245144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PPAFX::PPA-CASE-B-PHYSICAL::PPC-096AA5FA0BA06EE1::photo_b::plot-line-2"/>
          <p:cNvCxnSpPr/>
          <p:nvPr/>
        </p:nvCxnSpPr>
        <p:spPr>
          <a:xfrm flipV="1">
            <a:off x="4857311" y="2258950"/>
            <a:ext cx="0" cy="77852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PPAFX::PPA-CASE-B-PHYSICAL::PPC-096AA5FA0BA06EE1::photo_b::plot-line-3"/>
          <p:cNvCxnSpPr/>
          <p:nvPr/>
        </p:nvCxnSpPr>
        <p:spPr>
          <a:xfrm flipV="1">
            <a:off x="5039349" y="2440605"/>
            <a:ext cx="1668689" cy="44116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PA::PPA-CASE-B-PHYSICAL::PPC-096AA5FA0BA06EE1::photo_b::secondary_visual::PLOT-1"/>
          <p:cNvSpPr txBox="1"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13" name="PPAFX::PPA-CASE-B-PHYSICAL::PPC-096AA5FA0BA06EE1::plot::frame"/>
          <p:cNvSpPr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PPAFX::PPA-CASE-B-PHYSICAL::PPC-096AA5FA0BA06EE1::plot::plot-line-1"/>
          <p:cNvCxnSpPr/>
          <p:nvPr/>
        </p:nvCxnSpPr>
        <p:spPr>
          <a:xfrm>
            <a:off x="8246698" y="3497505"/>
            <a:ext cx="2405512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PPAFX::PPA-CASE-B-PHYSICAL::PPC-096AA5FA0BA06EE1::plot::plot-line-2"/>
          <p:cNvCxnSpPr/>
          <p:nvPr/>
        </p:nvCxnSpPr>
        <p:spPr>
          <a:xfrm flipV="1">
            <a:off x="8246698" y="2365112"/>
            <a:ext cx="0" cy="1132393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PPAFX::PPA-CASE-B-PHYSICAL::PPC-096AA5FA0BA06EE1::plot::plot-line-3"/>
          <p:cNvCxnSpPr/>
          <p:nvPr/>
        </p:nvCxnSpPr>
        <p:spPr>
          <a:xfrm flipV="1">
            <a:off x="8441740" y="2629337"/>
            <a:ext cx="1787881" cy="641689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PA::PPA-CASE-B-PHYSICAL::PPC-096AA5FA0BA06EE1::plot::validation_plot::PLOT-2"/>
          <p:cNvSpPr txBox="1"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18" name="PPA::PPA-CASE-B-PHYSICAL::PPC-096AA5FA0BA06EE1::caption_a::caption::CAPTION"/>
          <p:cNvSpPr txBox="1"/>
          <p:nvPr/>
        </p:nvSpPr>
        <p:spPr>
          <a:xfrm>
            <a:off x="1073505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Figure caption · bounded layout fixture</a:t>
            </a:r>
          </a:p>
        </p:txBody>
      </p:sp>
      <p:sp>
        <p:nvSpPr>
          <p:cNvPr id="19" name="PPA::PPA-CASE-B-PHYSICAL::PPC-096AA5FA0BA06EE1::caption_b::caption::REGION-CAPTION_B"/>
          <p:cNvSpPr txBox="1"/>
          <p:nvPr/>
        </p:nvSpPr>
        <p:spPr>
          <a:xfrm>
            <a:off x="4432554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20" name="PPAFX::PPA-CASE-B-PHYSICAL::PPC-096AA5FA0BA06EE1::measurement_c::frame"/>
          <p:cNvSpPr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PAFX::PPA-CASE-B-PHYSICAL::PPC-096AA5FA0BA06EE1::measurement_c::visual-frame"/>
          <p:cNvSpPr/>
          <p:nvPr/>
        </p:nvSpPr>
        <p:spPr>
          <a:xfrm>
            <a:off x="8441740" y="4298045"/>
            <a:ext cx="1885401" cy="36173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PPAFX::PPA-CASE-B-PHYSICAL::PPC-096AA5FA0BA06EE1::measurement_c::dimension-line"/>
          <p:cNvCxnSpPr/>
          <p:nvPr/>
        </p:nvCxnSpPr>
        <p:spPr>
          <a:xfrm>
            <a:off x="8181685" y="4738420"/>
            <a:ext cx="2470525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PA::PPA-CASE-B-PHYSICAL::PPC-096AA5FA0BA06EE1::measurement_c::secondary_visual::PHOTO-2"/>
          <p:cNvSpPr txBox="1"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24" name="PPA::PPA-CASE-B-PHYSICAL::PPC-096AA5FA0BA06EE1::context::compact_context::REGION-CONTEXT"/>
          <p:cNvSpPr txBox="1"/>
          <p:nvPr/>
        </p:nvSpPr>
        <p:spPr>
          <a:xfrm>
            <a:off x="1073505" y="4266590"/>
            <a:ext cx="6393027" cy="66842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C-RESULT::PPC-497C2609E843D136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CASE-C-RESULT | BCF-PHYSICAL-VALIDATION-MATRIX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C-RESULT::PPC-497C2609E843D136::photo_a::frame"/>
          <p:cNvSpPr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PPAFX::PPA-CASE-C-RESULT::PPC-497C2609E843D136::photo_a::plot-line-1"/>
          <p:cNvCxnSpPr/>
          <p:nvPr/>
        </p:nvCxnSpPr>
        <p:spPr>
          <a:xfrm>
            <a:off x="1498262" y="3037470"/>
            <a:ext cx="2245144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PPAFX::PPA-CASE-C-RESULT::PPC-497C2609E843D136::photo_a::plot-line-2"/>
          <p:cNvCxnSpPr/>
          <p:nvPr/>
        </p:nvCxnSpPr>
        <p:spPr>
          <a:xfrm flipV="1">
            <a:off x="1498262" y="2258950"/>
            <a:ext cx="0" cy="77852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PPAFX::PPA-CASE-C-RESULT::PPC-497C2609E843D136::photo_a::plot-line-3"/>
          <p:cNvCxnSpPr/>
          <p:nvPr/>
        </p:nvCxnSpPr>
        <p:spPr>
          <a:xfrm flipV="1">
            <a:off x="1680300" y="2440605"/>
            <a:ext cx="1668689" cy="44116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CASE-C-RESULT::PPC-497C2609E843D136::photo_a::primary_visual::PLOT"/>
          <p:cNvSpPr txBox="1"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9" name="PPA::PPA-CASE-C-RESULT::PPC-497C2609E843D136::photo_b::secondary_visual::REGION-PHOTO_B"/>
          <p:cNvSpPr txBox="1"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0" name="PPA::PPA-CASE-C-RESULT::PPC-497C2609E843D136::plot::validation_plot::REGION-PLOT"/>
          <p:cNvSpPr txBox="1"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1" name="PPA::PPA-CASE-C-RESULT::PPC-497C2609E843D136::caption_a::caption::REGION-CAPTION_A"/>
          <p:cNvSpPr txBox="1"/>
          <p:nvPr/>
        </p:nvSpPr>
        <p:spPr>
          <a:xfrm>
            <a:off x="1073505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2" name="PPA::PPA-CASE-C-RESULT::PPC-497C2609E843D136::caption_b::caption::REGION-CAPTION_B"/>
          <p:cNvSpPr txBox="1"/>
          <p:nvPr/>
        </p:nvSpPr>
        <p:spPr>
          <a:xfrm>
            <a:off x="4432554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3" name="PPA::PPA-CASE-C-RESULT::PPC-497C2609E843D136::measurement_c::secondary_visual::REGION-MEASUREMENT_C"/>
          <p:cNvSpPr txBox="1"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4" name="PPA::PPA-CASE-C-RESULT::PPC-497C2609E843D136::context::compact_context::METRIC"/>
          <p:cNvSpPr txBox="1"/>
          <p:nvPr/>
        </p:nvSpPr>
        <p:spPr>
          <a:xfrm>
            <a:off x="1073505" y="4266590"/>
            <a:ext cx="6393027" cy="66842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Decision threshold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C-RESULT::PPC-6DC7B591568B4649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CASE-C-RESULT | BCF-REAL-RESULT-VALIDATION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C-RESULT::PPC-6DC7B591568B4649::result::frame"/>
          <p:cNvSpPr/>
          <p:nvPr/>
        </p:nvSpPr>
        <p:spPr>
          <a:xfrm>
            <a:off x="1073505" y="2064715"/>
            <a:ext cx="6718096" cy="2634386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PPAFX::PPA-CASE-C-RESULT::PPC-6DC7B591568B4649::result::plot-line-1"/>
          <p:cNvCxnSpPr/>
          <p:nvPr/>
        </p:nvCxnSpPr>
        <p:spPr>
          <a:xfrm>
            <a:off x="2014038" y="4119536"/>
            <a:ext cx="4971391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PPAFX::PPA-CASE-C-RESULT::PPC-6DC7B591568B4649::result::plot-line-2"/>
          <p:cNvCxnSpPr/>
          <p:nvPr/>
        </p:nvCxnSpPr>
        <p:spPr>
          <a:xfrm flipV="1">
            <a:off x="2014038" y="2538904"/>
            <a:ext cx="0" cy="1580632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PPAFX::PPA-CASE-C-RESULT::PPC-6DC7B591568B4649::result::plot-line-3"/>
          <p:cNvCxnSpPr/>
          <p:nvPr/>
        </p:nvCxnSpPr>
        <p:spPr>
          <a:xfrm flipV="1">
            <a:off x="2417124" y="2907718"/>
            <a:ext cx="3694953" cy="89569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CASE-C-RESULT::PPC-6DC7B591568B4649::result::primary_visual::PLOT"/>
          <p:cNvSpPr txBox="1"/>
          <p:nvPr/>
        </p:nvSpPr>
        <p:spPr>
          <a:xfrm>
            <a:off x="1073505" y="2064715"/>
            <a:ext cx="6718096" cy="263438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9" name="PPA::PPA-CASE-C-RESULT::PPC-6DC7B591568B4649::metric::metric_callout::METRIC"/>
          <p:cNvSpPr txBox="1"/>
          <p:nvPr/>
        </p:nvSpPr>
        <p:spPr>
          <a:xfrm>
            <a:off x="8441740" y="2143353"/>
            <a:ext cx="2600553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2200" b="1" i="0">
                <a:solidFill>
                  <a:srgbClr val="B00020"/>
                </a:solidFill>
                <a:latin typeface="Aptos"/>
              </a:rPr>
              <a:t>Decision threshold</a:t>
            </a:r>
          </a:p>
        </p:txBody>
      </p:sp>
      <p:sp>
        <p:nvSpPr>
          <p:cNvPr id="10" name="PPA::PPA-CASE-C-RESULT::PPC-6DC7B591568B4649::context::compact_context::REGION-CONTEXT"/>
          <p:cNvSpPr txBox="1"/>
          <p:nvPr/>
        </p:nvSpPr>
        <p:spPr>
          <a:xfrm>
            <a:off x="8441740" y="3401568"/>
            <a:ext cx="2600553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D-MULTIMODAL::PPC-B2E8AD28884FEC68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CASE-D-MULTIMODAL | BCF-PHYSICAL-VALIDATION-MATRIX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D-MULTIMODAL::PPC-B2E8AD28884FEC68::photo_a::frame"/>
          <p:cNvSpPr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CASE-D-MULTIMODAL::PPC-B2E8AD28884FEC68::photo_a::visual-frame"/>
          <p:cNvSpPr/>
          <p:nvPr/>
        </p:nvSpPr>
        <p:spPr>
          <a:xfrm>
            <a:off x="1680300" y="2336802"/>
            <a:ext cx="1759707" cy="5968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PPAFX::PPA-CASE-D-MULTIMODAL::PPC-B2E8AD28884FEC68::photo_a::dimension-line"/>
          <p:cNvCxnSpPr/>
          <p:nvPr/>
        </p:nvCxnSpPr>
        <p:spPr>
          <a:xfrm>
            <a:off x="1437582" y="3063421"/>
            <a:ext cx="2305824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PA::PPA-CASE-D-MULTIMODAL::PPC-B2E8AD28884FEC68::photo_a::primary_visual::PHOTO"/>
          <p:cNvSpPr txBox="1"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8" name="PPA::PPA-CASE-D-MULTIMODAL::PPC-B2E8AD28884FEC68::photo_b::secondary_visual::REGION-PHOTO_B"/>
          <p:cNvSpPr txBox="1"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9" name="PPA::PPA-CASE-D-MULTIMODAL::PPC-B2E8AD28884FEC68::plot::validation_plot::REGION-PLOT"/>
          <p:cNvSpPr txBox="1"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0" name="PPA::PPA-CASE-D-MULTIMODAL::PPC-B2E8AD28884FEC68::caption_a::caption::CAPTION"/>
          <p:cNvSpPr txBox="1"/>
          <p:nvPr/>
        </p:nvSpPr>
        <p:spPr>
          <a:xfrm>
            <a:off x="1073505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Figure caption · bounded layout fixture</a:t>
            </a:r>
          </a:p>
        </p:txBody>
      </p:sp>
      <p:sp>
        <p:nvSpPr>
          <p:cNvPr id="11" name="PPA::PPA-CASE-D-MULTIMODAL::PPC-B2E8AD28884FEC68::caption_b::caption::REGION-CAPTION_B"/>
          <p:cNvSpPr txBox="1"/>
          <p:nvPr/>
        </p:nvSpPr>
        <p:spPr>
          <a:xfrm>
            <a:off x="4432554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2" name="PPAFX::PPA-CASE-D-MULTIMODAL::PPC-B2E8AD28884FEC68::measurement_c::frame"/>
          <p:cNvSpPr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PPA-CASE-D-MULTIMODAL::PPC-B2E8AD28884FEC68::measurement_c::plot-line-1"/>
          <p:cNvCxnSpPr/>
          <p:nvPr/>
        </p:nvCxnSpPr>
        <p:spPr>
          <a:xfrm>
            <a:off x="8246698" y="4722692"/>
            <a:ext cx="2405512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PPAFX::PPA-CASE-D-MULTIMODAL::PPC-B2E8AD28884FEC68::measurement_c::plot-line-2"/>
          <p:cNvCxnSpPr/>
          <p:nvPr/>
        </p:nvCxnSpPr>
        <p:spPr>
          <a:xfrm flipV="1">
            <a:off x="8246698" y="4250862"/>
            <a:ext cx="0" cy="47183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PPAFX::PPA-CASE-D-MULTIMODAL::PPC-B2E8AD28884FEC68::measurement_c::plot-line-3"/>
          <p:cNvCxnSpPr/>
          <p:nvPr/>
        </p:nvCxnSpPr>
        <p:spPr>
          <a:xfrm flipV="1">
            <a:off x="8441740" y="4360955"/>
            <a:ext cx="1787881" cy="26737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PA::PPA-CASE-D-MULTIMODAL::PPC-B2E8AD28884FEC68::measurement_c::secondary_visual::PLOT"/>
          <p:cNvSpPr txBox="1"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17" name="PPA::PPA-CASE-D-MULTIMODAL::PPC-B2E8AD28884FEC68::context::compact_context::REGION-CONTEXT"/>
          <p:cNvSpPr txBox="1"/>
          <p:nvPr/>
        </p:nvSpPr>
        <p:spPr>
          <a:xfrm>
            <a:off x="1073505" y="4266590"/>
            <a:ext cx="6393027" cy="66842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E-LITERATURE::PPC-2067AD3AC8E29B97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CASE-E-LITERATURE | BCF-LITERATURE-VISUAL-MATRIX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E-LITERATURE::PPC-2067AD3AC8E29B97::visual_a::frame"/>
          <p:cNvSpPr/>
          <p:nvPr/>
        </p:nvSpPr>
        <p:spPr>
          <a:xfrm>
            <a:off x="1073505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CASE-E-LITERATURE::PPC-2067AD3AC8E29B97::visual_a::node-1"/>
          <p:cNvSpPr/>
          <p:nvPr/>
        </p:nvSpPr>
        <p:spPr>
          <a:xfrm>
            <a:off x="1467922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CASE-E-LITERATURE::PPC-2067AD3AC8E29B97::visual_a::node-2"/>
          <p:cNvSpPr/>
          <p:nvPr/>
        </p:nvSpPr>
        <p:spPr>
          <a:xfrm>
            <a:off x="2954571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CASE-E-LITERATURE::PPC-2067AD3AC8E29B97::visual_a::connector"/>
          <p:cNvCxnSpPr/>
          <p:nvPr/>
        </p:nvCxnSpPr>
        <p:spPr>
          <a:xfrm>
            <a:off x="2287096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CASE-E-LITERATURE::PPC-2067AD3AC8E29B97::visual_a::primary_visual::FIG-1"/>
          <p:cNvSpPr txBox="1"/>
          <p:nvPr/>
        </p:nvSpPr>
        <p:spPr>
          <a:xfrm>
            <a:off x="1073505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9" name="PPAFX::PPA-CASE-E-LITERATURE::PPC-2067AD3AC8E29B97::visual_b::frame"/>
          <p:cNvSpPr/>
          <p:nvPr/>
        </p:nvSpPr>
        <p:spPr>
          <a:xfrm>
            <a:off x="4540910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PPA-CASE-E-LITERATURE::PPC-2067AD3AC8E29B97::visual_b::node-1"/>
          <p:cNvSpPr/>
          <p:nvPr/>
        </p:nvSpPr>
        <p:spPr>
          <a:xfrm>
            <a:off x="4935327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PPA-CASE-E-LITERATURE::PPC-2067AD3AC8E29B97::visual_b::node-2"/>
          <p:cNvSpPr/>
          <p:nvPr/>
        </p:nvSpPr>
        <p:spPr>
          <a:xfrm>
            <a:off x="6421976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PPA-CASE-E-LITERATURE::PPC-2067AD3AC8E29B97::visual_b::connector"/>
          <p:cNvCxnSpPr/>
          <p:nvPr/>
        </p:nvCxnSpPr>
        <p:spPr>
          <a:xfrm>
            <a:off x="5754501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PPA-CASE-E-LITERATURE::PPC-2067AD3AC8E29B97::visual_b::secondary_visual::FIG-2"/>
          <p:cNvSpPr txBox="1"/>
          <p:nvPr/>
        </p:nvSpPr>
        <p:spPr>
          <a:xfrm>
            <a:off x="4540910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4" name="PPA::PPA-CASE-E-LITERATURE::PPC-2067AD3AC8E29B97::visual_c::secondary_visual::REGION-VISUAL_C"/>
          <p:cNvSpPr txBox="1"/>
          <p:nvPr/>
        </p:nvSpPr>
        <p:spPr>
          <a:xfrm>
            <a:off x="8008315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5" name="PPA::PPA-CASE-E-LITERATURE::PPC-2067AD3AC8E29B97::cite_a::citation_strip::CITE"/>
          <p:cNvSpPr txBox="1"/>
          <p:nvPr/>
        </p:nvSpPr>
        <p:spPr>
          <a:xfrm>
            <a:off x="1073505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Reference fixture · citation placement</a:t>
            </a:r>
          </a:p>
        </p:txBody>
      </p:sp>
      <p:sp>
        <p:nvSpPr>
          <p:cNvPr id="16" name="PPA::PPA-CASE-E-LITERATURE::PPC-2067AD3AC8E29B97::cite_b::citation_strip::REGION-CITE_B"/>
          <p:cNvSpPr txBox="1"/>
          <p:nvPr/>
        </p:nvSpPr>
        <p:spPr>
          <a:xfrm>
            <a:off x="4540910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7" name="PPA::PPA-CASE-E-LITERATURE::PPC-2067AD3AC8E29B97::cite_c::citation_strip::REGION-CITE_C"/>
          <p:cNvSpPr txBox="1"/>
          <p:nvPr/>
        </p:nvSpPr>
        <p:spPr>
          <a:xfrm>
            <a:off x="8008315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8" name="PPA::PPA-CASE-E-LITERATURE::PPC-2067AD3AC8E29B97::synthesis::synthesis_callout::REGION-SYNTHESIS"/>
          <p:cNvSpPr txBox="1"/>
          <p:nvPr/>
        </p:nvSpPr>
        <p:spPr>
          <a:xfrm>
            <a:off x="1073505" y="4266590"/>
            <a:ext cx="996878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B00020"/>
                </a:solidFill>
                <a:latin typeface="Aptos"/>
              </a:rPr>
              <a:t>Synthesis note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E-LITERATURE::PPC-E2D8E8694848D8DD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CASE-E-LITERATURE | BCF-TEXT-TOP-DUAL-VISUAL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PPA-CASE-E-LITERATURE::PPC-E2D8E8694848D8DD::text_top::text_top::CITE"/>
          <p:cNvSpPr txBox="1"/>
          <p:nvPr/>
        </p:nvSpPr>
        <p:spPr>
          <a:xfrm>
            <a:off x="1073505" y="1946757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Reference fixture · citation placement</a:t>
            </a:r>
          </a:p>
        </p:txBody>
      </p:sp>
      <p:sp>
        <p:nvSpPr>
          <p:cNvPr id="5" name="PPAFX::PPA-CASE-E-LITERATURE::PPC-E2D8E8694848D8DD::left_visual::frame"/>
          <p:cNvSpPr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CASE-E-LITERATURE::PPC-E2D8E8694848D8DD::left_visual::node-1"/>
          <p:cNvSpPr/>
          <p:nvPr/>
        </p:nvSpPr>
        <p:spPr>
          <a:xfrm>
            <a:off x="1679217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PPA-CASE-E-LITERATURE::PPC-E2D8E8694848D8DD::left_visual::node-2"/>
          <p:cNvSpPr/>
          <p:nvPr/>
        </p:nvSpPr>
        <p:spPr>
          <a:xfrm>
            <a:off x="3962286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PPA-CASE-E-LITERATURE::PPC-E2D8E8694848D8DD::left_visual::connector"/>
          <p:cNvCxnSpPr/>
          <p:nvPr/>
        </p:nvCxnSpPr>
        <p:spPr>
          <a:xfrm>
            <a:off x="2937235" y="3983491"/>
            <a:ext cx="93186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PPA-CASE-E-LITERATURE::PPC-E2D8E8694848D8DD::left_visual::primary_visual::FIG-1"/>
          <p:cNvSpPr txBox="1"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0" name="PPAFX::PPA-CASE-E-LITERATURE::PPC-E2D8E8694848D8DD::right_visual::frame"/>
          <p:cNvSpPr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PPA-CASE-E-LITERATURE::PPC-E2D8E8694848D8DD::right_visual::node-1"/>
          <p:cNvSpPr/>
          <p:nvPr/>
        </p:nvSpPr>
        <p:spPr>
          <a:xfrm>
            <a:off x="6988681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PPA-CASE-E-LITERATURE::PPC-E2D8E8694848D8DD::right_visual::node-2"/>
          <p:cNvSpPr/>
          <p:nvPr/>
        </p:nvSpPr>
        <p:spPr>
          <a:xfrm>
            <a:off x="9271750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PPA-CASE-E-LITERATURE::PPC-E2D8E8694848D8DD::right_visual::connector"/>
          <p:cNvCxnSpPr/>
          <p:nvPr/>
        </p:nvCxnSpPr>
        <p:spPr>
          <a:xfrm>
            <a:off x="8246699" y="3983491"/>
            <a:ext cx="93186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PPA-CASE-E-LITERATURE::PPC-E2D8E8694848D8DD::right_visual::secondary_visual::FIG-2"/>
          <p:cNvSpPr txBox="1"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F-COMPARISON::PPC-1BB2BEBF7E6618D7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CASE-F-COMPARISON | BCF-TECHNOLOGY-COMPARISON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F-COMPARISON::PPC-1BB2BEBF7E6618D7::approach_a::frame"/>
          <p:cNvSpPr/>
          <p:nvPr/>
        </p:nvSpPr>
        <p:spPr>
          <a:xfrm>
            <a:off x="1073505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CASE-F-COMPARISON::PPC-1BB2BEBF7E6618D7::approach_a::node-1"/>
          <p:cNvSpPr/>
          <p:nvPr/>
        </p:nvSpPr>
        <p:spPr>
          <a:xfrm>
            <a:off x="1467922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CASE-F-COMPARISON::PPC-1BB2BEBF7E6618D7::approach_a::node-2"/>
          <p:cNvSpPr/>
          <p:nvPr/>
        </p:nvSpPr>
        <p:spPr>
          <a:xfrm>
            <a:off x="2954571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CASE-F-COMPARISON::PPC-1BB2BEBF7E6618D7::approach_a::connector"/>
          <p:cNvCxnSpPr/>
          <p:nvPr/>
        </p:nvCxnSpPr>
        <p:spPr>
          <a:xfrm>
            <a:off x="2287096" y="2970629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CASE-F-COMPARISON::PPC-1BB2BEBF7E6618D7::approach_a::primary_visual::A"/>
          <p:cNvSpPr txBox="1"/>
          <p:nvPr/>
        </p:nvSpPr>
        <p:spPr>
          <a:xfrm>
            <a:off x="1073505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9" name="PPAFX::PPA-CASE-F-COMPARISON::PPC-1BB2BEBF7E6618D7::criteria::frame"/>
          <p:cNvSpPr/>
          <p:nvPr/>
        </p:nvSpPr>
        <p:spPr>
          <a:xfrm>
            <a:off x="4540910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83628" y="2442179"/>
          <a:ext cx="2548542" cy="1132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9514"/>
                <a:gridCol w="849514"/>
                <a:gridCol w="849514"/>
              </a:tblGrid>
              <a:tr h="37746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PPA::PPA-CASE-F-COMPARISON::PPC-1BB2BEBF7E6618D7::criteria::criteria_table::TABLE"/>
          <p:cNvSpPr txBox="1"/>
          <p:nvPr/>
        </p:nvSpPr>
        <p:spPr>
          <a:xfrm>
            <a:off x="4540910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300" b="1" i="0">
                <a:solidFill>
                  <a:srgbClr val="1F1F1F"/>
                </a:solidFill>
                <a:latin typeface="Aptos"/>
              </a:rPr>
              <a:t>Comparison criteria</a:t>
            </a:r>
          </a:p>
        </p:txBody>
      </p:sp>
      <p:sp>
        <p:nvSpPr>
          <p:cNvPr id="12" name="PPAFX::PPA-CASE-F-COMPARISON::PPC-1BB2BEBF7E6618D7::approach_b::frame"/>
          <p:cNvSpPr/>
          <p:nvPr/>
        </p:nvSpPr>
        <p:spPr>
          <a:xfrm>
            <a:off x="8008315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PAFX::PPA-CASE-F-COMPARISON::PPC-1BB2BEBF7E6618D7::approach_b::node-1"/>
          <p:cNvSpPr/>
          <p:nvPr/>
        </p:nvSpPr>
        <p:spPr>
          <a:xfrm>
            <a:off x="8402732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PAFX::PPA-CASE-F-COMPARISON::PPC-1BB2BEBF7E6618D7::approach_b::node-2"/>
          <p:cNvSpPr/>
          <p:nvPr/>
        </p:nvSpPr>
        <p:spPr>
          <a:xfrm>
            <a:off x="9889381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PPAFX::PPA-CASE-F-COMPARISON::PPC-1BB2BEBF7E6618D7::approach_b::connector"/>
          <p:cNvCxnSpPr/>
          <p:nvPr/>
        </p:nvCxnSpPr>
        <p:spPr>
          <a:xfrm>
            <a:off x="9221906" y="2970629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PA::PPA-CASE-F-COMPARISON::PPC-1BB2BEBF7E6618D7::approach_b::secondary_visual::B"/>
          <p:cNvSpPr txBox="1"/>
          <p:nvPr/>
        </p:nvSpPr>
        <p:spPr>
          <a:xfrm>
            <a:off x="8008315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7" name="PPA::PPA-CASE-F-COMPARISON::PPC-1BB2BEBF7E6618D7::mechanism::mechanism_pair::REGION-MECHANISM"/>
          <p:cNvSpPr txBox="1"/>
          <p:nvPr/>
        </p:nvSpPr>
        <p:spPr>
          <a:xfrm>
            <a:off x="1073505" y="4266590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F-COMPARISON::PPC-44A416081EC9BE79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CASE-F-COMPARISON | BCF-THREE-COLUMN-PHYSICAL-COMPARISON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F-COMPARISON::PPC-44A416081EC9BE79::column_a::frame"/>
          <p:cNvSpPr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CASE-F-COMPARISON::PPC-44A416081EC9BE79::column_a::node-1"/>
          <p:cNvSpPr/>
          <p:nvPr/>
        </p:nvSpPr>
        <p:spPr>
          <a:xfrm>
            <a:off x="1453835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CASE-F-COMPARISON::PPC-44A416081EC9BE79::column_a::node-2"/>
          <p:cNvSpPr/>
          <p:nvPr/>
        </p:nvSpPr>
        <p:spPr>
          <a:xfrm>
            <a:off x="2887390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CASE-F-COMPARISON::PPC-44A416081EC9BE79::column_a::connector"/>
          <p:cNvCxnSpPr/>
          <p:nvPr/>
        </p:nvCxnSpPr>
        <p:spPr>
          <a:xfrm>
            <a:off x="2243753" y="3121615"/>
            <a:ext cx="58512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CASE-F-COMPARISON::PPC-44A416081EC9BE79::column_a::primary_visual::A"/>
          <p:cNvSpPr txBox="1"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9" name="PPAFX::PPA-CASE-F-COMPARISON::PPC-44A416081EC9BE79::column_b::frame"/>
          <p:cNvSpPr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PPA-CASE-F-COMPARISON::PPC-44A416081EC9BE79::column_b::node-1"/>
          <p:cNvSpPr/>
          <p:nvPr/>
        </p:nvSpPr>
        <p:spPr>
          <a:xfrm>
            <a:off x="4975418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PPA-CASE-F-COMPARISON::PPC-44A416081EC9BE79::column_b::node-2"/>
          <p:cNvSpPr/>
          <p:nvPr/>
        </p:nvSpPr>
        <p:spPr>
          <a:xfrm>
            <a:off x="6408973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PPA-CASE-F-COMPARISON::PPC-44A416081EC9BE79::column_b::connector"/>
          <p:cNvCxnSpPr/>
          <p:nvPr/>
        </p:nvCxnSpPr>
        <p:spPr>
          <a:xfrm>
            <a:off x="5765336" y="3121615"/>
            <a:ext cx="58512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PPA-CASE-F-COMPARISON::PPC-44A416081EC9BE79::column_b::secondary_visual::B"/>
          <p:cNvSpPr txBox="1"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4" name="PPA::PPA-CASE-F-COMPARISON::PPC-44A416081EC9BE79::column_c::secondary_visual::REGION-COLUMN_C"/>
          <p:cNvSpPr txBox="1"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5" name="PPAFX::PPA-CASE-F-COMPARISON::PPC-44A416081EC9BE79::criteria::frame"/>
          <p:cNvSpPr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593615" y="4675510"/>
          <a:ext cx="5461162" cy="283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87"/>
                <a:gridCol w="1820387"/>
                <a:gridCol w="1820388"/>
              </a:tblGrid>
              <a:tr h="94366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94366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94366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" name="PPA::PPA-CASE-F-COMPARISON::PPC-44A416081EC9BE79::criteria::criteria_strip::TABLE"/>
          <p:cNvSpPr txBox="1"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Comparison criteria</a:t>
            </a:r>
          </a:p>
        </p:txBody>
      </p:sp>
      <p:sp>
        <p:nvSpPr>
          <p:cNvPr id="18" name="PPA::PPA-CASE-F-COMPARISON::PPC-44A416081EC9BE79::decision::decision_callout::REGION-DECISION"/>
          <p:cNvSpPr txBox="1"/>
          <p:nvPr/>
        </p:nvSpPr>
        <p:spPr>
          <a:xfrm>
            <a:off x="8225027" y="4581144"/>
            <a:ext cx="2817266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B00020"/>
                </a:solidFill>
                <a:latin typeface="Aptos"/>
              </a:rPr>
              <a:t>Decision boundary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G-PRINCIPLE::PPC-CF994760E192A2C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CASE-G-PRINCIPLE | BCF-TEXT-TOP-DUAL-VISUAL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PPA-CASE-G-PRINCIPLE::PPC-CF994760E192A2C1::text_top::text_top::FORMULA"/>
          <p:cNvSpPr txBox="1"/>
          <p:nvPr/>
        </p:nvSpPr>
        <p:spPr>
          <a:xfrm>
            <a:off x="1073505" y="1946757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Controlled relation</a:t>
            </a:r>
          </a:p>
        </p:txBody>
      </p:sp>
      <p:sp>
        <p:nvSpPr>
          <p:cNvPr id="5" name="PPAFX::PPA-CASE-G-PRINCIPLE::PPC-CF994760E192A2C1::left_visual::frame"/>
          <p:cNvSpPr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CASE-G-PRINCIPLE::PPC-CF994760E192A2C1::left_visual::node-1"/>
          <p:cNvSpPr/>
          <p:nvPr/>
        </p:nvSpPr>
        <p:spPr>
          <a:xfrm>
            <a:off x="1679217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PPA-CASE-G-PRINCIPLE::PPC-CF994760E192A2C1::left_visual::node-2"/>
          <p:cNvSpPr/>
          <p:nvPr/>
        </p:nvSpPr>
        <p:spPr>
          <a:xfrm>
            <a:off x="3962286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PPA-CASE-G-PRINCIPLE::PPC-CF994760E192A2C1::left_visual::connector"/>
          <p:cNvCxnSpPr/>
          <p:nvPr/>
        </p:nvCxnSpPr>
        <p:spPr>
          <a:xfrm>
            <a:off x="2937235" y="3983491"/>
            <a:ext cx="93186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PPA-CASE-G-PRINCIPLE::PPC-CF994760E192A2C1::left_visual::primary_visual::PRINCIPLE"/>
          <p:cNvSpPr txBox="1"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0" name="PPAFX::PPA-CASE-G-PRINCIPLE::PPC-CF994760E192A2C1::right_visual::frame"/>
          <p:cNvSpPr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755715" y="3322929"/>
          <a:ext cx="3913833" cy="14154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611"/>
                <a:gridCol w="1304611"/>
                <a:gridCol w="1304611"/>
              </a:tblGrid>
              <a:tr h="471830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471830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1831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PPA::PPA-CASE-G-PRINCIPLE::PPC-CF994760E192A2C1::right_visual::secondary_visual::EQUIPMENT"/>
          <p:cNvSpPr txBox="1"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Comparison criteria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G-PRINCIPLE::PPC-E866D0D74E77404B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CASE-G-PRINCIPLE | BCF-PRINCIPLE-EQUIPMENT-SPLIT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G-PRINCIPLE::PPC-E866D0D74E77404B::principle::frame"/>
          <p:cNvSpPr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CASE-G-PRINCIPLE::PPC-E866D0D74E77404B::principle::node-1"/>
          <p:cNvSpPr/>
          <p:nvPr/>
        </p:nvSpPr>
        <p:spPr>
          <a:xfrm>
            <a:off x="1707389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CASE-G-PRINCIPLE::PPC-E866D0D74E77404B::principle::node-2"/>
          <p:cNvSpPr/>
          <p:nvPr/>
        </p:nvSpPr>
        <p:spPr>
          <a:xfrm>
            <a:off x="4096648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CASE-G-PRINCIPLE::PPC-E866D0D74E77404B::principle::connector"/>
          <p:cNvCxnSpPr/>
          <p:nvPr/>
        </p:nvCxnSpPr>
        <p:spPr>
          <a:xfrm>
            <a:off x="3023920" y="3064995"/>
            <a:ext cx="97520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CASE-G-PRINCIPLE::PPC-E866D0D74E77404B::principle::primary_visual::PRINCIPLE"/>
          <p:cNvSpPr txBox="1"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9" name="PPA::PPA-CASE-G-PRINCIPLE::PPC-E866D0D74E77404B::formula::formula::FORMULA"/>
          <p:cNvSpPr txBox="1"/>
          <p:nvPr/>
        </p:nvSpPr>
        <p:spPr>
          <a:xfrm>
            <a:off x="1073505" y="4423867"/>
            <a:ext cx="487603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0" i="0">
                <a:solidFill>
                  <a:srgbClr val="1F1F1F"/>
                </a:solidFill>
                <a:latin typeface="Aptos"/>
              </a:rPr>
              <a:t>Controlled relation</a:t>
            </a:r>
          </a:p>
        </p:txBody>
      </p:sp>
      <p:sp>
        <p:nvSpPr>
          <p:cNvPr id="10" name="PPAFX::PPA-CASE-G-PRINCIPLE::PPC-E866D0D74E77404B::equipment::frame"/>
          <p:cNvSpPr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755715" y="2442179"/>
          <a:ext cx="3913833" cy="1132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611"/>
                <a:gridCol w="1304611"/>
                <a:gridCol w="1304611"/>
              </a:tblGrid>
              <a:tr h="37746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PPA::PPA-CASE-G-PRINCIPLE::PPC-E866D0D74E77404B::equipment::secondary_visual::EQUIPMENT"/>
          <p:cNvSpPr txBox="1"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Comparison criteria</a:t>
            </a:r>
          </a:p>
        </p:txBody>
      </p:sp>
      <p:sp>
        <p:nvSpPr>
          <p:cNvPr id="13" name="PPA::PPA-CASE-G-PRINCIPLE::PPC-E866D0D74E77404B::specification::specification_table::REGION-SPECIFICATION"/>
          <p:cNvSpPr txBox="1"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H-HISTORICAL::PPC-453ABDFB2283E7A6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CASE-H-HISTORICAL | BCF-PHYSICAL-VALIDATION-MATRIX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H-HISTORICAL::PPC-453ABDFB2283E7A6::photo_a::frame"/>
          <p:cNvSpPr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PPAFX::PPA-CASE-H-HISTORICAL::PPC-453ABDFB2283E7A6::photo_a::plot-line-1"/>
          <p:cNvCxnSpPr/>
          <p:nvPr/>
        </p:nvCxnSpPr>
        <p:spPr>
          <a:xfrm>
            <a:off x="1498262" y="3037470"/>
            <a:ext cx="2245144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PPAFX::PPA-CASE-H-HISTORICAL::PPC-453ABDFB2283E7A6::photo_a::plot-line-2"/>
          <p:cNvCxnSpPr/>
          <p:nvPr/>
        </p:nvCxnSpPr>
        <p:spPr>
          <a:xfrm flipV="1">
            <a:off x="1498262" y="2258950"/>
            <a:ext cx="0" cy="77852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PPAFX::PPA-CASE-H-HISTORICAL::PPC-453ABDFB2283E7A6::photo_a::plot-line-3"/>
          <p:cNvCxnSpPr/>
          <p:nvPr/>
        </p:nvCxnSpPr>
        <p:spPr>
          <a:xfrm flipV="1">
            <a:off x="1680300" y="2440605"/>
            <a:ext cx="1668689" cy="44116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CASE-H-HISTORICAL::PPC-453ABDFB2283E7A6::photo_a::primary_visual::PLOT"/>
          <p:cNvSpPr txBox="1"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9" name="PPA::PPA-CASE-H-HISTORICAL::PPC-453ABDFB2283E7A6::photo_b::secondary_visual::REGION-PHOTO_B"/>
          <p:cNvSpPr txBox="1"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0" name="PPA::PPA-CASE-H-HISTORICAL::PPC-453ABDFB2283E7A6::plot::validation_plot::REGION-PLOT"/>
          <p:cNvSpPr txBox="1"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1" name="PPA::PPA-CASE-H-HISTORICAL::PPC-453ABDFB2283E7A6::caption_a::caption::REGION-CAPTION_A"/>
          <p:cNvSpPr txBox="1"/>
          <p:nvPr/>
        </p:nvSpPr>
        <p:spPr>
          <a:xfrm>
            <a:off x="1073505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2" name="PPA::PPA-CASE-H-HISTORICAL::PPC-453ABDFB2283E7A6::caption_b::caption::REGION-CAPTION_B"/>
          <p:cNvSpPr txBox="1"/>
          <p:nvPr/>
        </p:nvSpPr>
        <p:spPr>
          <a:xfrm>
            <a:off x="4432554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3" name="PPA::PPA-CASE-H-HISTORICAL::PPC-453ABDFB2283E7A6::measurement_c::secondary_visual::REGION-MEASUREMENT_C"/>
          <p:cNvSpPr txBox="1"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4" name="PPA::PPA-CASE-H-HISTORICAL::PPC-453ABDFB2283E7A6::context::compact_context::METRIC"/>
          <p:cNvSpPr txBox="1"/>
          <p:nvPr/>
        </p:nvSpPr>
        <p:spPr>
          <a:xfrm>
            <a:off x="1073505" y="4266590"/>
            <a:ext cx="6393027" cy="66842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Decision threshold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H-HISTORICAL::PPC-468E2014216AC345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CASE-H-HISTORICAL | BCF-REAL-RESULT-VALIDATION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H-HISTORICAL::PPC-468E2014216AC345::result::frame"/>
          <p:cNvSpPr/>
          <p:nvPr/>
        </p:nvSpPr>
        <p:spPr>
          <a:xfrm>
            <a:off x="1073505" y="2064715"/>
            <a:ext cx="6718096" cy="2634386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PPAFX::PPA-CASE-H-HISTORICAL::PPC-468E2014216AC345::result::plot-line-1"/>
          <p:cNvCxnSpPr/>
          <p:nvPr/>
        </p:nvCxnSpPr>
        <p:spPr>
          <a:xfrm>
            <a:off x="2014038" y="4119536"/>
            <a:ext cx="4971391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PPAFX::PPA-CASE-H-HISTORICAL::PPC-468E2014216AC345::result::plot-line-2"/>
          <p:cNvCxnSpPr/>
          <p:nvPr/>
        </p:nvCxnSpPr>
        <p:spPr>
          <a:xfrm flipV="1">
            <a:off x="2014038" y="2538904"/>
            <a:ext cx="0" cy="1580632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PPAFX::PPA-CASE-H-HISTORICAL::PPC-468E2014216AC345::result::plot-line-3"/>
          <p:cNvCxnSpPr/>
          <p:nvPr/>
        </p:nvCxnSpPr>
        <p:spPr>
          <a:xfrm flipV="1">
            <a:off x="2417124" y="2907718"/>
            <a:ext cx="3694953" cy="89569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CASE-H-HISTORICAL::PPC-468E2014216AC345::result::primary_visual::PLOT"/>
          <p:cNvSpPr txBox="1"/>
          <p:nvPr/>
        </p:nvSpPr>
        <p:spPr>
          <a:xfrm>
            <a:off x="1073505" y="2064715"/>
            <a:ext cx="6718096" cy="263438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9" name="PPA::PPA-CASE-H-HISTORICAL::PPC-468E2014216AC345::metric::metric_callout::METRIC"/>
          <p:cNvSpPr txBox="1"/>
          <p:nvPr/>
        </p:nvSpPr>
        <p:spPr>
          <a:xfrm>
            <a:off x="8441740" y="2143353"/>
            <a:ext cx="2600553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2200" b="1" i="0">
                <a:solidFill>
                  <a:srgbClr val="B00020"/>
                </a:solidFill>
                <a:latin typeface="Aptos"/>
              </a:rPr>
              <a:t>Decision threshold</a:t>
            </a:r>
          </a:p>
        </p:txBody>
      </p:sp>
      <p:sp>
        <p:nvSpPr>
          <p:cNvPr id="10" name="PPA::PPA-CASE-H-HISTORICAL::PPC-468E2014216AC345::context::compact_context::REGION-CONTEXT"/>
          <p:cNvSpPr txBox="1"/>
          <p:nvPr/>
        </p:nvSpPr>
        <p:spPr>
          <a:xfrm>
            <a:off x="8441740" y="3401568"/>
            <a:ext cx="2600553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I-CONTINUATION::PPC-F1CFC7CC4822B5C0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CASE-I-CONTINUATION | BCF-HARDWARE-DESIGN-PROCEDURE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I-CONTINUATION::PPC-F1CFC7CC4822B5C0::hardware::frame"/>
          <p:cNvSpPr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CASE-I-CONTINUATION::PPC-F1CFC7CC4822B5C0::hardware::visual-frame"/>
          <p:cNvSpPr/>
          <p:nvPr/>
        </p:nvSpPr>
        <p:spPr>
          <a:xfrm>
            <a:off x="2287096" y="2685957"/>
            <a:ext cx="3519415" cy="126607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PPAFX::PPA-CASE-I-CONTINUATION::PPC-F1CFC7CC4822B5C0::hardware::dimension-line"/>
          <p:cNvCxnSpPr/>
          <p:nvPr/>
        </p:nvCxnSpPr>
        <p:spPr>
          <a:xfrm>
            <a:off x="1801659" y="4227270"/>
            <a:ext cx="4611649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PA::PPA-CASE-I-CONTINUATION::PPC-F1CFC7CC4822B5C0::hardware::primary_visual::CAD"/>
          <p:cNvSpPr txBox="1"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Component geometry study</a:t>
            </a:r>
          </a:p>
        </p:txBody>
      </p:sp>
      <p:sp>
        <p:nvSpPr>
          <p:cNvPr id="8" name="PPA::PPA-CASE-I-CONTINUATION::PPC-F1CFC7CC4822B5C0::procedure::procedure::CONTROLS"/>
          <p:cNvSpPr txBox="1"/>
          <p:nvPr/>
        </p:nvSpPr>
        <p:spPr>
          <a:xfrm>
            <a:off x="7683246" y="2025395"/>
            <a:ext cx="3359048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Method sequence</a:t>
            </a:r>
          </a:p>
        </p:txBody>
      </p:sp>
      <p:sp>
        <p:nvSpPr>
          <p:cNvPr id="9" name="PPA::PPA-CASE-I-CONTINUATION::PPC-F1CFC7CC4822B5C0::go::go_criterion::GO"/>
          <p:cNvSpPr txBox="1"/>
          <p:nvPr/>
        </p:nvSpPr>
        <p:spPr>
          <a:xfrm>
            <a:off x="7683246" y="4187952"/>
            <a:ext cx="335904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B00020"/>
                </a:solidFill>
                <a:latin typeface="Aptos"/>
              </a:rPr>
              <a:t>Decision threshold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J-DIVERSITY::PPC-8B074929C8B57B90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CASE-J-DIVERSITY | BCF-THREE-COLUMN-PHYSICAL-COMPARISON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J-DIVERSITY::PPC-8B074929C8B57B90::column_a::frame"/>
          <p:cNvSpPr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PPAFX::PPA-CASE-J-DIVERSITY::PPC-8B074929C8B57B90::column_a::plot-line-1"/>
          <p:cNvCxnSpPr/>
          <p:nvPr/>
        </p:nvCxnSpPr>
        <p:spPr>
          <a:xfrm>
            <a:off x="1483092" y="3782177"/>
            <a:ext cx="2164960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PPAFX::PPA-CASE-J-DIVERSITY::PPC-8B074929C8B57B90::column_a::plot-line-2"/>
          <p:cNvCxnSpPr/>
          <p:nvPr/>
        </p:nvCxnSpPr>
        <p:spPr>
          <a:xfrm flipV="1">
            <a:off x="1483092" y="2461052"/>
            <a:ext cx="0" cy="1321125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PPAFX::PPA-CASE-J-DIVERSITY::PPC-8B074929C8B57B90::column_a::plot-line-3"/>
          <p:cNvCxnSpPr/>
          <p:nvPr/>
        </p:nvCxnSpPr>
        <p:spPr>
          <a:xfrm flipV="1">
            <a:off x="1658629" y="2769315"/>
            <a:ext cx="1609092" cy="748637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CASE-J-DIVERSITY::PPC-8B074929C8B57B90::column_a::primary_visual::P1"/>
          <p:cNvSpPr txBox="1"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9" name="PPAFX::PPA-CASE-J-DIVERSITY::PPC-8B074929C8B57B90::column_b::frame"/>
          <p:cNvSpPr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PPAFX::PPA-CASE-J-DIVERSITY::PPC-8B074929C8B57B90::column_b::plot-line-1"/>
          <p:cNvCxnSpPr/>
          <p:nvPr/>
        </p:nvCxnSpPr>
        <p:spPr>
          <a:xfrm>
            <a:off x="5004675" y="3782177"/>
            <a:ext cx="2164960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PPAFX::PPA-CASE-J-DIVERSITY::PPC-8B074929C8B57B90::column_b::plot-line-2"/>
          <p:cNvCxnSpPr/>
          <p:nvPr/>
        </p:nvCxnSpPr>
        <p:spPr>
          <a:xfrm flipV="1">
            <a:off x="5004675" y="2461052"/>
            <a:ext cx="0" cy="1321125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PPAFX::PPA-CASE-J-DIVERSITY::PPC-8B074929C8B57B90::column_b::plot-line-3"/>
          <p:cNvCxnSpPr/>
          <p:nvPr/>
        </p:nvCxnSpPr>
        <p:spPr>
          <a:xfrm flipV="1">
            <a:off x="5180212" y="2769315"/>
            <a:ext cx="1609092" cy="748637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PPA-CASE-J-DIVERSITY::PPC-8B074929C8B57B90::column_b::secondary_visual::P2"/>
          <p:cNvSpPr txBox="1"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14" name="PPAFX::PPA-CASE-J-DIVERSITY::PPC-8B074929C8B57B90::column_c::frame"/>
          <p:cNvSpPr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PPAFX::PPA-CASE-J-DIVERSITY::PPC-8B074929C8B57B90::column_c::plot-line-1"/>
          <p:cNvCxnSpPr/>
          <p:nvPr/>
        </p:nvCxnSpPr>
        <p:spPr>
          <a:xfrm>
            <a:off x="8526258" y="3782177"/>
            <a:ext cx="2164960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PPAFX::PPA-CASE-J-DIVERSITY::PPC-8B074929C8B57B90::column_c::plot-line-2"/>
          <p:cNvCxnSpPr/>
          <p:nvPr/>
        </p:nvCxnSpPr>
        <p:spPr>
          <a:xfrm flipV="1">
            <a:off x="8526258" y="2461052"/>
            <a:ext cx="0" cy="1321125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PPAFX::PPA-CASE-J-DIVERSITY::PPC-8B074929C8B57B90::column_c::plot-line-3"/>
          <p:cNvCxnSpPr/>
          <p:nvPr/>
        </p:nvCxnSpPr>
        <p:spPr>
          <a:xfrm flipV="1">
            <a:off x="8701795" y="2769315"/>
            <a:ext cx="1609092" cy="748637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PA::PPA-CASE-J-DIVERSITY::PPC-8B074929C8B57B90::column_c::secondary_visual::P3"/>
          <p:cNvSpPr txBox="1"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19" name="PPA::PPA-CASE-J-DIVERSITY::PPC-8B074929C8B57B90::criteria::criteria_strip::REGION-CRITERIA"/>
          <p:cNvSpPr txBox="1"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20" name="PPA::PPA-CASE-J-DIVERSITY::PPC-8B074929C8B57B90::decision::decision_callout::REGION-DECISION"/>
          <p:cNvSpPr txBox="1"/>
          <p:nvPr/>
        </p:nvSpPr>
        <p:spPr>
          <a:xfrm>
            <a:off x="8225027" y="4581144"/>
            <a:ext cx="2817266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B00020"/>
                </a:solidFill>
                <a:latin typeface="Aptos"/>
              </a:rPr>
              <a:t>Decision boundary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J-DIVERSITY::PPC-EFFDE13A1C6DCF85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Planner review CASE-J-DIVERSITY | BCF-PHYSICAL-VALIDATION-MATRIX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CASE-J-DIVERSITY::PPC-EFFDE13A1C6DCF85::photo_a::frame"/>
          <p:cNvSpPr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PPAFX::PPA-CASE-J-DIVERSITY::PPC-EFFDE13A1C6DCF85::photo_a::plot-line-1"/>
          <p:cNvCxnSpPr/>
          <p:nvPr/>
        </p:nvCxnSpPr>
        <p:spPr>
          <a:xfrm>
            <a:off x="1498262" y="3037470"/>
            <a:ext cx="2245144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PPAFX::PPA-CASE-J-DIVERSITY::PPC-EFFDE13A1C6DCF85::photo_a::plot-line-2"/>
          <p:cNvCxnSpPr/>
          <p:nvPr/>
        </p:nvCxnSpPr>
        <p:spPr>
          <a:xfrm flipV="1">
            <a:off x="1498262" y="2258950"/>
            <a:ext cx="0" cy="77852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PPAFX::PPA-CASE-J-DIVERSITY::PPC-EFFDE13A1C6DCF85::photo_a::plot-line-3"/>
          <p:cNvCxnSpPr/>
          <p:nvPr/>
        </p:nvCxnSpPr>
        <p:spPr>
          <a:xfrm flipV="1">
            <a:off x="1680300" y="2440605"/>
            <a:ext cx="1668689" cy="44116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CASE-J-DIVERSITY::PPC-EFFDE13A1C6DCF85::photo_a::primary_visual::P1"/>
          <p:cNvSpPr txBox="1"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9" name="PPAFX::PPA-CASE-J-DIVERSITY::PPC-EFFDE13A1C6DCF85::photo_b::frame"/>
          <p:cNvSpPr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PPAFX::PPA-CASE-J-DIVERSITY::PPC-EFFDE13A1C6DCF85::photo_b::plot-line-1"/>
          <p:cNvCxnSpPr/>
          <p:nvPr/>
        </p:nvCxnSpPr>
        <p:spPr>
          <a:xfrm>
            <a:off x="4857311" y="3037470"/>
            <a:ext cx="2245144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PPAFX::PPA-CASE-J-DIVERSITY::PPC-EFFDE13A1C6DCF85::photo_b::plot-line-2"/>
          <p:cNvCxnSpPr/>
          <p:nvPr/>
        </p:nvCxnSpPr>
        <p:spPr>
          <a:xfrm flipV="1">
            <a:off x="4857311" y="2258950"/>
            <a:ext cx="0" cy="77852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PPAFX::PPA-CASE-J-DIVERSITY::PPC-EFFDE13A1C6DCF85::photo_b::plot-line-3"/>
          <p:cNvCxnSpPr/>
          <p:nvPr/>
        </p:nvCxnSpPr>
        <p:spPr>
          <a:xfrm flipV="1">
            <a:off x="5039349" y="2440605"/>
            <a:ext cx="1668689" cy="44116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PPA-CASE-J-DIVERSITY::PPC-EFFDE13A1C6DCF85::photo_b::secondary_visual::P3"/>
          <p:cNvSpPr txBox="1"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14" name="PPA::PPA-CASE-J-DIVERSITY::PPC-EFFDE13A1C6DCF85::plot::validation_plot::REGION-PLOT"/>
          <p:cNvSpPr txBox="1"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5" name="PPA::PPA-CASE-J-DIVERSITY::PPC-EFFDE13A1C6DCF85::caption_a::caption::REGION-CAPTION_A"/>
          <p:cNvSpPr txBox="1"/>
          <p:nvPr/>
        </p:nvSpPr>
        <p:spPr>
          <a:xfrm>
            <a:off x="1073505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6" name="PPA::PPA-CASE-J-DIVERSITY::PPC-EFFDE13A1C6DCF85::caption_b::caption::REGION-CAPTION_B"/>
          <p:cNvSpPr txBox="1"/>
          <p:nvPr/>
        </p:nvSpPr>
        <p:spPr>
          <a:xfrm>
            <a:off x="4432554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17" name="PPAFX::PPA-CASE-J-DIVERSITY::PPC-EFFDE13A1C6DCF85::measurement_c::frame"/>
          <p:cNvSpPr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PPAFX::PPA-CASE-J-DIVERSITY::PPC-EFFDE13A1C6DCF85::measurement_c::plot-line-1"/>
          <p:cNvCxnSpPr/>
          <p:nvPr/>
        </p:nvCxnSpPr>
        <p:spPr>
          <a:xfrm>
            <a:off x="8246698" y="4722692"/>
            <a:ext cx="2405512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PPAFX::PPA-CASE-J-DIVERSITY::PPC-EFFDE13A1C6DCF85::measurement_c::plot-line-2"/>
          <p:cNvCxnSpPr/>
          <p:nvPr/>
        </p:nvCxnSpPr>
        <p:spPr>
          <a:xfrm flipV="1">
            <a:off x="8246698" y="4250862"/>
            <a:ext cx="0" cy="47183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PPAFX::PPA-CASE-J-DIVERSITY::PPC-EFFDE13A1C6DCF85::measurement_c::plot-line-3"/>
          <p:cNvCxnSpPr/>
          <p:nvPr/>
        </p:nvCxnSpPr>
        <p:spPr>
          <a:xfrm flipV="1">
            <a:off x="8441740" y="4360955"/>
            <a:ext cx="1787881" cy="26737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PPA::PPA-CASE-J-DIVERSITY::PPC-EFFDE13A1C6DCF85::measurement_c::secondary_visual::P2"/>
          <p:cNvSpPr txBox="1"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22" name="PPA::PPA-CASE-J-DIVERSITY::PPC-EFFDE13A1C6DCF85::context::compact_context::REGION-CONTEXT"/>
          <p:cNvSpPr txBox="1"/>
          <p:nvPr/>
        </p:nvSpPr>
        <p:spPr>
          <a:xfrm>
            <a:off x="1073505" y="4266590"/>
            <a:ext cx="6393027" cy="66842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FEASIBILITY-EVIDENCE-MATRIX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Calibration fixture | BCF-FEASIBILITY-EVIDENCE-MATRIX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PPA-GOLDEN-FEASIBILITY-EVIDENCE-MATRIX::PPC-GOLDEN-FEASIBILITY-EVIDENCE-MATRIX::explanation::procedure::GOLDEN-EXPLANATION"/>
          <p:cNvSpPr txBox="1"/>
          <p:nvPr/>
        </p:nvSpPr>
        <p:spPr>
          <a:xfrm>
            <a:off x="1073505" y="1986076"/>
            <a:ext cx="3033979" cy="306689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Method sequence</a:t>
            </a:r>
          </a:p>
        </p:txBody>
      </p:sp>
      <p:sp>
        <p:nvSpPr>
          <p:cNvPr id="5" name="PPAFX::PPA-GOLDEN-FEASIBILITY-EVIDENCE-MATRIX::PPC-GOLDEN-FEASIBILITY-EVIDENCE-MATRIX::matrix_a::frame"/>
          <p:cNvSpPr/>
          <p:nvPr/>
        </p:nvSpPr>
        <p:spPr>
          <a:xfrm>
            <a:off x="4649266" y="2025395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FEASIBILITY-EVIDENCE-MATRIX::PPC-GOLDEN-FEASIBILITY-EVIDENCE-MATRIX::matrix_a::visual-frame"/>
          <p:cNvSpPr/>
          <p:nvPr/>
        </p:nvSpPr>
        <p:spPr>
          <a:xfrm>
            <a:off x="5212719" y="2346239"/>
            <a:ext cx="1634014" cy="614951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GOLDEN-FEASIBILITY-EVIDENCE-MATRIX::PPC-GOLDEN-FEASIBILITY-EVIDENCE-MATRIX::matrix_a::dimension-line"/>
          <p:cNvCxnSpPr/>
          <p:nvPr/>
        </p:nvCxnSpPr>
        <p:spPr>
          <a:xfrm>
            <a:off x="4987337" y="3094876"/>
            <a:ext cx="214112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FEASIBILITY-EVIDENCE-MATRIX::PPC-GOLDEN-FEASIBILITY-EVIDENCE-MATRIX::matrix_a::primary_visual::GOLDEN-MATRIX_A"/>
          <p:cNvSpPr txBox="1"/>
          <p:nvPr/>
        </p:nvSpPr>
        <p:spPr>
          <a:xfrm>
            <a:off x="4649266" y="2025395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9" name="PPAFX::PPA-GOLDEN-FEASIBILITY-EVIDENCE-MATRIX::PPC-GOLDEN-FEASIBILITY-EVIDENCE-MATRIX::matrix_b::frame"/>
          <p:cNvSpPr/>
          <p:nvPr/>
        </p:nvSpPr>
        <p:spPr>
          <a:xfrm>
            <a:off x="8008315" y="2025395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PPA-GOLDEN-FEASIBILITY-EVIDENCE-MATRIX::PPC-GOLDEN-FEASIBILITY-EVIDENCE-MATRIX::matrix_b::visual-frame"/>
          <p:cNvSpPr/>
          <p:nvPr/>
        </p:nvSpPr>
        <p:spPr>
          <a:xfrm>
            <a:off x="8571768" y="2346239"/>
            <a:ext cx="1634014" cy="614951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PPAFX::PPA-GOLDEN-FEASIBILITY-EVIDENCE-MATRIX::PPC-GOLDEN-FEASIBILITY-EVIDENCE-MATRIX::matrix_b::dimension-line"/>
          <p:cNvCxnSpPr/>
          <p:nvPr/>
        </p:nvCxnSpPr>
        <p:spPr>
          <a:xfrm>
            <a:off x="8346386" y="3094876"/>
            <a:ext cx="214112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PA::PPA-GOLDEN-FEASIBILITY-EVIDENCE-MATRIX::PPC-GOLDEN-FEASIBILITY-EVIDENCE-MATRIX::matrix_b::secondary_visual::GOLDEN-MATRIX_B"/>
          <p:cNvSpPr txBox="1"/>
          <p:nvPr/>
        </p:nvSpPr>
        <p:spPr>
          <a:xfrm>
            <a:off x="8008315" y="2025395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3" name="PPAFX::PPA-GOLDEN-FEASIBILITY-EVIDENCE-MATRIX::PPC-GOLDEN-FEASIBILITY-EVIDENCE-MATRIX::matrix_c::frame"/>
          <p:cNvSpPr/>
          <p:nvPr/>
        </p:nvSpPr>
        <p:spPr>
          <a:xfrm>
            <a:off x="4649266" y="3676802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PAFX::PPA-GOLDEN-FEASIBILITY-EVIDENCE-MATRIX::PPC-GOLDEN-FEASIBILITY-EVIDENCE-MATRIX::matrix_c::visual-frame"/>
          <p:cNvSpPr/>
          <p:nvPr/>
        </p:nvSpPr>
        <p:spPr>
          <a:xfrm>
            <a:off x="5212719" y="3997646"/>
            <a:ext cx="1634014" cy="614951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PPAFX::PPA-GOLDEN-FEASIBILITY-EVIDENCE-MATRIX::PPC-GOLDEN-FEASIBILITY-EVIDENCE-MATRIX::matrix_c::dimension-line"/>
          <p:cNvCxnSpPr/>
          <p:nvPr/>
        </p:nvCxnSpPr>
        <p:spPr>
          <a:xfrm>
            <a:off x="4987337" y="4746283"/>
            <a:ext cx="214112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PA::PPA-GOLDEN-FEASIBILITY-EVIDENCE-MATRIX::PPC-GOLDEN-FEASIBILITY-EVIDENCE-MATRIX::matrix_c::secondary_visual::GOLDEN-MATRIX_C"/>
          <p:cNvSpPr txBox="1"/>
          <p:nvPr/>
        </p:nvSpPr>
        <p:spPr>
          <a:xfrm>
            <a:off x="4649266" y="3676802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7" name="PPAFX::PPA-GOLDEN-FEASIBILITY-EVIDENCE-MATRIX::PPC-GOLDEN-FEASIBILITY-EVIDENCE-MATRIX::matrix_d::frame"/>
          <p:cNvSpPr/>
          <p:nvPr/>
        </p:nvSpPr>
        <p:spPr>
          <a:xfrm>
            <a:off x="8008315" y="3676802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PAFX::PPA-GOLDEN-FEASIBILITY-EVIDENCE-MATRIX::PPC-GOLDEN-FEASIBILITY-EVIDENCE-MATRIX::matrix_d::visual-frame"/>
          <p:cNvSpPr/>
          <p:nvPr/>
        </p:nvSpPr>
        <p:spPr>
          <a:xfrm>
            <a:off x="8571768" y="3997646"/>
            <a:ext cx="1634014" cy="614951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PPAFX::PPA-GOLDEN-FEASIBILITY-EVIDENCE-MATRIX::PPC-GOLDEN-FEASIBILITY-EVIDENCE-MATRIX::matrix_d::dimension-line"/>
          <p:cNvCxnSpPr/>
          <p:nvPr/>
        </p:nvCxnSpPr>
        <p:spPr>
          <a:xfrm>
            <a:off x="8346386" y="4746283"/>
            <a:ext cx="214112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PA::PPA-GOLDEN-FEASIBILITY-EVIDENCE-MATRIX::PPC-GOLDEN-FEASIBILITY-EVIDENCE-MATRIX::matrix_d::secondary_visual::GOLDEN-MATRIX_D"/>
          <p:cNvSpPr txBox="1"/>
          <p:nvPr/>
        </p:nvSpPr>
        <p:spPr>
          <a:xfrm>
            <a:off x="8008315" y="3676802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HARDWARE-DESIGN-PROCEDURE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Calibration fixture | BCF-HARDWARE-DESIGN-PROCEDURE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HARDWARE-DESIGN-PROCEDURE::PPC-GOLDEN-HARDWARE-DESIGN-PROCEDURE::hardware::frame"/>
          <p:cNvSpPr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HARDWARE-DESIGN-PROCEDURE::PPC-GOLDEN-HARDWARE-DESIGN-PROCEDURE::hardware::visual-frame"/>
          <p:cNvSpPr/>
          <p:nvPr/>
        </p:nvSpPr>
        <p:spPr>
          <a:xfrm>
            <a:off x="2287096" y="2685957"/>
            <a:ext cx="3519415" cy="126607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PPAFX::PPA-GOLDEN-HARDWARE-DESIGN-PROCEDURE::PPC-GOLDEN-HARDWARE-DESIGN-PROCEDURE::hardware::dimension-line"/>
          <p:cNvCxnSpPr/>
          <p:nvPr/>
        </p:nvCxnSpPr>
        <p:spPr>
          <a:xfrm>
            <a:off x="1801659" y="4227270"/>
            <a:ext cx="4611649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PA::PPA-GOLDEN-HARDWARE-DESIGN-PROCEDURE::PPC-GOLDEN-HARDWARE-DESIGN-PROCEDURE::hardware::primary_visual::GOLDEN-HARDWARE"/>
          <p:cNvSpPr txBox="1"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Component geometry study</a:t>
            </a:r>
          </a:p>
        </p:txBody>
      </p:sp>
      <p:sp>
        <p:nvSpPr>
          <p:cNvPr id="8" name="PPA::PPA-GOLDEN-HARDWARE-DESIGN-PROCEDURE::PPC-GOLDEN-HARDWARE-DESIGN-PROCEDURE::procedure::procedure::GOLDEN-PROCEDURE"/>
          <p:cNvSpPr txBox="1"/>
          <p:nvPr/>
        </p:nvSpPr>
        <p:spPr>
          <a:xfrm>
            <a:off x="7683246" y="2025395"/>
            <a:ext cx="3359048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Method sequence</a:t>
            </a:r>
          </a:p>
        </p:txBody>
      </p:sp>
      <p:sp>
        <p:nvSpPr>
          <p:cNvPr id="9" name="PPA::PPA-GOLDEN-HARDWARE-DESIGN-PROCEDURE::PPC-GOLDEN-HARDWARE-DESIGN-PROCEDURE::go::go_criterion::GOLDEN-GO"/>
          <p:cNvSpPr txBox="1"/>
          <p:nvPr/>
        </p:nvSpPr>
        <p:spPr>
          <a:xfrm>
            <a:off x="7683246" y="4187952"/>
            <a:ext cx="335904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B00020"/>
                </a:solidFill>
                <a:latin typeface="Aptos"/>
              </a:rPr>
              <a:t>Decision threshold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LITERATURE-VISUAL-MATRIX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Calibration fixture | BCF-LITERATURE-VISUAL-MATRIX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LITERATURE-VISUAL-MATRIX::PPC-GOLDEN-LITERATURE-VISUAL-MATRIX::visual_a::frame"/>
          <p:cNvSpPr/>
          <p:nvPr/>
        </p:nvSpPr>
        <p:spPr>
          <a:xfrm>
            <a:off x="1073505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LITERATURE-VISUAL-MATRIX::PPC-GOLDEN-LITERATURE-VISUAL-MATRIX::visual_a::node-1"/>
          <p:cNvSpPr/>
          <p:nvPr/>
        </p:nvSpPr>
        <p:spPr>
          <a:xfrm>
            <a:off x="1467922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LITERATURE-VISUAL-MATRIX::PPC-GOLDEN-LITERATURE-VISUAL-MATRIX::visual_a::node-2"/>
          <p:cNvSpPr/>
          <p:nvPr/>
        </p:nvSpPr>
        <p:spPr>
          <a:xfrm>
            <a:off x="2954571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GOLDEN-LITERATURE-VISUAL-MATRIX::PPC-GOLDEN-LITERATURE-VISUAL-MATRIX::visual_a::connector"/>
          <p:cNvCxnSpPr/>
          <p:nvPr/>
        </p:nvCxnSpPr>
        <p:spPr>
          <a:xfrm>
            <a:off x="2287096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LITERATURE-VISUAL-MATRIX::PPC-GOLDEN-LITERATURE-VISUAL-MATRIX::visual_a::primary_visual::GOLDEN-VISUAL_A"/>
          <p:cNvSpPr txBox="1"/>
          <p:nvPr/>
        </p:nvSpPr>
        <p:spPr>
          <a:xfrm>
            <a:off x="1073505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9" name="PPAFX::PPA-GOLDEN-LITERATURE-VISUAL-MATRIX::PPC-GOLDEN-LITERATURE-VISUAL-MATRIX::visual_b::frame"/>
          <p:cNvSpPr/>
          <p:nvPr/>
        </p:nvSpPr>
        <p:spPr>
          <a:xfrm>
            <a:off x="4540910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PPA-GOLDEN-LITERATURE-VISUAL-MATRIX::PPC-GOLDEN-LITERATURE-VISUAL-MATRIX::visual_b::node-1"/>
          <p:cNvSpPr/>
          <p:nvPr/>
        </p:nvSpPr>
        <p:spPr>
          <a:xfrm>
            <a:off x="4935327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PPA-GOLDEN-LITERATURE-VISUAL-MATRIX::PPC-GOLDEN-LITERATURE-VISUAL-MATRIX::visual_b::node-2"/>
          <p:cNvSpPr/>
          <p:nvPr/>
        </p:nvSpPr>
        <p:spPr>
          <a:xfrm>
            <a:off x="6421976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PPA-GOLDEN-LITERATURE-VISUAL-MATRIX::PPC-GOLDEN-LITERATURE-VISUAL-MATRIX::visual_b::connector"/>
          <p:cNvCxnSpPr/>
          <p:nvPr/>
        </p:nvCxnSpPr>
        <p:spPr>
          <a:xfrm>
            <a:off x="5754501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PPA-GOLDEN-LITERATURE-VISUAL-MATRIX::PPC-GOLDEN-LITERATURE-VISUAL-MATRIX::visual_b::secondary_visual::GOLDEN-VISUAL_B"/>
          <p:cNvSpPr txBox="1"/>
          <p:nvPr/>
        </p:nvSpPr>
        <p:spPr>
          <a:xfrm>
            <a:off x="4540910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4" name="PPAFX::PPA-GOLDEN-LITERATURE-VISUAL-MATRIX::PPC-GOLDEN-LITERATURE-VISUAL-MATRIX::visual_c::frame"/>
          <p:cNvSpPr/>
          <p:nvPr/>
        </p:nvSpPr>
        <p:spPr>
          <a:xfrm>
            <a:off x="8008315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PAFX::PPA-GOLDEN-LITERATURE-VISUAL-MATRIX::PPC-GOLDEN-LITERATURE-VISUAL-MATRIX::visual_c::node-1"/>
          <p:cNvSpPr/>
          <p:nvPr/>
        </p:nvSpPr>
        <p:spPr>
          <a:xfrm>
            <a:off x="8402732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PAFX::PPA-GOLDEN-LITERATURE-VISUAL-MATRIX::PPC-GOLDEN-LITERATURE-VISUAL-MATRIX::visual_c::node-2"/>
          <p:cNvSpPr/>
          <p:nvPr/>
        </p:nvSpPr>
        <p:spPr>
          <a:xfrm>
            <a:off x="9889381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PPAFX::PPA-GOLDEN-LITERATURE-VISUAL-MATRIX::PPC-GOLDEN-LITERATURE-VISUAL-MATRIX::visual_c::connector"/>
          <p:cNvCxnSpPr/>
          <p:nvPr/>
        </p:nvCxnSpPr>
        <p:spPr>
          <a:xfrm>
            <a:off x="9221906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PA::PPA-GOLDEN-LITERATURE-VISUAL-MATRIX::PPC-GOLDEN-LITERATURE-VISUAL-MATRIX::visual_c::secondary_visual::GOLDEN-VISUAL_C"/>
          <p:cNvSpPr txBox="1"/>
          <p:nvPr/>
        </p:nvSpPr>
        <p:spPr>
          <a:xfrm>
            <a:off x="8008315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9" name="PPA::PPA-GOLDEN-LITERATURE-VISUAL-MATRIX::PPC-GOLDEN-LITERATURE-VISUAL-MATRIX::cite_a::citation_strip::GOLDEN-CITE_A"/>
          <p:cNvSpPr txBox="1"/>
          <p:nvPr/>
        </p:nvSpPr>
        <p:spPr>
          <a:xfrm>
            <a:off x="1073505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Reference fixture · citation placement</a:t>
            </a:r>
          </a:p>
        </p:txBody>
      </p:sp>
      <p:sp>
        <p:nvSpPr>
          <p:cNvPr id="20" name="PPA::PPA-GOLDEN-LITERATURE-VISUAL-MATRIX::PPC-GOLDEN-LITERATURE-VISUAL-MATRIX::cite_b::citation_strip::GOLDEN-CITE_B"/>
          <p:cNvSpPr txBox="1"/>
          <p:nvPr/>
        </p:nvSpPr>
        <p:spPr>
          <a:xfrm>
            <a:off x="4540910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Reference fixture · citation placement</a:t>
            </a:r>
          </a:p>
        </p:txBody>
      </p:sp>
      <p:sp>
        <p:nvSpPr>
          <p:cNvPr id="21" name="PPA::PPA-GOLDEN-LITERATURE-VISUAL-MATRIX::PPC-GOLDEN-LITERATURE-VISUAL-MATRIX::cite_c::citation_strip::GOLDEN-CITE_C"/>
          <p:cNvSpPr txBox="1"/>
          <p:nvPr/>
        </p:nvSpPr>
        <p:spPr>
          <a:xfrm>
            <a:off x="8008315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Reference fixture · citation placement</a:t>
            </a:r>
          </a:p>
        </p:txBody>
      </p:sp>
      <p:sp>
        <p:nvSpPr>
          <p:cNvPr id="22" name="PPA::PPA-GOLDEN-LITERATURE-VISUAL-MATRIX::PPC-GOLDEN-LITERATURE-VISUAL-MATRIX::synthesis::synthesis_callout::GOLDEN-SYNTHESIS"/>
          <p:cNvSpPr txBox="1"/>
          <p:nvPr/>
        </p:nvSpPr>
        <p:spPr>
          <a:xfrm>
            <a:off x="1073505" y="4266590"/>
            <a:ext cx="996878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B00020"/>
                </a:solidFill>
                <a:latin typeface="Aptos"/>
              </a:rPr>
              <a:t>Synthesis note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PHYSICAL-VALIDATION-MATRIX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Calibration fixture | BCF-PHYSICAL-VALIDATION-MATRIX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PHYSICAL-VALIDATION-MATRIX::PPC-GOLDEN-PHYSICAL-VALIDATION-MATRIX::photo_a::frame"/>
          <p:cNvSpPr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PHYSICAL-VALIDATION-MATRIX::PPC-GOLDEN-PHYSICAL-VALIDATION-MATRIX::photo_a::visual-frame"/>
          <p:cNvSpPr/>
          <p:nvPr/>
        </p:nvSpPr>
        <p:spPr>
          <a:xfrm>
            <a:off x="1680300" y="2336802"/>
            <a:ext cx="1759707" cy="5968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PPAFX::PPA-GOLDEN-PHYSICAL-VALIDATION-MATRIX::PPC-GOLDEN-PHYSICAL-VALIDATION-MATRIX::photo_a::dimension-line"/>
          <p:cNvCxnSpPr/>
          <p:nvPr/>
        </p:nvCxnSpPr>
        <p:spPr>
          <a:xfrm>
            <a:off x="1437582" y="3063421"/>
            <a:ext cx="2305824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PA::PPA-GOLDEN-PHYSICAL-VALIDATION-MATRIX::PPC-GOLDEN-PHYSICAL-VALIDATION-MATRIX::photo_a::primary_visual::GOLDEN-PHOTO_A"/>
          <p:cNvSpPr txBox="1"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8" name="PPAFX::PPA-GOLDEN-PHYSICAL-VALIDATION-MATRIX::PPC-GOLDEN-PHYSICAL-VALIDATION-MATRIX::photo_b::frame"/>
          <p:cNvSpPr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PAFX::PPA-GOLDEN-PHYSICAL-VALIDATION-MATRIX::PPC-GOLDEN-PHYSICAL-VALIDATION-MATRIX::photo_b::visual-frame"/>
          <p:cNvSpPr/>
          <p:nvPr/>
        </p:nvSpPr>
        <p:spPr>
          <a:xfrm>
            <a:off x="5039349" y="2336802"/>
            <a:ext cx="1759707" cy="5968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PPAFX::PPA-GOLDEN-PHYSICAL-VALIDATION-MATRIX::PPC-GOLDEN-PHYSICAL-VALIDATION-MATRIX::photo_b::dimension-line"/>
          <p:cNvCxnSpPr/>
          <p:nvPr/>
        </p:nvCxnSpPr>
        <p:spPr>
          <a:xfrm>
            <a:off x="4796631" y="3063421"/>
            <a:ext cx="2305824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PA::PPA-GOLDEN-PHYSICAL-VALIDATION-MATRIX::PPC-GOLDEN-PHYSICAL-VALIDATION-MATRIX::photo_b::secondary_visual::GOLDEN-PHOTO_B"/>
          <p:cNvSpPr txBox="1"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2" name="PPAFX::PPA-GOLDEN-PHYSICAL-VALIDATION-MATRIX::PPC-GOLDEN-PHYSICAL-VALIDATION-MATRIX::plot::frame"/>
          <p:cNvSpPr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PPA-GOLDEN-PHYSICAL-VALIDATION-MATRIX::PPC-GOLDEN-PHYSICAL-VALIDATION-MATRIX::plot::plot-line-1"/>
          <p:cNvCxnSpPr/>
          <p:nvPr/>
        </p:nvCxnSpPr>
        <p:spPr>
          <a:xfrm>
            <a:off x="8246698" y="3497505"/>
            <a:ext cx="2405512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PPAFX::PPA-GOLDEN-PHYSICAL-VALIDATION-MATRIX::PPC-GOLDEN-PHYSICAL-VALIDATION-MATRIX::plot::plot-line-2"/>
          <p:cNvCxnSpPr/>
          <p:nvPr/>
        </p:nvCxnSpPr>
        <p:spPr>
          <a:xfrm flipV="1">
            <a:off x="8246698" y="2365112"/>
            <a:ext cx="0" cy="1132393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PPAFX::PPA-GOLDEN-PHYSICAL-VALIDATION-MATRIX::PPC-GOLDEN-PHYSICAL-VALIDATION-MATRIX::plot::plot-line-3"/>
          <p:cNvCxnSpPr/>
          <p:nvPr/>
        </p:nvCxnSpPr>
        <p:spPr>
          <a:xfrm flipV="1">
            <a:off x="8441740" y="2629337"/>
            <a:ext cx="1787881" cy="641689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PA::PPA-GOLDEN-PHYSICAL-VALIDATION-MATRIX::PPC-GOLDEN-PHYSICAL-VALIDATION-MATRIX::plot::validation_plot::GOLDEN-PLOT"/>
          <p:cNvSpPr txBox="1"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17" name="PPA::PPA-GOLDEN-PHYSICAL-VALIDATION-MATRIX::PPC-GOLDEN-PHYSICAL-VALIDATION-MATRIX::caption_a::caption::GOLDEN-CAPTION_A"/>
          <p:cNvSpPr txBox="1"/>
          <p:nvPr/>
        </p:nvSpPr>
        <p:spPr>
          <a:xfrm>
            <a:off x="1073505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Figure caption · bounded layout fixture</a:t>
            </a:r>
          </a:p>
        </p:txBody>
      </p:sp>
      <p:sp>
        <p:nvSpPr>
          <p:cNvPr id="18" name="PPA::PPA-GOLDEN-PHYSICAL-VALIDATION-MATRIX::PPC-GOLDEN-PHYSICAL-VALIDATION-MATRIX::caption_b::caption::GOLDEN-CAPTION_B"/>
          <p:cNvSpPr txBox="1"/>
          <p:nvPr/>
        </p:nvSpPr>
        <p:spPr>
          <a:xfrm>
            <a:off x="4432554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Figure caption · bounded layout fixture</a:t>
            </a:r>
          </a:p>
        </p:txBody>
      </p:sp>
      <p:sp>
        <p:nvSpPr>
          <p:cNvPr id="19" name="PPAFX::PPA-GOLDEN-PHYSICAL-VALIDATION-MATRIX::PPC-GOLDEN-PHYSICAL-VALIDATION-MATRIX::measurement_c::frame"/>
          <p:cNvSpPr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PAFX::PPA-GOLDEN-PHYSICAL-VALIDATION-MATRIX::PPC-GOLDEN-PHYSICAL-VALIDATION-MATRIX::measurement_c::visual-frame"/>
          <p:cNvSpPr/>
          <p:nvPr/>
        </p:nvSpPr>
        <p:spPr>
          <a:xfrm>
            <a:off x="8441740" y="4298045"/>
            <a:ext cx="1885401" cy="36173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PPAFX::PPA-GOLDEN-PHYSICAL-VALIDATION-MATRIX::PPC-GOLDEN-PHYSICAL-VALIDATION-MATRIX::measurement_c::dimension-line"/>
          <p:cNvCxnSpPr/>
          <p:nvPr/>
        </p:nvCxnSpPr>
        <p:spPr>
          <a:xfrm>
            <a:off x="8181685" y="4738420"/>
            <a:ext cx="2470525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PA::PPA-GOLDEN-PHYSICAL-VALIDATION-MATRIX::PPC-GOLDEN-PHYSICAL-VALIDATION-MATRIX::measurement_c::secondary_visual::GOLDEN-MEASUREMENT_C"/>
          <p:cNvSpPr txBox="1"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23" name="PPA::PPA-GOLDEN-PHYSICAL-VALIDATION-MATRIX::PPC-GOLDEN-PHYSICAL-VALIDATION-MATRIX::context::compact_context::GOLDEN-CONTEXT"/>
          <p:cNvSpPr txBox="1"/>
          <p:nvPr/>
        </p:nvSpPr>
        <p:spPr>
          <a:xfrm>
            <a:off x="1073505" y="4266590"/>
            <a:ext cx="6393027" cy="66842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PRINCIPLE-EQUIPMENT-SPLIT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Calibration fixture | BCF-PRINCIPLE-EQUIPMENT-SPLIT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PRINCIPLE-EQUIPMENT-SPLIT::PPC-GOLDEN-PRINCIPLE-EQUIPMENT-SPLIT::principle::frame"/>
          <p:cNvSpPr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PRINCIPLE-EQUIPMENT-SPLIT::PPC-GOLDEN-PRINCIPLE-EQUIPMENT-SPLIT::principle::node-1"/>
          <p:cNvSpPr/>
          <p:nvPr/>
        </p:nvSpPr>
        <p:spPr>
          <a:xfrm>
            <a:off x="1707389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PRINCIPLE-EQUIPMENT-SPLIT::PPC-GOLDEN-PRINCIPLE-EQUIPMENT-SPLIT::principle::node-2"/>
          <p:cNvSpPr/>
          <p:nvPr/>
        </p:nvSpPr>
        <p:spPr>
          <a:xfrm>
            <a:off x="4096648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GOLDEN-PRINCIPLE-EQUIPMENT-SPLIT::PPC-GOLDEN-PRINCIPLE-EQUIPMENT-SPLIT::principle::connector"/>
          <p:cNvCxnSpPr/>
          <p:nvPr/>
        </p:nvCxnSpPr>
        <p:spPr>
          <a:xfrm>
            <a:off x="3023920" y="3064995"/>
            <a:ext cx="97520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PRINCIPLE-EQUIPMENT-SPLIT::PPC-GOLDEN-PRINCIPLE-EQUIPMENT-SPLIT::principle::primary_visual::GOLDEN-PRINCIPLE"/>
          <p:cNvSpPr txBox="1"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9" name="PPA::PPA-GOLDEN-PRINCIPLE-EQUIPMENT-SPLIT::PPC-GOLDEN-PRINCIPLE-EQUIPMENT-SPLIT::formula::formula::GOLDEN-FORMULA"/>
          <p:cNvSpPr txBox="1"/>
          <p:nvPr/>
        </p:nvSpPr>
        <p:spPr>
          <a:xfrm>
            <a:off x="1073505" y="4423867"/>
            <a:ext cx="487603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0" i="0">
                <a:solidFill>
                  <a:srgbClr val="1F1F1F"/>
                </a:solidFill>
                <a:latin typeface="Aptos"/>
              </a:rPr>
              <a:t>Controlled relation</a:t>
            </a:r>
          </a:p>
        </p:txBody>
      </p:sp>
      <p:sp>
        <p:nvSpPr>
          <p:cNvPr id="10" name="PPAFX::PPA-GOLDEN-PRINCIPLE-EQUIPMENT-SPLIT::PPC-GOLDEN-PRINCIPLE-EQUIPMENT-SPLIT::equipment::frame"/>
          <p:cNvSpPr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PPA-GOLDEN-PRINCIPLE-EQUIPMENT-SPLIT::PPC-GOLDEN-PRINCIPLE-EQUIPMENT-SPLIT::equipment::visual-frame"/>
          <p:cNvSpPr/>
          <p:nvPr/>
        </p:nvSpPr>
        <p:spPr>
          <a:xfrm>
            <a:off x="7314834" y="2517672"/>
            <a:ext cx="2702408" cy="868167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PPA-GOLDEN-PRINCIPLE-EQUIPMENT-SPLIT::PPC-GOLDEN-PRINCIPLE-EQUIPMENT-SPLIT::equipment::dimension-line"/>
          <p:cNvCxnSpPr/>
          <p:nvPr/>
        </p:nvCxnSpPr>
        <p:spPr>
          <a:xfrm>
            <a:off x="6942088" y="3574571"/>
            <a:ext cx="3541087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PPA-GOLDEN-PRINCIPLE-EQUIPMENT-SPLIT::PPC-GOLDEN-PRINCIPLE-EQUIPMENT-SPLIT::equipment::secondary_visual::GOLDEN-EQUIPMENT"/>
          <p:cNvSpPr txBox="1"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4" name="PPAFX::PPA-GOLDEN-PRINCIPLE-EQUIPMENT-SPLIT::PPC-GOLDEN-PRINCIPLE-EQUIPMENT-SPLIT::specification::frame"/>
          <p:cNvSpPr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55715" y="4360956"/>
          <a:ext cx="3913833" cy="5190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611"/>
                <a:gridCol w="1304611"/>
                <a:gridCol w="1304611"/>
              </a:tblGrid>
              <a:tr h="17300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17300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73005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" name="PPA::PPA-GOLDEN-PRINCIPLE-EQUIPMENT-SPLIT::PPC-GOLDEN-PRINCIPLE-EQUIPMENT-SPLIT::specification::specification_table::GOLDEN-SPECIFICATION"/>
          <p:cNvSpPr txBox="1"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300" b="1" i="0">
                <a:solidFill>
                  <a:srgbClr val="1F1F1F"/>
                </a:solidFill>
                <a:latin typeface="Aptos"/>
              </a:rPr>
              <a:t>Comparison criteria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PROBLEM-TO-SOLUTION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Calibration fixture | BCF-PROBLEM-TO-SOLUTION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PPA-GOLDEN-PROBLEM-TO-SOLUTION::PPC-GOLDEN-PROBLEM-TO-SOLUTION::problem::problem_statement::GOLDEN-PROBLEM"/>
          <p:cNvSpPr txBox="1"/>
          <p:nvPr/>
        </p:nvSpPr>
        <p:spPr>
          <a:xfrm>
            <a:off x="1073505" y="1986076"/>
            <a:ext cx="9968788" cy="106161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5" name="PPAFX::PPA-GOLDEN-PROBLEM-TO-SOLUTION::PPC-GOLDEN-PROBLEM-TO-SOLUTION::solution::frame"/>
          <p:cNvSpPr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PROBLEM-TO-SOLUTION::PPC-GOLDEN-PROBLEM-TO-SOLUTION::solution::node-1"/>
          <p:cNvSpPr/>
          <p:nvPr/>
        </p:nvSpPr>
        <p:spPr>
          <a:xfrm>
            <a:off x="1876425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PPA-GOLDEN-PROBLEM-TO-SOLUTION::PPC-GOLDEN-PROBLEM-TO-SOLUTION::solution::node-2"/>
          <p:cNvSpPr/>
          <p:nvPr/>
        </p:nvSpPr>
        <p:spPr>
          <a:xfrm>
            <a:off x="4902819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PPA-GOLDEN-PROBLEM-TO-SOLUTION::PPC-GOLDEN-PROBLEM-TO-SOLUTION::solution::connector"/>
          <p:cNvCxnSpPr/>
          <p:nvPr/>
        </p:nvCxnSpPr>
        <p:spPr>
          <a:xfrm>
            <a:off x="3544030" y="4098303"/>
            <a:ext cx="1235263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PPA-GOLDEN-PROBLEM-TO-SOLUTION::PPC-GOLDEN-PROBLEM-TO-SOLUTION::solution::solution_path::GOLDEN-SOLUTION"/>
          <p:cNvSpPr txBox="1"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0" name="PPAFX::PPA-GOLDEN-PROBLEM-TO-SOLUTION::PPC-GOLDEN-PROBLEM-TO-SOLUTION::support::frame"/>
          <p:cNvSpPr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PPA-GOLDEN-PROBLEM-TO-SOLUTION::PPC-GOLDEN-PROBLEM-TO-SOLUTION::support::visual-frame"/>
          <p:cNvSpPr/>
          <p:nvPr/>
        </p:nvSpPr>
        <p:spPr>
          <a:xfrm>
            <a:off x="8528425" y="3730275"/>
            <a:ext cx="1822554" cy="70538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PPA-GOLDEN-PROBLEM-TO-SOLUTION::PPC-GOLDEN-PROBLEM-TO-SOLUTION::support::dimension-line"/>
          <p:cNvCxnSpPr/>
          <p:nvPr/>
        </p:nvCxnSpPr>
        <p:spPr>
          <a:xfrm>
            <a:off x="8277038" y="4589006"/>
            <a:ext cx="2388174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PPA-GOLDEN-PROBLEM-TO-SOLUTION::PPC-GOLDEN-PROBLEM-TO-SOLUTION::support::support_visual::GOLDEN-SUPPORT"/>
          <p:cNvSpPr txBox="1"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REAL-RESULT-VALIDATION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Calibration fixture | BCF-REAL-RESULT-VALIDATION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REAL-RESULT-VALIDATION::PPC-GOLDEN-REAL-RESULT-VALIDATION::result::frame"/>
          <p:cNvSpPr/>
          <p:nvPr/>
        </p:nvSpPr>
        <p:spPr>
          <a:xfrm>
            <a:off x="1073505" y="2064715"/>
            <a:ext cx="6718096" cy="2634386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PPAFX::PPA-GOLDEN-REAL-RESULT-VALIDATION::PPC-GOLDEN-REAL-RESULT-VALIDATION::result::plot-line-1"/>
          <p:cNvCxnSpPr/>
          <p:nvPr/>
        </p:nvCxnSpPr>
        <p:spPr>
          <a:xfrm>
            <a:off x="2014038" y="4119536"/>
            <a:ext cx="4971391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PPAFX::PPA-GOLDEN-REAL-RESULT-VALIDATION::PPC-GOLDEN-REAL-RESULT-VALIDATION::result::plot-line-2"/>
          <p:cNvCxnSpPr/>
          <p:nvPr/>
        </p:nvCxnSpPr>
        <p:spPr>
          <a:xfrm flipV="1">
            <a:off x="2014038" y="2538904"/>
            <a:ext cx="0" cy="1580632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PPAFX::PPA-GOLDEN-REAL-RESULT-VALIDATION::PPC-GOLDEN-REAL-RESULT-VALIDATION::result::plot-line-3"/>
          <p:cNvCxnSpPr/>
          <p:nvPr/>
        </p:nvCxnSpPr>
        <p:spPr>
          <a:xfrm flipV="1">
            <a:off x="2417124" y="2907718"/>
            <a:ext cx="3694953" cy="89569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REAL-RESULT-VALIDATION::PPC-GOLDEN-REAL-RESULT-VALIDATION::result::primary_visual::GOLDEN-RESULT"/>
          <p:cNvSpPr txBox="1"/>
          <p:nvPr/>
        </p:nvSpPr>
        <p:spPr>
          <a:xfrm>
            <a:off x="1073505" y="2064715"/>
            <a:ext cx="6718096" cy="263438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9" name="PPA::PPA-GOLDEN-REAL-RESULT-VALIDATION::PPC-GOLDEN-REAL-RESULT-VALIDATION::metric::metric_callout::GOLDEN-METRIC"/>
          <p:cNvSpPr txBox="1"/>
          <p:nvPr/>
        </p:nvSpPr>
        <p:spPr>
          <a:xfrm>
            <a:off x="8441740" y="2143353"/>
            <a:ext cx="2600553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2200" b="1" i="0">
                <a:solidFill>
                  <a:srgbClr val="B00020"/>
                </a:solidFill>
                <a:latin typeface="Aptos"/>
              </a:rPr>
              <a:t>Decision threshold</a:t>
            </a:r>
          </a:p>
        </p:txBody>
      </p:sp>
      <p:sp>
        <p:nvSpPr>
          <p:cNvPr id="10" name="PPA::PPA-GOLDEN-REAL-RESULT-VALIDATION::PPC-GOLDEN-REAL-RESULT-VALIDATION::context::compact_context::GOLDEN-CONTEXT"/>
          <p:cNvSpPr txBox="1"/>
          <p:nvPr/>
        </p:nvSpPr>
        <p:spPr>
          <a:xfrm>
            <a:off x="8441740" y="3401568"/>
            <a:ext cx="2600553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TECHNOLOGY-COMPARISON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Calibration fixture | BCF-TECHNOLOGY-COMPARISON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TECHNOLOGY-COMPARISON::PPC-GOLDEN-TECHNOLOGY-COMPARISON::approach_a::frame"/>
          <p:cNvSpPr/>
          <p:nvPr/>
        </p:nvSpPr>
        <p:spPr>
          <a:xfrm>
            <a:off x="1073505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TECHNOLOGY-COMPARISON::PPC-GOLDEN-TECHNOLOGY-COMPARISON::approach_a::node-1"/>
          <p:cNvSpPr/>
          <p:nvPr/>
        </p:nvSpPr>
        <p:spPr>
          <a:xfrm>
            <a:off x="1467922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TECHNOLOGY-COMPARISON::PPC-GOLDEN-TECHNOLOGY-COMPARISON::approach_a::node-2"/>
          <p:cNvSpPr/>
          <p:nvPr/>
        </p:nvSpPr>
        <p:spPr>
          <a:xfrm>
            <a:off x="2954571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GOLDEN-TECHNOLOGY-COMPARISON::PPC-GOLDEN-TECHNOLOGY-COMPARISON::approach_a::connector"/>
          <p:cNvCxnSpPr/>
          <p:nvPr/>
        </p:nvCxnSpPr>
        <p:spPr>
          <a:xfrm>
            <a:off x="2287096" y="2970629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TECHNOLOGY-COMPARISON::PPC-GOLDEN-TECHNOLOGY-COMPARISON::approach_a::primary_visual::GOLDEN-APPROACH_A"/>
          <p:cNvSpPr txBox="1"/>
          <p:nvPr/>
        </p:nvSpPr>
        <p:spPr>
          <a:xfrm>
            <a:off x="1073505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9" name="PPAFX::PPA-GOLDEN-TECHNOLOGY-COMPARISON::PPC-GOLDEN-TECHNOLOGY-COMPARISON::criteria::frame"/>
          <p:cNvSpPr/>
          <p:nvPr/>
        </p:nvSpPr>
        <p:spPr>
          <a:xfrm>
            <a:off x="4540910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83628" y="2442179"/>
          <a:ext cx="2548542" cy="1132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9514"/>
                <a:gridCol w="849514"/>
                <a:gridCol w="849514"/>
              </a:tblGrid>
              <a:tr h="37746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PPA::PPA-GOLDEN-TECHNOLOGY-COMPARISON::PPC-GOLDEN-TECHNOLOGY-COMPARISON::criteria::criteria_table::GOLDEN-CRITERIA"/>
          <p:cNvSpPr txBox="1"/>
          <p:nvPr/>
        </p:nvSpPr>
        <p:spPr>
          <a:xfrm>
            <a:off x="4540910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300" b="1" i="0">
                <a:solidFill>
                  <a:srgbClr val="1F1F1F"/>
                </a:solidFill>
                <a:latin typeface="Aptos"/>
              </a:rPr>
              <a:t>Comparison criteria</a:t>
            </a:r>
          </a:p>
        </p:txBody>
      </p:sp>
      <p:sp>
        <p:nvSpPr>
          <p:cNvPr id="12" name="PPAFX::PPA-GOLDEN-TECHNOLOGY-COMPARISON::PPC-GOLDEN-TECHNOLOGY-COMPARISON::approach_b::frame"/>
          <p:cNvSpPr/>
          <p:nvPr/>
        </p:nvSpPr>
        <p:spPr>
          <a:xfrm>
            <a:off x="8008315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PAFX::PPA-GOLDEN-TECHNOLOGY-COMPARISON::PPC-GOLDEN-TECHNOLOGY-COMPARISON::approach_b::node-1"/>
          <p:cNvSpPr/>
          <p:nvPr/>
        </p:nvSpPr>
        <p:spPr>
          <a:xfrm>
            <a:off x="8402732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PAFX::PPA-GOLDEN-TECHNOLOGY-COMPARISON::PPC-GOLDEN-TECHNOLOGY-COMPARISON::approach_b::node-2"/>
          <p:cNvSpPr/>
          <p:nvPr/>
        </p:nvSpPr>
        <p:spPr>
          <a:xfrm>
            <a:off x="9889381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PPAFX::PPA-GOLDEN-TECHNOLOGY-COMPARISON::PPC-GOLDEN-TECHNOLOGY-COMPARISON::approach_b::connector"/>
          <p:cNvCxnSpPr/>
          <p:nvPr/>
        </p:nvCxnSpPr>
        <p:spPr>
          <a:xfrm>
            <a:off x="9221906" y="2970629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PA::PPA-GOLDEN-TECHNOLOGY-COMPARISON::PPC-GOLDEN-TECHNOLOGY-COMPARISON::approach_b::secondary_visual::GOLDEN-APPROACH_B"/>
          <p:cNvSpPr txBox="1"/>
          <p:nvPr/>
        </p:nvSpPr>
        <p:spPr>
          <a:xfrm>
            <a:off x="8008315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7" name="PPAFX::PPA-GOLDEN-TECHNOLOGY-COMPARISON::PPC-GOLDEN-TECHNOLOGY-COMPARISON::mechanism::frame"/>
          <p:cNvSpPr/>
          <p:nvPr/>
        </p:nvSpPr>
        <p:spPr>
          <a:xfrm>
            <a:off x="1073505" y="4266590"/>
            <a:ext cx="9968788" cy="70774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PAFX::PPA-GOLDEN-TECHNOLOGY-COMPARISON::PPC-GOLDEN-TECHNOLOGY-COMPARISON::mechanism::node-1"/>
          <p:cNvSpPr/>
          <p:nvPr/>
        </p:nvSpPr>
        <p:spPr>
          <a:xfrm>
            <a:off x="2369447" y="4507223"/>
            <a:ext cx="2492197" cy="19816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PAFX::PPA-GOLDEN-TECHNOLOGY-COMPARISON::PPC-GOLDEN-TECHNOLOGY-COMPARISON::mechanism::node-2"/>
          <p:cNvSpPr/>
          <p:nvPr/>
        </p:nvSpPr>
        <p:spPr>
          <a:xfrm>
            <a:off x="7254153" y="4507223"/>
            <a:ext cx="2492197" cy="19816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PPAFX::PPA-GOLDEN-TECHNOLOGY-COMPARISON::PPC-GOLDEN-TECHNOLOGY-COMPARISON::mechanism::connector"/>
          <p:cNvCxnSpPr/>
          <p:nvPr/>
        </p:nvCxnSpPr>
        <p:spPr>
          <a:xfrm>
            <a:off x="5061020" y="4606307"/>
            <a:ext cx="199375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PPA::PPA-GOLDEN-TECHNOLOGY-COMPARISON::PPC-GOLDEN-TECHNOLOGY-COMPARISON::mechanism::mechanism_pair::GOLDEN-MECHANISM"/>
          <p:cNvSpPr txBox="1"/>
          <p:nvPr/>
        </p:nvSpPr>
        <p:spPr>
          <a:xfrm>
            <a:off x="1073505" y="4266590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TEXT-TOP-DUAL-VISUAL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Calibration fixture | BCF-TEXT-TOP-DUAL-VISUAL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PPA-GOLDEN-TEXT-TOP-DUAL-VISUAL::PPC-GOLDEN-TEXT-TOP-DUAL-VISUAL::text_top::text_top::GOLDEN-TEXT_TOP"/>
          <p:cNvSpPr txBox="1"/>
          <p:nvPr/>
        </p:nvSpPr>
        <p:spPr>
          <a:xfrm>
            <a:off x="1073505" y="1946757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5" name="PPAFX::PPA-GOLDEN-TEXT-TOP-DUAL-VISUAL::PPC-GOLDEN-TEXT-TOP-DUAL-VISUAL::left_visual::frame"/>
          <p:cNvSpPr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TEXT-TOP-DUAL-VISUAL::PPC-GOLDEN-TEXT-TOP-DUAL-VISUAL::left_visual::visual-frame"/>
          <p:cNvSpPr/>
          <p:nvPr/>
        </p:nvSpPr>
        <p:spPr>
          <a:xfrm>
            <a:off x="2005370" y="3417295"/>
            <a:ext cx="2702408" cy="108520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GOLDEN-TEXT-TOP-DUAL-VISUAL::PPC-GOLDEN-TEXT-TOP-DUAL-VISUAL::left_visual::dimension-line"/>
          <p:cNvCxnSpPr/>
          <p:nvPr/>
        </p:nvCxnSpPr>
        <p:spPr>
          <a:xfrm>
            <a:off x="1632624" y="4738420"/>
            <a:ext cx="3541087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TEXT-TOP-DUAL-VISUAL::PPC-GOLDEN-TEXT-TOP-DUAL-VISUAL::left_visual::primary_visual::GOLDEN-LEFT_VISUAL"/>
          <p:cNvSpPr txBox="1"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9" name="PPAFX::PPA-GOLDEN-TEXT-TOP-DUAL-VISUAL::PPC-GOLDEN-TEXT-TOP-DUAL-VISUAL::right_visual::frame"/>
          <p:cNvSpPr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PPA-GOLDEN-TEXT-TOP-DUAL-VISUAL::PPC-GOLDEN-TEXT-TOP-DUAL-VISUAL::right_visual::visual-frame"/>
          <p:cNvSpPr/>
          <p:nvPr/>
        </p:nvSpPr>
        <p:spPr>
          <a:xfrm>
            <a:off x="7314834" y="3417295"/>
            <a:ext cx="2702408" cy="108520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PPAFX::PPA-GOLDEN-TEXT-TOP-DUAL-VISUAL::PPC-GOLDEN-TEXT-TOP-DUAL-VISUAL::right_visual::dimension-line"/>
          <p:cNvCxnSpPr/>
          <p:nvPr/>
        </p:nvCxnSpPr>
        <p:spPr>
          <a:xfrm>
            <a:off x="6942088" y="4738420"/>
            <a:ext cx="3541087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PA::PPA-GOLDEN-TEXT-TOP-DUAL-VISUAL::PPC-GOLDEN-TEXT-TOP-DUAL-VISUAL::right_visual::secondary_visual::GOLDEN-RIGHT_VISUAL"/>
          <p:cNvSpPr txBox="1"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THREE-COLUMN-PHYSICAL-COMPARISON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2600" b="1" i="0">
                <a:solidFill>
                  <a:srgbClr val="1F1F1F"/>
                </a:solidFill>
                <a:latin typeface="Aptos"/>
              </a:rPr>
              <a:t>Calibration fixture | BCF-THREE-COLUMN-PHYSICAL-COMPARISON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THREE-COLUMN-PHYSICAL-COMPARISON::PPC-GOLDEN-THREE-COLUMN-PHYSICAL-COMPARISON::column_a::frame"/>
          <p:cNvSpPr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THREE-COLUMN-PHYSICAL-COMPARISON::PPC-GOLDEN-THREE-COLUMN-PHYSICAL-COMPARISON::column_a::visual-frame"/>
          <p:cNvSpPr/>
          <p:nvPr/>
        </p:nvSpPr>
        <p:spPr>
          <a:xfrm>
            <a:off x="1658629" y="2593165"/>
            <a:ext cx="1696860" cy="10128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PPAFX::PPA-GOLDEN-THREE-COLUMN-PHYSICAL-COMPARISON::PPC-GOLDEN-THREE-COLUMN-PHYSICAL-COMPARISON::column_a::dimension-line"/>
          <p:cNvCxnSpPr/>
          <p:nvPr/>
        </p:nvCxnSpPr>
        <p:spPr>
          <a:xfrm>
            <a:off x="1424579" y="3826215"/>
            <a:ext cx="222347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PA::PPA-GOLDEN-THREE-COLUMN-PHYSICAL-COMPARISON::PPC-GOLDEN-THREE-COLUMN-PHYSICAL-COMPARISON::column_a::primary_visual::GOLDEN-COLUMN_A"/>
          <p:cNvSpPr txBox="1"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8" name="PPAFX::PPA-GOLDEN-THREE-COLUMN-PHYSICAL-COMPARISON::PPC-GOLDEN-THREE-COLUMN-PHYSICAL-COMPARISON::column_b::frame"/>
          <p:cNvSpPr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PAFX::PPA-GOLDEN-THREE-COLUMN-PHYSICAL-COMPARISON::PPC-GOLDEN-THREE-COLUMN-PHYSICAL-COMPARISON::column_b::visual-frame"/>
          <p:cNvSpPr/>
          <p:nvPr/>
        </p:nvSpPr>
        <p:spPr>
          <a:xfrm>
            <a:off x="5180212" y="2593165"/>
            <a:ext cx="1696860" cy="10128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PPAFX::PPA-GOLDEN-THREE-COLUMN-PHYSICAL-COMPARISON::PPC-GOLDEN-THREE-COLUMN-PHYSICAL-COMPARISON::column_b::dimension-line"/>
          <p:cNvCxnSpPr/>
          <p:nvPr/>
        </p:nvCxnSpPr>
        <p:spPr>
          <a:xfrm>
            <a:off x="4946162" y="3826215"/>
            <a:ext cx="222347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PA::PPA-GOLDEN-THREE-COLUMN-PHYSICAL-COMPARISON::PPC-GOLDEN-THREE-COLUMN-PHYSICAL-COMPARISON::column_b::secondary_visual::GOLDEN-COLUMN_B"/>
          <p:cNvSpPr txBox="1"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2" name="PPAFX::PPA-GOLDEN-THREE-COLUMN-PHYSICAL-COMPARISON::PPC-GOLDEN-THREE-COLUMN-PHYSICAL-COMPARISON::column_c::frame"/>
          <p:cNvSpPr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PAFX::PPA-GOLDEN-THREE-COLUMN-PHYSICAL-COMPARISON::PPC-GOLDEN-THREE-COLUMN-PHYSICAL-COMPARISON::column_c::visual-frame"/>
          <p:cNvSpPr/>
          <p:nvPr/>
        </p:nvSpPr>
        <p:spPr>
          <a:xfrm>
            <a:off x="8701795" y="2593165"/>
            <a:ext cx="1696860" cy="10128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PPAFX::PPA-GOLDEN-THREE-COLUMN-PHYSICAL-COMPARISON::PPC-GOLDEN-THREE-COLUMN-PHYSICAL-COMPARISON::column_c::dimension-line"/>
          <p:cNvCxnSpPr/>
          <p:nvPr/>
        </p:nvCxnSpPr>
        <p:spPr>
          <a:xfrm>
            <a:off x="8467745" y="3826215"/>
            <a:ext cx="222347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PA::PPA-GOLDEN-THREE-COLUMN-PHYSICAL-COMPARISON::PPC-GOLDEN-THREE-COLUMN-PHYSICAL-COMPARISON::column_c::secondary_visual::GOLDEN-COLUMN_C"/>
          <p:cNvSpPr txBox="1"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6" name="PPAFX::PPA-GOLDEN-THREE-COLUMN-PHYSICAL-COMPARISON::PPC-GOLDEN-THREE-COLUMN-PHYSICAL-COMPARISON::criteria::frame"/>
          <p:cNvSpPr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593615" y="4675510"/>
          <a:ext cx="5461162" cy="283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87"/>
                <a:gridCol w="1820387"/>
                <a:gridCol w="1820388"/>
              </a:tblGrid>
              <a:tr h="94366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3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94366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94366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2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PPA::PPA-GOLDEN-THREE-COLUMN-PHYSICAL-COMPARISON::PPC-GOLDEN-THREE-COLUMN-PHYSICAL-COMPARISON::criteria::criteria_strip::GOLDEN-CRITERIA"/>
          <p:cNvSpPr txBox="1"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Comparison criteria</a:t>
            </a:r>
          </a:p>
        </p:txBody>
      </p:sp>
      <p:sp>
        <p:nvSpPr>
          <p:cNvPr id="19" name="PPA::PPA-GOLDEN-THREE-COLUMN-PHYSICAL-COMPARISON::PPC-GOLDEN-THREE-COLUMN-PHYSICAL-COMPARISON::decision::decision_callout::GOLDEN-DECISION"/>
          <p:cNvSpPr txBox="1"/>
          <p:nvPr/>
        </p:nvSpPr>
        <p:spPr>
          <a:xfrm>
            <a:off x="8225027" y="4581144"/>
            <a:ext cx="2817266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B00020"/>
                </a:solidFill>
                <a:latin typeface="Aptos"/>
              </a:rPr>
              <a:t>Decision threshold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